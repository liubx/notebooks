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9"/>
  </p:notesMasterIdLst>
  <p:sldIdLst>
    <p:sldId id="10206019" r:id="rId4"/>
    <p:sldId id="10206018" r:id="rId5"/>
    <p:sldId id="10206020" r:id="rId6"/>
    <p:sldId id="10206021" r:id="rId7"/>
    <p:sldId id="10206022" r:id="rId8"/>
  </p:sldIdLst>
  <p:sldSz cx="10969625" cy="6170613"/>
  <p:notesSz cx="6858000" cy="9144000"/>
  <p:custDataLst>
    <p:tags r:id="rId10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O Lei (CR/RIX-AP)" initials="BL(" lastIdx="4" clrIdx="0">
    <p:extLst>
      <p:ext uri="{19B8F6BF-5375-455C-9EA6-DF929625EA0E}">
        <p15:presenceInfo xmlns:p15="http://schemas.microsoft.com/office/powerpoint/2012/main" userId="BAO Lei (CR/RIX-AP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BC6E"/>
    <a:srgbClr val="E7ECF4"/>
    <a:srgbClr val="00B0F0"/>
    <a:srgbClr val="005C90"/>
    <a:srgbClr val="58BE72"/>
    <a:srgbClr val="FFFFFF"/>
    <a:srgbClr val="007BC0"/>
    <a:srgbClr val="002060"/>
    <a:srgbClr val="F0F0F0"/>
    <a:srgbClr val="CAEA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6" autoAdjust="0"/>
  </p:normalViewPr>
  <p:slideViewPr>
    <p:cSldViewPr snapToGrid="0">
      <p:cViewPr varScale="1">
        <p:scale>
          <a:sx n="95" d="100"/>
          <a:sy n="95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Add Closing Phrase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2" charset="0"/>
              </a:rPr>
              <a:t>Internal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</a:rPr>
              <a:t> | CR/RIX-AP | 2023-03-22</a:t>
            </a: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b="0" i="0" u="none" kern="0" baseline="0" noProof="1">
                <a:solidFill>
                  <a:srgbClr val="B2B3B5"/>
                </a:solidFill>
                <a:latin typeface="Bosch Office Sans" pitchFamily="2" charset="0"/>
              </a:rPr>
              <a:t>© Bosch (China) Investment Ltd. 2021.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0.jpeg"/><Relationship Id="rId4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48F9-4E81-8246-0755-98E280DC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POC – BLE AOA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0CAF6-003A-7EF5-9620-97DFC62B79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Statement of requirement for POC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A7133-3D36-BAEA-2544-616F2A1F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0F1B3-5E5D-D60F-924C-3AC5B081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24"/>
          <a:stretch/>
        </p:blipFill>
        <p:spPr>
          <a:xfrm>
            <a:off x="481263" y="1697018"/>
            <a:ext cx="3590581" cy="28268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33FDCB-6D19-9F88-9C9C-F9763E6573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51" r="52067" b="5031"/>
          <a:stretch/>
        </p:blipFill>
        <p:spPr>
          <a:xfrm>
            <a:off x="6163448" y="2009643"/>
            <a:ext cx="1900505" cy="159978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C42CBF0-746E-91E7-CF39-89C5837FC902}"/>
              </a:ext>
            </a:extLst>
          </p:cNvPr>
          <p:cNvGrpSpPr/>
          <p:nvPr/>
        </p:nvGrpSpPr>
        <p:grpSpPr>
          <a:xfrm>
            <a:off x="4429422" y="2277846"/>
            <a:ext cx="1682963" cy="1476196"/>
            <a:chOff x="3807773" y="2332965"/>
            <a:chExt cx="1682963" cy="14761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7A9BEC-B4A7-305B-4AC9-6C9DE2BB3C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52067" b="61443"/>
            <a:stretch/>
          </p:blipFill>
          <p:spPr>
            <a:xfrm>
              <a:off x="4018109" y="2332965"/>
              <a:ext cx="1472627" cy="839754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55C9BF-1C28-D101-6C5C-9301D9FA1EB9}"/>
                </a:ext>
              </a:extLst>
            </p:cNvPr>
            <p:cNvGrpSpPr/>
            <p:nvPr/>
          </p:nvGrpSpPr>
          <p:grpSpPr>
            <a:xfrm>
              <a:off x="3807773" y="2969407"/>
              <a:ext cx="1390475" cy="839754"/>
              <a:chOff x="3807773" y="2969407"/>
              <a:chExt cx="1390475" cy="83975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41C7D90-0350-DEA2-77E9-511B5230F28D}"/>
                  </a:ext>
                </a:extLst>
              </p:cNvPr>
              <p:cNvGrpSpPr/>
              <p:nvPr/>
            </p:nvGrpSpPr>
            <p:grpSpPr>
              <a:xfrm>
                <a:off x="3807773" y="2969407"/>
                <a:ext cx="1390475" cy="839754"/>
                <a:chOff x="259197" y="2652507"/>
                <a:chExt cx="1581190" cy="954932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34782E7-01EC-B38C-6284-43BE078FA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9197" y="2652507"/>
                  <a:ext cx="1581190" cy="954932"/>
                </a:xfrm>
                <a:prstGeom prst="rect">
                  <a:avLst/>
                </a:prstGeom>
              </p:spPr>
            </p:pic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AC31223-35C3-8392-D822-FAAC23855C7F}"/>
                    </a:ext>
                  </a:extLst>
                </p:cNvPr>
                <p:cNvSpPr/>
                <p:nvPr/>
              </p:nvSpPr>
              <p:spPr>
                <a:xfrm>
                  <a:off x="800100" y="3314896"/>
                  <a:ext cx="477520" cy="47548"/>
                </a:xfrm>
                <a:prstGeom prst="rect">
                  <a:avLst/>
                </a:prstGeom>
                <a:solidFill>
                  <a:srgbClr val="58BE72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sch Office Sans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B051EE1-3E36-ADB7-D29D-5940AD8FD222}"/>
                    </a:ext>
                  </a:extLst>
                </p:cNvPr>
                <p:cNvSpPr/>
                <p:nvPr/>
              </p:nvSpPr>
              <p:spPr>
                <a:xfrm>
                  <a:off x="1356704" y="2771268"/>
                  <a:ext cx="477520" cy="101472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sch Office Sans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F1D7CFF-204D-ED2F-4A19-C972A1CD2138}"/>
                    </a:ext>
                  </a:extLst>
                </p:cNvPr>
                <p:cNvSpPr/>
                <p:nvPr/>
              </p:nvSpPr>
              <p:spPr>
                <a:xfrm>
                  <a:off x="764884" y="3440429"/>
                  <a:ext cx="512736" cy="72391"/>
                </a:xfrm>
                <a:prstGeom prst="rect">
                  <a:avLst/>
                </a:prstGeom>
                <a:solidFill>
                  <a:srgbClr val="CAEAD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sch Office Sans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2E9F260-7AAA-B1CC-BB33-C054B0FACAD8}"/>
                  </a:ext>
                </a:extLst>
              </p:cNvPr>
              <p:cNvSpPr/>
              <p:nvPr/>
            </p:nvSpPr>
            <p:spPr>
              <a:xfrm>
                <a:off x="4754422" y="3497895"/>
                <a:ext cx="50754" cy="50754"/>
              </a:xfrm>
              <a:prstGeom prst="ellipse">
                <a:avLst/>
              </a:prstGeom>
              <a:solidFill>
                <a:srgbClr val="00B0F0"/>
              </a:solidFill>
              <a:ln w="9525" cap="flat" cmpd="sng" algn="ctr">
                <a:solidFill>
                  <a:srgbClr val="00B0F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4952519-6F31-C067-F861-916775DECF2A}"/>
              </a:ext>
            </a:extLst>
          </p:cNvPr>
          <p:cNvSpPr txBox="1"/>
          <p:nvPr/>
        </p:nvSpPr>
        <p:spPr>
          <a:xfrm>
            <a:off x="8831598" y="2839085"/>
            <a:ext cx="142966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Customer</a:t>
            </a:r>
            <a:r>
              <a:rPr lang="en-US" sz="800" kern="0" dirty="0">
                <a:solidFill>
                  <a:srgbClr val="000000"/>
                </a:solidFill>
              </a:rPr>
              <a:t>_id,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(timestamp, (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x,y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 …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525CB96-4092-EB62-7EC7-19FF4DE580A4}"/>
              </a:ext>
            </a:extLst>
          </p:cNvPr>
          <p:cNvSpPr/>
          <p:nvPr/>
        </p:nvSpPr>
        <p:spPr>
          <a:xfrm>
            <a:off x="8012246" y="2783919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AAAE2E-74BC-C7FB-2F62-1F04FC5FBCBE}"/>
              </a:ext>
            </a:extLst>
          </p:cNvPr>
          <p:cNvSpPr/>
          <p:nvPr/>
        </p:nvSpPr>
        <p:spPr>
          <a:xfrm>
            <a:off x="1113955" y="1173375"/>
            <a:ext cx="7508676" cy="3847804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0A1D10-C63B-9C1B-FA90-11D095A37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682" y="874156"/>
            <a:ext cx="762000" cy="762000"/>
          </a:xfrm>
          <a:prstGeom prst="rect">
            <a:avLst/>
          </a:prstGeo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id="{8D6A73BA-2B85-F2FD-DB91-B05E733D87FF}"/>
              </a:ext>
            </a:extLst>
          </p:cNvPr>
          <p:cNvSpPr/>
          <p:nvPr/>
        </p:nvSpPr>
        <p:spPr>
          <a:xfrm>
            <a:off x="9081587" y="1047466"/>
            <a:ext cx="1628413" cy="890476"/>
          </a:xfrm>
          <a:prstGeom prst="cloud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Server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C52E805-65F2-FCB1-B54F-8EE412BF08B5}"/>
              </a:ext>
            </a:extLst>
          </p:cNvPr>
          <p:cNvSpPr/>
          <p:nvPr/>
        </p:nvSpPr>
        <p:spPr>
          <a:xfrm rot="16200000">
            <a:off x="9624783" y="2194113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51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AFDF-4456-C1EB-CE20-7E832182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POC – User Interaction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2957-3E2A-2C50-8044-FFC624A3D6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Statement of requirement for POC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EACDC-A048-35CE-385B-01DDF036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3B7DB8-6C36-C217-AFE4-A35DE008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557" y="3005287"/>
            <a:ext cx="579267" cy="5792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327957-C376-3632-B583-D0971ADF5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57" y="3932091"/>
            <a:ext cx="579267" cy="5792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A3D7A7-A49B-D69A-F687-403331BCC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452" y="3347050"/>
            <a:ext cx="762000" cy="76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EAB3542-DEAC-0834-1C00-DA32C13DD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360" y="3347050"/>
            <a:ext cx="762000" cy="76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4AB174-B47A-BFE7-9BD0-6F44F14A13A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184" t="2145" r="5166" b="8812"/>
          <a:stretch/>
        </p:blipFill>
        <p:spPr>
          <a:xfrm>
            <a:off x="3496764" y="2197826"/>
            <a:ext cx="1195137" cy="1272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F19AA1-37C5-06D2-4A54-5A484ED84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2746" y="3487184"/>
            <a:ext cx="1272199" cy="1272199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D0950C1-8B5C-71F5-3ABF-17DE7B6C51D3}"/>
              </a:ext>
            </a:extLst>
          </p:cNvPr>
          <p:cNvSpPr/>
          <p:nvPr/>
        </p:nvSpPr>
        <p:spPr>
          <a:xfrm>
            <a:off x="3260399" y="2133766"/>
            <a:ext cx="1569351" cy="2959603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91560B-C7E1-28E9-B27E-E2787ACFB790}"/>
              </a:ext>
            </a:extLst>
          </p:cNvPr>
          <p:cNvSpPr/>
          <p:nvPr/>
        </p:nvSpPr>
        <p:spPr>
          <a:xfrm>
            <a:off x="5734362" y="2727457"/>
            <a:ext cx="2715989" cy="2001186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2E486B2-86BB-29ED-E0A9-9BCEB888CD39}"/>
              </a:ext>
            </a:extLst>
          </p:cNvPr>
          <p:cNvSpPr/>
          <p:nvPr/>
        </p:nvSpPr>
        <p:spPr>
          <a:xfrm>
            <a:off x="5000587" y="3663261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4923A0BC-582B-386B-A8B4-511D3F0CB65B}"/>
              </a:ext>
            </a:extLst>
          </p:cNvPr>
          <p:cNvSpPr/>
          <p:nvPr/>
        </p:nvSpPr>
        <p:spPr>
          <a:xfrm>
            <a:off x="2532541" y="3663261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B57B9B-8D56-D557-F23E-AEF97C2D9F7F}"/>
              </a:ext>
            </a:extLst>
          </p:cNvPr>
          <p:cNvSpPr txBox="1"/>
          <p:nvPr/>
        </p:nvSpPr>
        <p:spPr>
          <a:xfrm>
            <a:off x="6412149" y="4364149"/>
            <a:ext cx="1474101" cy="3449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Digital content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FBCA57-72C2-EAC2-4ADA-58FD76740709}"/>
              </a:ext>
            </a:extLst>
          </p:cNvPr>
          <p:cNvSpPr txBox="1"/>
          <p:nvPr/>
        </p:nvSpPr>
        <p:spPr>
          <a:xfrm>
            <a:off x="1017927" y="4724865"/>
            <a:ext cx="1474101" cy="3449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Touch point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36BC03-23FE-B0C2-1F92-E7E22D0DDE13}"/>
              </a:ext>
            </a:extLst>
          </p:cNvPr>
          <p:cNvSpPr/>
          <p:nvPr/>
        </p:nvSpPr>
        <p:spPr>
          <a:xfrm>
            <a:off x="786437" y="1684422"/>
            <a:ext cx="1569351" cy="3408948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B8C47D7-CF52-5C6C-BD3A-6196F9A68B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9004" y="1248583"/>
            <a:ext cx="786047" cy="7860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225082C-85F1-5A7F-3A1C-DD07689279D2}"/>
              </a:ext>
            </a:extLst>
          </p:cNvPr>
          <p:cNvSpPr txBox="1"/>
          <p:nvPr/>
        </p:nvSpPr>
        <p:spPr>
          <a:xfrm>
            <a:off x="3355649" y="4748464"/>
            <a:ext cx="1474101" cy="3449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User Interaction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5583C3-FF0C-94C0-76F6-E8BB3D6B6798}"/>
              </a:ext>
            </a:extLst>
          </p:cNvPr>
          <p:cNvSpPr/>
          <p:nvPr/>
        </p:nvSpPr>
        <p:spPr>
          <a:xfrm>
            <a:off x="554991" y="1149447"/>
            <a:ext cx="8621094" cy="4264764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7B95EDB-29EC-5346-FAAD-9A25CD97F3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5246" y="842400"/>
            <a:ext cx="7620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CA84F5-692C-40E4-3D3B-6D60533D6C18}"/>
              </a:ext>
            </a:extLst>
          </p:cNvPr>
          <p:cNvSpPr txBox="1"/>
          <p:nvPr/>
        </p:nvSpPr>
        <p:spPr>
          <a:xfrm>
            <a:off x="7092356" y="1176608"/>
            <a:ext cx="181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In-Store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31492-1540-9A9C-0F5D-A005DE3DCB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41" y="1824974"/>
            <a:ext cx="7620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BDBD18-2885-189A-508B-DB19F9EA3AE4}"/>
              </a:ext>
            </a:extLst>
          </p:cNvPr>
          <p:cNvSpPr txBox="1"/>
          <p:nvPr/>
        </p:nvSpPr>
        <p:spPr>
          <a:xfrm>
            <a:off x="1245011" y="2581675"/>
            <a:ext cx="1474101" cy="3449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BLE Beacon</a:t>
            </a:r>
          </a:p>
        </p:txBody>
      </p:sp>
    </p:spTree>
    <p:extLst>
      <p:ext uri="{BB962C8B-B14F-4D97-AF65-F5344CB8AC3E}">
        <p14:creationId xmlns:p14="http://schemas.microsoft.com/office/powerpoint/2010/main" val="331400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2CCD-89A6-3497-DA9B-E822A8EA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POC – WeChat mini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D104F-69F5-B121-E421-94432E8164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Statement of requirement for POC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68BF-DED8-6C4F-A01E-86F708EC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3FBFB-6283-C860-B8C0-A61BD567A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998" y="3957398"/>
            <a:ext cx="76200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947DAA-276B-97D0-D414-8EF3D166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268" y="1630704"/>
            <a:ext cx="1568294" cy="1568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D2031-CD75-5F48-BCF7-3BEA60912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466" y="3371237"/>
            <a:ext cx="327063" cy="3270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51E6BF-7577-C10D-005F-7F5A97EDE015}"/>
              </a:ext>
            </a:extLst>
          </p:cNvPr>
          <p:cNvSpPr txBox="1"/>
          <p:nvPr/>
        </p:nvSpPr>
        <p:spPr>
          <a:xfrm>
            <a:off x="3620587" y="2202293"/>
            <a:ext cx="1474101" cy="3449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Digital content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041375-9E19-6C61-994B-D7DBC07108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2067" b="61443"/>
          <a:stretch/>
        </p:blipFill>
        <p:spPr>
          <a:xfrm>
            <a:off x="6640794" y="1739894"/>
            <a:ext cx="2111428" cy="1204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08EA22-6AED-B1A1-27E0-C6765192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883" y="3957398"/>
            <a:ext cx="762000" cy="76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F9E6C5-0D0D-3AD9-2D60-3ACE4EB02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350" y="3371236"/>
            <a:ext cx="327063" cy="327063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0080D4F9-1466-AAD0-8B03-26F7CA6CBD3D}"/>
              </a:ext>
            </a:extLst>
          </p:cNvPr>
          <p:cNvSpPr/>
          <p:nvPr/>
        </p:nvSpPr>
        <p:spPr>
          <a:xfrm>
            <a:off x="5557065" y="3085306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B645DD-29BC-AE18-2908-5EF688AE2140}"/>
              </a:ext>
            </a:extLst>
          </p:cNvPr>
          <p:cNvSpPr/>
          <p:nvPr/>
        </p:nvSpPr>
        <p:spPr>
          <a:xfrm>
            <a:off x="4144466" y="4106779"/>
            <a:ext cx="327063" cy="428800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0A85D2-6AD6-9244-69A1-A85A75A7CF1E}"/>
              </a:ext>
            </a:extLst>
          </p:cNvPr>
          <p:cNvSpPr txBox="1"/>
          <p:nvPr/>
        </p:nvSpPr>
        <p:spPr>
          <a:xfrm>
            <a:off x="5247792" y="3840707"/>
            <a:ext cx="1155032" cy="27338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600" kern="0" dirty="0">
                <a:solidFill>
                  <a:srgbClr val="000000"/>
                </a:solidFill>
              </a:rPr>
              <a:t>微信小程序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C41CC8-2E52-AD4C-DCF9-13FEBC0AA825}"/>
              </a:ext>
            </a:extLst>
          </p:cNvPr>
          <p:cNvCxnSpPr>
            <a:stCxn id="26" idx="1"/>
            <a:endCxn id="25" idx="3"/>
          </p:cNvCxnSpPr>
          <p:nvPr/>
        </p:nvCxnSpPr>
        <p:spPr>
          <a:xfrm flipH="1">
            <a:off x="4471529" y="3977398"/>
            <a:ext cx="776263" cy="343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849E93C-E192-72F2-FC13-35B93E47BDEA}"/>
              </a:ext>
            </a:extLst>
          </p:cNvPr>
          <p:cNvSpPr/>
          <p:nvPr/>
        </p:nvSpPr>
        <p:spPr>
          <a:xfrm>
            <a:off x="7161350" y="4106778"/>
            <a:ext cx="327063" cy="428800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EB26597-F774-DC80-FBB0-08964A87F132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6402824" y="3977398"/>
            <a:ext cx="758526" cy="343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02CBF34-E9F1-8875-6522-7359305F0F7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184" t="2145" r="5166" b="8812"/>
          <a:stretch/>
        </p:blipFill>
        <p:spPr>
          <a:xfrm>
            <a:off x="662590" y="2333900"/>
            <a:ext cx="1195137" cy="127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4048BD-8C0A-FAB7-F2A0-A1527DDAE1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825" y="3662423"/>
            <a:ext cx="1272199" cy="127219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CB907673-BFDD-6EF2-C39C-2D29B6A191D0}"/>
              </a:ext>
            </a:extLst>
          </p:cNvPr>
          <p:cNvSpPr/>
          <p:nvPr/>
        </p:nvSpPr>
        <p:spPr>
          <a:xfrm>
            <a:off x="2399879" y="3085306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98C71-F484-2A66-17E5-02E66775F4ED}"/>
              </a:ext>
            </a:extLst>
          </p:cNvPr>
          <p:cNvSpPr txBox="1"/>
          <p:nvPr/>
        </p:nvSpPr>
        <p:spPr>
          <a:xfrm>
            <a:off x="9363562" y="3123613"/>
            <a:ext cx="142966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Customer</a:t>
            </a:r>
            <a:r>
              <a:rPr lang="en-US" sz="800" kern="0" dirty="0">
                <a:solidFill>
                  <a:srgbClr val="000000"/>
                </a:solidFill>
              </a:rPr>
              <a:t>_id,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(timestamp, (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x,y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 …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F0DABBC-9EC3-A919-EF76-08095FBB697F}"/>
              </a:ext>
            </a:extLst>
          </p:cNvPr>
          <p:cNvSpPr/>
          <p:nvPr/>
        </p:nvSpPr>
        <p:spPr>
          <a:xfrm>
            <a:off x="8521335" y="3088160"/>
            <a:ext cx="461774" cy="388800"/>
          </a:xfrm>
          <a:prstGeom prst="rightArrow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50EB05-CE50-36B9-3AAB-00B475E59534}"/>
              </a:ext>
            </a:extLst>
          </p:cNvPr>
          <p:cNvSpPr/>
          <p:nvPr/>
        </p:nvSpPr>
        <p:spPr>
          <a:xfrm>
            <a:off x="554991" y="1149447"/>
            <a:ext cx="8621094" cy="4264764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1D64854-1E8E-3604-890A-45F5748280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5246" y="842400"/>
            <a:ext cx="762000" cy="76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FBB380B-B452-1225-13A3-DAA07A90E95F}"/>
              </a:ext>
            </a:extLst>
          </p:cNvPr>
          <p:cNvSpPr txBox="1"/>
          <p:nvPr/>
        </p:nvSpPr>
        <p:spPr>
          <a:xfrm>
            <a:off x="6943883" y="1197200"/>
            <a:ext cx="181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In-Store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8230F1-5C41-074D-04FE-A6F2CB8C03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924" y="1515577"/>
            <a:ext cx="762000" cy="762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655F63-21E6-98C7-F4DB-FF7487123D03}"/>
              </a:ext>
            </a:extLst>
          </p:cNvPr>
          <p:cNvSpPr txBox="1"/>
          <p:nvPr/>
        </p:nvSpPr>
        <p:spPr>
          <a:xfrm>
            <a:off x="1609924" y="1880133"/>
            <a:ext cx="1474101" cy="3449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BLE Beacon</a:t>
            </a:r>
          </a:p>
        </p:txBody>
      </p:sp>
    </p:spTree>
    <p:extLst>
      <p:ext uri="{BB962C8B-B14F-4D97-AF65-F5344CB8AC3E}">
        <p14:creationId xmlns:p14="http://schemas.microsoft.com/office/powerpoint/2010/main" val="77199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2CCD-89A6-3497-DA9B-E822A8EA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POC – Web portal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D104F-69F5-B121-E421-94432E8164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Statement of requirement for POC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68BF-DED8-6C4F-A01E-86F708EC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17373A-324E-0613-AEDC-056BC49414EA}"/>
              </a:ext>
            </a:extLst>
          </p:cNvPr>
          <p:cNvSpPr/>
          <p:nvPr/>
        </p:nvSpPr>
        <p:spPr>
          <a:xfrm>
            <a:off x="2085474" y="1425600"/>
            <a:ext cx="6074499" cy="3392905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E2592F-E235-BBB0-45CE-45A454990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378" y="1578232"/>
            <a:ext cx="2174451" cy="302568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8279281-7864-7C37-E3DE-3C63D18E8167}"/>
              </a:ext>
            </a:extLst>
          </p:cNvPr>
          <p:cNvSpPr/>
          <p:nvPr/>
        </p:nvSpPr>
        <p:spPr>
          <a:xfrm>
            <a:off x="3039975" y="3550189"/>
            <a:ext cx="112294" cy="112294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5BEC2E-8DF9-F2D6-38FC-0A525D441F79}"/>
              </a:ext>
            </a:extLst>
          </p:cNvPr>
          <p:cNvSpPr/>
          <p:nvPr/>
        </p:nvSpPr>
        <p:spPr>
          <a:xfrm>
            <a:off x="4379493" y="2408061"/>
            <a:ext cx="112294" cy="112294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257EF0-7DB3-24AE-5808-9CDC67849091}"/>
              </a:ext>
            </a:extLst>
          </p:cNvPr>
          <p:cNvSpPr/>
          <p:nvPr/>
        </p:nvSpPr>
        <p:spPr>
          <a:xfrm>
            <a:off x="3096122" y="2282863"/>
            <a:ext cx="112294" cy="112294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9064A-69E7-D4E6-F074-32D02E155766}"/>
              </a:ext>
            </a:extLst>
          </p:cNvPr>
          <p:cNvSpPr txBox="1"/>
          <p:nvPr/>
        </p:nvSpPr>
        <p:spPr>
          <a:xfrm>
            <a:off x="5270573" y="1651722"/>
            <a:ext cx="2660427" cy="3090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Data log: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kern="0" dirty="0">
                <a:solidFill>
                  <a:srgbClr val="000000"/>
                </a:solidFill>
              </a:rPr>
              <a:t>Timestamp, ID_001,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), Scanning QR of xx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kern="0" dirty="0">
                <a:solidFill>
                  <a:srgbClr val="000000"/>
                </a:solidFill>
              </a:rPr>
              <a:t>Timestamp, ID_001,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ID_001,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kern="0" dirty="0">
                <a:solidFill>
                  <a:srgbClr val="000000"/>
                </a:solidFill>
              </a:rPr>
              <a:t>Timestamp,</a:t>
            </a:r>
            <a:r>
              <a:rPr lang="zh-CN" altLang="en-US" sz="1000" kern="0" dirty="0">
                <a:solidFill>
                  <a:srgbClr val="000000"/>
                </a:solidFill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</a:t>
            </a:r>
            <a:r>
              <a:rPr lang="en-US" sz="1000" kern="0" dirty="0">
                <a:solidFill>
                  <a:srgbClr val="000000"/>
                </a:solidFill>
              </a:rPr>
              <a:t>_002,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), Scanning NFC of xx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ID_002,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ID_001,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ID_002,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ID_001,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</a:t>
            </a:r>
            <a:r>
              <a:rPr lang="en-US" sz="1000" kern="0" dirty="0">
                <a:solidFill>
                  <a:srgbClr val="000000"/>
                </a:solidFill>
              </a:rPr>
              <a:t>_003,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), Scanning QR of xx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ID_003,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ID_001,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Timestamp, ID_002, (</a:t>
            </a:r>
            <a:r>
              <a:rPr lang="en-US" sz="1000" kern="0" dirty="0" err="1">
                <a:solidFill>
                  <a:srgbClr val="000000"/>
                </a:solidFill>
              </a:rPr>
              <a:t>x,y</a:t>
            </a:r>
            <a:r>
              <a:rPr lang="en-US" sz="1000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kern="0" dirty="0">
                <a:solidFill>
                  <a:srgbClr val="000000"/>
                </a:solidFill>
              </a:rPr>
              <a:t>…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en-US" sz="1000" kern="0" dirty="0">
              <a:solidFill>
                <a:srgbClr val="000000"/>
              </a:solidFill>
            </a:endParaRP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en-US" sz="1000" kern="0" dirty="0">
              <a:solidFill>
                <a:srgbClr val="000000"/>
              </a:solidFill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3575D-F7DF-AAC0-8583-2DC1E678EE50}"/>
              </a:ext>
            </a:extLst>
          </p:cNvPr>
          <p:cNvSpPr txBox="1"/>
          <p:nvPr/>
        </p:nvSpPr>
        <p:spPr>
          <a:xfrm>
            <a:off x="4644189" y="4894821"/>
            <a:ext cx="1363580" cy="31248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Web portal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4DAB3B-FA6A-211F-9BBC-A0FDF763E325}"/>
              </a:ext>
            </a:extLst>
          </p:cNvPr>
          <p:cNvSpPr/>
          <p:nvPr/>
        </p:nvSpPr>
        <p:spPr>
          <a:xfrm>
            <a:off x="5157537" y="1501916"/>
            <a:ext cx="2863516" cy="3240271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10690-BFDD-310C-6977-4EF31B977265}"/>
              </a:ext>
            </a:extLst>
          </p:cNvPr>
          <p:cNvSpPr/>
          <p:nvPr/>
        </p:nvSpPr>
        <p:spPr>
          <a:xfrm>
            <a:off x="2225846" y="1501916"/>
            <a:ext cx="2863516" cy="3240271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31C53-4BAF-83DA-4626-A5B29B622347}"/>
              </a:ext>
            </a:extLst>
          </p:cNvPr>
          <p:cNvSpPr txBox="1"/>
          <p:nvPr/>
        </p:nvSpPr>
        <p:spPr>
          <a:xfrm>
            <a:off x="2173708" y="1491205"/>
            <a:ext cx="1018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367135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5A5F-2013-5514-8A23-3A897812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POC – frontend mockup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CAA9E-47C0-F9B8-08D3-BB8E0A3F31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Statement of requirement for POC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A2246-10A2-8923-A457-1B15E9CF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5CB39-7B19-24E2-1337-6E0BD2C46C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683572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  <p:tag name="SAX_SKIPCONVERSION" val="1"/>
  <p:tag name="SAXMLCOMPANYNAME_PREVIOUS" val="bosch"/>
  <p:tag name="MLTEMPLATEVERSION_PREVIOUS" val="1.0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CR/RIX-AP</OrgInhalt>
      <Wert>CR/RIX-AP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Bosch (China) Investment Ltd. 2021. All rights reserved, also regarding any disposal, exploitation, reproduction, editing, distribution, as well as in the event of applications for industrial property rights.</OrgInhalt>
      <Wert>© Bosch (China) Investment Ltd. 2021.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2021-12-14</OrgInhalt>
      <Wert>2023-03-22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4B6F4FE-1416-4828-BE03-503832FFFE48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597</TotalTime>
  <Words>249</Words>
  <Application>Microsoft Office PowerPoint</Application>
  <PresentationFormat>Custom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Bosch Office Sans</vt:lpstr>
      <vt:lpstr>Calibri</vt:lpstr>
      <vt:lpstr>Wingdings 3</vt:lpstr>
      <vt:lpstr>Bosch NG</vt:lpstr>
      <vt:lpstr>POC – BLE AOA</vt:lpstr>
      <vt:lpstr>POC – User Interaction</vt:lpstr>
      <vt:lpstr>POC – WeChat mini program</vt:lpstr>
      <vt:lpstr>POC – Web portal</vt:lpstr>
      <vt:lpstr>POC – frontend mockup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BAO Lei (CR/RIX-AP)</dc:creator>
  <cp:lastModifiedBy>BAO Lei (CR/RIX1-AP)</cp:lastModifiedBy>
  <cp:revision>10</cp:revision>
  <dcterms:created xsi:type="dcterms:W3CDTF">2021-12-14T06:59:17Z</dcterms:created>
  <dcterms:modified xsi:type="dcterms:W3CDTF">2023-05-10T05:40:53Z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