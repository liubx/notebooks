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13" r:id="rId2"/>
    <p:sldId id="9167" r:id="rId3"/>
    <p:sldId id="9168" r:id="rId4"/>
    <p:sldId id="9176" r:id="rId5"/>
    <p:sldId id="365" r:id="rId6"/>
    <p:sldId id="9160" r:id="rId7"/>
    <p:sldId id="9184" r:id="rId8"/>
    <p:sldId id="9182" r:id="rId9"/>
    <p:sldId id="9134" r:id="rId10"/>
    <p:sldId id="9183" r:id="rId11"/>
    <p:sldId id="9185" r:id="rId12"/>
    <p:sldId id="9186" r:id="rId13"/>
    <p:sldId id="9188" r:id="rId14"/>
    <p:sldId id="9189" r:id="rId15"/>
    <p:sldId id="9190" r:id="rId16"/>
    <p:sldId id="9193" r:id="rId17"/>
    <p:sldId id="9191" r:id="rId18"/>
    <p:sldId id="9194" r:id="rId19"/>
    <p:sldId id="9196" r:id="rId20"/>
    <p:sldId id="9195" r:id="rId21"/>
    <p:sldId id="9197" r:id="rId22"/>
    <p:sldId id="285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19" clrIdx="0"/>
  <p:cmAuthor id="1" name="georgefan" initials="g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3B3B"/>
    <a:srgbClr val="5B9BD5"/>
    <a:srgbClr val="00B0F0"/>
    <a:srgbClr val="2164ED"/>
    <a:srgbClr val="417AED"/>
    <a:srgbClr val="21C9ED"/>
    <a:srgbClr val="6E9AF4"/>
    <a:srgbClr val="D6E4FF"/>
    <a:srgbClr val="AF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2" autoAdjust="0"/>
    <p:restoredTop sz="87755" autoAdjust="0"/>
  </p:normalViewPr>
  <p:slideViewPr>
    <p:cSldViewPr snapToGrid="0" snapToObjects="1">
      <p:cViewPr varScale="1">
        <p:scale>
          <a:sx n="71" d="100"/>
          <a:sy n="71" d="100"/>
        </p:scale>
        <p:origin x="107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 Zheng" userId="7ffb0a34db43923c" providerId="LiveId" clId="{ECE393ED-87A1-4426-BD0D-88F2B180120F}"/>
    <pc:docChg chg="modSld">
      <pc:chgData name="Wu Zheng" userId="7ffb0a34db43923c" providerId="LiveId" clId="{ECE393ED-87A1-4426-BD0D-88F2B180120F}" dt="2022-07-01T03:18:30.511" v="4" actId="1076"/>
      <pc:docMkLst>
        <pc:docMk/>
      </pc:docMkLst>
      <pc:sldChg chg="modSp mod">
        <pc:chgData name="Wu Zheng" userId="7ffb0a34db43923c" providerId="LiveId" clId="{ECE393ED-87A1-4426-BD0D-88F2B180120F}" dt="2022-07-01T03:18:30.511" v="4" actId="1076"/>
        <pc:sldMkLst>
          <pc:docMk/>
          <pc:sldMk cId="0" sldId="365"/>
        </pc:sldMkLst>
        <pc:grpChg chg="mod">
          <ac:chgData name="Wu Zheng" userId="7ffb0a34db43923c" providerId="LiveId" clId="{ECE393ED-87A1-4426-BD0D-88F2B180120F}" dt="2022-07-01T03:18:30.511" v="4" actId="1076"/>
          <ac:grpSpMkLst>
            <pc:docMk/>
            <pc:sldMk cId="0" sldId="365"/>
            <ac:grpSpMk id="2" creationId="{00000000-0000-0000-0000-000000000000}"/>
          </ac:grpSpMkLst>
        </pc:grpChg>
      </pc:sldChg>
      <pc:sldChg chg="modSp mod">
        <pc:chgData name="Wu Zheng" userId="7ffb0a34db43923c" providerId="LiveId" clId="{ECE393ED-87A1-4426-BD0D-88F2B180120F}" dt="2022-06-30T07:58:24.361" v="3" actId="207"/>
        <pc:sldMkLst>
          <pc:docMk/>
          <pc:sldMk cId="1754896389" sldId="9176"/>
        </pc:sldMkLst>
        <pc:spChg chg="mod">
          <ac:chgData name="Wu Zheng" userId="7ffb0a34db43923c" providerId="LiveId" clId="{ECE393ED-87A1-4426-BD0D-88F2B180120F}" dt="2022-06-30T07:57:28.023" v="2" actId="207"/>
          <ac:spMkLst>
            <pc:docMk/>
            <pc:sldMk cId="1754896389" sldId="9176"/>
            <ac:spMk id="10" creationId="{5232039C-A0B5-4DAE-B667-6D6219154DDD}"/>
          </ac:spMkLst>
        </pc:spChg>
        <pc:spChg chg="mod">
          <ac:chgData name="Wu Zheng" userId="7ffb0a34db43923c" providerId="LiveId" clId="{ECE393ED-87A1-4426-BD0D-88F2B180120F}" dt="2022-06-30T07:58:24.361" v="3" actId="207"/>
          <ac:spMkLst>
            <pc:docMk/>
            <pc:sldMk cId="1754896389" sldId="9176"/>
            <ac:spMk id="12" creationId="{6EEFCDCA-1694-4A65-AC90-1B497BDC8D90}"/>
          </ac:spMkLst>
        </pc:spChg>
        <pc:spChg chg="mod">
          <ac:chgData name="Wu Zheng" userId="7ffb0a34db43923c" providerId="LiveId" clId="{ECE393ED-87A1-4426-BD0D-88F2B180120F}" dt="2022-06-30T07:57:20.531" v="1" actId="207"/>
          <ac:spMkLst>
            <pc:docMk/>
            <pc:sldMk cId="1754896389" sldId="9176"/>
            <ac:spMk id="13" creationId="{A15C55CC-1687-4E9F-84CF-F9A69C91917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DB5A31-DD98-4C64-9340-8288E43D84A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65EDFCC-CCCD-40BB-930F-5910F327F352}">
      <dgm:prSet phldrT="[文本]"/>
      <dgm:spPr/>
      <dgm:t>
        <a:bodyPr/>
        <a:lstStyle/>
        <a:p>
          <a:r>
            <a:rPr lang="zh-CN" altLang="en-US" dirty="0"/>
            <a:t>水厂</a:t>
          </a:r>
          <a:r>
            <a:rPr lang="en-US" altLang="zh-CN" dirty="0"/>
            <a:t>1</a:t>
          </a:r>
          <a:r>
            <a:rPr lang="zh-CN" altLang="en-US" dirty="0"/>
            <a:t>、</a:t>
          </a:r>
          <a:r>
            <a:rPr lang="en-US" altLang="zh-CN" dirty="0"/>
            <a:t>2</a:t>
          </a:r>
          <a:r>
            <a:rPr lang="zh-CN" altLang="en-US" dirty="0"/>
            <a:t>层部署全覆盖的</a:t>
          </a:r>
          <a:r>
            <a:rPr lang="en-US" altLang="zh-CN" dirty="0"/>
            <a:t>UWB</a:t>
          </a:r>
          <a:r>
            <a:rPr lang="zh-CN" altLang="en-US" dirty="0"/>
            <a:t>室内定位系统</a:t>
          </a:r>
        </a:p>
      </dgm:t>
    </dgm:pt>
    <dgm:pt modelId="{8E227C81-0338-4847-B428-7C469C8FE5D7}" type="parTrans" cxnId="{92476FEF-5D7C-4EFA-8CD0-E61468C58687}">
      <dgm:prSet/>
      <dgm:spPr/>
      <dgm:t>
        <a:bodyPr/>
        <a:lstStyle/>
        <a:p>
          <a:endParaRPr lang="zh-CN" altLang="en-US"/>
        </a:p>
      </dgm:t>
    </dgm:pt>
    <dgm:pt modelId="{6359A6A4-2527-471B-8E68-302C498B1A43}" type="sibTrans" cxnId="{92476FEF-5D7C-4EFA-8CD0-E61468C58687}">
      <dgm:prSet/>
      <dgm:spPr/>
      <dgm:t>
        <a:bodyPr/>
        <a:lstStyle/>
        <a:p>
          <a:endParaRPr lang="zh-CN" altLang="en-US"/>
        </a:p>
      </dgm:t>
    </dgm:pt>
    <dgm:pt modelId="{D8E268B7-8521-44F0-85B8-5CE3A5AE715F}">
      <dgm:prSet phldrT="[文本]"/>
      <dgm:spPr/>
      <dgm:t>
        <a:bodyPr/>
        <a:lstStyle/>
        <a:p>
          <a:r>
            <a:rPr lang="zh-CN" altLang="en-US" dirty="0"/>
            <a:t>搭建基于</a:t>
          </a:r>
          <a:r>
            <a:rPr lang="en-US" altLang="zh-CN" dirty="0"/>
            <a:t>GIS</a:t>
          </a:r>
          <a:r>
            <a:rPr lang="zh-CN" altLang="en-US" dirty="0"/>
            <a:t>的可视化导航服务平台</a:t>
          </a:r>
        </a:p>
      </dgm:t>
    </dgm:pt>
    <dgm:pt modelId="{9F4EE22D-D95E-4DF1-BC9B-16CD66FB1F2C}" type="parTrans" cxnId="{5C1DA012-40E7-4763-964D-3BAD6998649D}">
      <dgm:prSet/>
      <dgm:spPr/>
      <dgm:t>
        <a:bodyPr/>
        <a:lstStyle/>
        <a:p>
          <a:endParaRPr lang="zh-CN" altLang="en-US"/>
        </a:p>
      </dgm:t>
    </dgm:pt>
    <dgm:pt modelId="{0AFEA718-D033-496A-8671-299CAF157498}" type="sibTrans" cxnId="{5C1DA012-40E7-4763-964D-3BAD6998649D}">
      <dgm:prSet/>
      <dgm:spPr/>
      <dgm:t>
        <a:bodyPr/>
        <a:lstStyle/>
        <a:p>
          <a:endParaRPr lang="zh-CN" altLang="en-US"/>
        </a:p>
      </dgm:t>
    </dgm:pt>
    <dgm:pt modelId="{C6831ADC-C660-4DE0-8718-7ED61645795F}">
      <dgm:prSet phldrT="[文本]"/>
      <dgm:spPr/>
      <dgm:t>
        <a:bodyPr/>
        <a:lstStyle/>
        <a:p>
          <a:r>
            <a:rPr lang="zh-CN" altLang="en-US" dirty="0"/>
            <a:t>构建厂区、人员、设备、危险区域等二维空间地理数据库</a:t>
          </a:r>
        </a:p>
      </dgm:t>
    </dgm:pt>
    <dgm:pt modelId="{34B093F6-3E62-4CE5-A957-63BD64ABA469}" type="parTrans" cxnId="{20A4AF3E-F4A1-4112-A55C-896C86EC8FE8}">
      <dgm:prSet/>
      <dgm:spPr/>
      <dgm:t>
        <a:bodyPr/>
        <a:lstStyle/>
        <a:p>
          <a:endParaRPr lang="zh-CN" altLang="en-US"/>
        </a:p>
      </dgm:t>
    </dgm:pt>
    <dgm:pt modelId="{AB8E56D2-9B4F-4CE4-B900-6465E0753F2B}" type="sibTrans" cxnId="{20A4AF3E-F4A1-4112-A55C-896C86EC8FE8}">
      <dgm:prSet/>
      <dgm:spPr/>
      <dgm:t>
        <a:bodyPr/>
        <a:lstStyle/>
        <a:p>
          <a:endParaRPr lang="zh-CN" altLang="en-US"/>
        </a:p>
      </dgm:t>
    </dgm:pt>
    <dgm:pt modelId="{AA2B9CDF-A29D-4C4A-905E-FE2C2FAEBBB1}">
      <dgm:prSet/>
      <dgm:spPr/>
      <dgm:t>
        <a:bodyPr/>
        <a:lstStyle/>
        <a:p>
          <a:r>
            <a:rPr lang="zh-CN" altLang="en-US" dirty="0"/>
            <a:t>配合巡检进行导航、安全提醒等工作过程透明管理 </a:t>
          </a:r>
        </a:p>
      </dgm:t>
    </dgm:pt>
    <dgm:pt modelId="{7E6B79EF-AFA2-4F3D-AF35-02CE138A981E}" type="parTrans" cxnId="{82B590EC-BCA9-4217-A633-653FFCF04DAA}">
      <dgm:prSet/>
      <dgm:spPr/>
      <dgm:t>
        <a:bodyPr/>
        <a:lstStyle/>
        <a:p>
          <a:endParaRPr lang="zh-CN" altLang="en-US"/>
        </a:p>
      </dgm:t>
    </dgm:pt>
    <dgm:pt modelId="{B3A6F7D5-F96B-4963-B8CF-B841F40541E5}" type="sibTrans" cxnId="{82B590EC-BCA9-4217-A633-653FFCF04DAA}">
      <dgm:prSet/>
      <dgm:spPr/>
      <dgm:t>
        <a:bodyPr/>
        <a:lstStyle/>
        <a:p>
          <a:endParaRPr lang="zh-CN" altLang="en-US"/>
        </a:p>
      </dgm:t>
    </dgm:pt>
    <dgm:pt modelId="{5740A417-4369-42B1-9613-D75EDDFADF09}">
      <dgm:prSet/>
      <dgm:spPr/>
      <dgm:t>
        <a:bodyPr/>
        <a:lstStyle/>
        <a:p>
          <a:r>
            <a:rPr lang="zh-CN" altLang="en-US" dirty="0"/>
            <a:t>提升效率、降低安全风险、提升工作透明度</a:t>
          </a:r>
        </a:p>
      </dgm:t>
    </dgm:pt>
    <dgm:pt modelId="{302F9A37-FEE7-42B2-AEAE-E2B745BAC439}" type="parTrans" cxnId="{7C2427E9-276F-40A2-B1D2-7A6746AFD8FC}">
      <dgm:prSet/>
      <dgm:spPr/>
      <dgm:t>
        <a:bodyPr/>
        <a:lstStyle/>
        <a:p>
          <a:endParaRPr lang="zh-CN" altLang="en-US"/>
        </a:p>
      </dgm:t>
    </dgm:pt>
    <dgm:pt modelId="{606D9657-E6BE-4AED-8BB1-8450734300C2}" type="sibTrans" cxnId="{7C2427E9-276F-40A2-B1D2-7A6746AFD8FC}">
      <dgm:prSet/>
      <dgm:spPr/>
      <dgm:t>
        <a:bodyPr/>
        <a:lstStyle/>
        <a:p>
          <a:endParaRPr lang="zh-CN" altLang="en-US"/>
        </a:p>
      </dgm:t>
    </dgm:pt>
    <dgm:pt modelId="{988B2B59-C907-4821-8523-F977841A51D4}" type="pres">
      <dgm:prSet presAssocID="{71DB5A31-DD98-4C64-9340-8288E43D84AA}" presName="linear" presStyleCnt="0">
        <dgm:presLayoutVars>
          <dgm:dir/>
          <dgm:animLvl val="lvl"/>
          <dgm:resizeHandles val="exact"/>
        </dgm:presLayoutVars>
      </dgm:prSet>
      <dgm:spPr/>
    </dgm:pt>
    <dgm:pt modelId="{8D18E350-2A55-42FF-9562-F62C1B4BE1DF}" type="pres">
      <dgm:prSet presAssocID="{765EDFCC-CCCD-40BB-930F-5910F327F352}" presName="parentLin" presStyleCnt="0"/>
      <dgm:spPr/>
    </dgm:pt>
    <dgm:pt modelId="{1019426F-5507-43A3-8386-3FDB8E87E709}" type="pres">
      <dgm:prSet presAssocID="{765EDFCC-CCCD-40BB-930F-5910F327F352}" presName="parentLeftMargin" presStyleLbl="node1" presStyleIdx="0" presStyleCnt="5"/>
      <dgm:spPr/>
    </dgm:pt>
    <dgm:pt modelId="{B252B87E-3DE1-4EAC-A2F6-FA43085412D6}" type="pres">
      <dgm:prSet presAssocID="{765EDFCC-CCCD-40BB-930F-5910F327F35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2B8C651-2A39-4515-880B-768070DD0FAF}" type="pres">
      <dgm:prSet presAssocID="{765EDFCC-CCCD-40BB-930F-5910F327F352}" presName="negativeSpace" presStyleCnt="0"/>
      <dgm:spPr/>
    </dgm:pt>
    <dgm:pt modelId="{55F53D84-0AF4-4B34-8705-87406BF18DB4}" type="pres">
      <dgm:prSet presAssocID="{765EDFCC-CCCD-40BB-930F-5910F327F352}" presName="childText" presStyleLbl="conFgAcc1" presStyleIdx="0" presStyleCnt="5">
        <dgm:presLayoutVars>
          <dgm:bulletEnabled val="1"/>
        </dgm:presLayoutVars>
      </dgm:prSet>
      <dgm:spPr/>
    </dgm:pt>
    <dgm:pt modelId="{13437C05-3522-44CE-BF53-AD5E2BBC2536}" type="pres">
      <dgm:prSet presAssocID="{6359A6A4-2527-471B-8E68-302C498B1A43}" presName="spaceBetweenRectangles" presStyleCnt="0"/>
      <dgm:spPr/>
    </dgm:pt>
    <dgm:pt modelId="{3507602E-7A5C-48DB-ACCA-CA990A18507A}" type="pres">
      <dgm:prSet presAssocID="{D8E268B7-8521-44F0-85B8-5CE3A5AE715F}" presName="parentLin" presStyleCnt="0"/>
      <dgm:spPr/>
    </dgm:pt>
    <dgm:pt modelId="{1082570F-F110-4F6B-86F0-33E059099CBF}" type="pres">
      <dgm:prSet presAssocID="{D8E268B7-8521-44F0-85B8-5CE3A5AE715F}" presName="parentLeftMargin" presStyleLbl="node1" presStyleIdx="0" presStyleCnt="5"/>
      <dgm:spPr/>
    </dgm:pt>
    <dgm:pt modelId="{1E7FF513-DCE8-4B83-90CF-4B29E42C99B0}" type="pres">
      <dgm:prSet presAssocID="{D8E268B7-8521-44F0-85B8-5CE3A5AE715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945C310-2696-44F8-BADC-53A42291EEBD}" type="pres">
      <dgm:prSet presAssocID="{D8E268B7-8521-44F0-85B8-5CE3A5AE715F}" presName="negativeSpace" presStyleCnt="0"/>
      <dgm:spPr/>
    </dgm:pt>
    <dgm:pt modelId="{2E098356-A62E-4F1A-81C0-3B8E39CAF2E1}" type="pres">
      <dgm:prSet presAssocID="{D8E268B7-8521-44F0-85B8-5CE3A5AE715F}" presName="childText" presStyleLbl="conFgAcc1" presStyleIdx="1" presStyleCnt="5">
        <dgm:presLayoutVars>
          <dgm:bulletEnabled val="1"/>
        </dgm:presLayoutVars>
      </dgm:prSet>
      <dgm:spPr/>
    </dgm:pt>
    <dgm:pt modelId="{94C0D131-A366-436B-924F-C23456F3F910}" type="pres">
      <dgm:prSet presAssocID="{0AFEA718-D033-496A-8671-299CAF157498}" presName="spaceBetweenRectangles" presStyleCnt="0"/>
      <dgm:spPr/>
    </dgm:pt>
    <dgm:pt modelId="{18BA76CB-4916-4647-817A-0A1BE2505EC2}" type="pres">
      <dgm:prSet presAssocID="{C6831ADC-C660-4DE0-8718-7ED61645795F}" presName="parentLin" presStyleCnt="0"/>
      <dgm:spPr/>
    </dgm:pt>
    <dgm:pt modelId="{53306EDD-2A12-4A36-BA70-B2C77C8B70FD}" type="pres">
      <dgm:prSet presAssocID="{C6831ADC-C660-4DE0-8718-7ED61645795F}" presName="parentLeftMargin" presStyleLbl="node1" presStyleIdx="1" presStyleCnt="5"/>
      <dgm:spPr/>
    </dgm:pt>
    <dgm:pt modelId="{A02283C4-EFED-4B89-9D74-BD4A2DA241C2}" type="pres">
      <dgm:prSet presAssocID="{C6831ADC-C660-4DE0-8718-7ED61645795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E8632C6-F5B8-4180-BDE6-F1DCB4A2AAB6}" type="pres">
      <dgm:prSet presAssocID="{C6831ADC-C660-4DE0-8718-7ED61645795F}" presName="negativeSpace" presStyleCnt="0"/>
      <dgm:spPr/>
    </dgm:pt>
    <dgm:pt modelId="{2A873864-AA28-46E7-932A-2EAE4975731C}" type="pres">
      <dgm:prSet presAssocID="{C6831ADC-C660-4DE0-8718-7ED61645795F}" presName="childText" presStyleLbl="conFgAcc1" presStyleIdx="2" presStyleCnt="5">
        <dgm:presLayoutVars>
          <dgm:bulletEnabled val="1"/>
        </dgm:presLayoutVars>
      </dgm:prSet>
      <dgm:spPr/>
    </dgm:pt>
    <dgm:pt modelId="{DFDD01B9-18AD-4634-B0DF-20BDE2D5DAB3}" type="pres">
      <dgm:prSet presAssocID="{AB8E56D2-9B4F-4CE4-B900-6465E0753F2B}" presName="spaceBetweenRectangles" presStyleCnt="0"/>
      <dgm:spPr/>
    </dgm:pt>
    <dgm:pt modelId="{99B52AC6-AAF5-4D11-8AC4-512CEED3BE3D}" type="pres">
      <dgm:prSet presAssocID="{AA2B9CDF-A29D-4C4A-905E-FE2C2FAEBBB1}" presName="parentLin" presStyleCnt="0"/>
      <dgm:spPr/>
    </dgm:pt>
    <dgm:pt modelId="{0ED1CF79-84E2-4708-9189-3E5C844D5FA5}" type="pres">
      <dgm:prSet presAssocID="{AA2B9CDF-A29D-4C4A-905E-FE2C2FAEBBB1}" presName="parentLeftMargin" presStyleLbl="node1" presStyleIdx="2" presStyleCnt="5"/>
      <dgm:spPr/>
    </dgm:pt>
    <dgm:pt modelId="{3565BA77-9351-4B7C-9028-D104D3256F8F}" type="pres">
      <dgm:prSet presAssocID="{AA2B9CDF-A29D-4C4A-905E-FE2C2FAEBB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53657E7-1862-4D9E-99DA-04CA92F27B84}" type="pres">
      <dgm:prSet presAssocID="{AA2B9CDF-A29D-4C4A-905E-FE2C2FAEBBB1}" presName="negativeSpace" presStyleCnt="0"/>
      <dgm:spPr/>
    </dgm:pt>
    <dgm:pt modelId="{40356762-23CC-4495-8FEB-77D5A6FC505F}" type="pres">
      <dgm:prSet presAssocID="{AA2B9CDF-A29D-4C4A-905E-FE2C2FAEBBB1}" presName="childText" presStyleLbl="conFgAcc1" presStyleIdx="3" presStyleCnt="5">
        <dgm:presLayoutVars>
          <dgm:bulletEnabled val="1"/>
        </dgm:presLayoutVars>
      </dgm:prSet>
      <dgm:spPr/>
    </dgm:pt>
    <dgm:pt modelId="{21200FC4-2DCB-46D5-9988-28E0921C09C9}" type="pres">
      <dgm:prSet presAssocID="{B3A6F7D5-F96B-4963-B8CF-B841F40541E5}" presName="spaceBetweenRectangles" presStyleCnt="0"/>
      <dgm:spPr/>
    </dgm:pt>
    <dgm:pt modelId="{058D2540-C3A3-4408-B089-9E8E633B6F4D}" type="pres">
      <dgm:prSet presAssocID="{5740A417-4369-42B1-9613-D75EDDFADF09}" presName="parentLin" presStyleCnt="0"/>
      <dgm:spPr/>
    </dgm:pt>
    <dgm:pt modelId="{2AEE1B38-EDC4-490E-8A47-3B69FBD2A54C}" type="pres">
      <dgm:prSet presAssocID="{5740A417-4369-42B1-9613-D75EDDFADF09}" presName="parentLeftMargin" presStyleLbl="node1" presStyleIdx="3" presStyleCnt="5"/>
      <dgm:spPr/>
    </dgm:pt>
    <dgm:pt modelId="{32CEF726-A6EB-4E25-9166-0710FD64FC71}" type="pres">
      <dgm:prSet presAssocID="{5740A417-4369-42B1-9613-D75EDDFADF0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235DA49-E549-470D-AEE0-A8C88C76B7C9}" type="pres">
      <dgm:prSet presAssocID="{5740A417-4369-42B1-9613-D75EDDFADF09}" presName="negativeSpace" presStyleCnt="0"/>
      <dgm:spPr/>
    </dgm:pt>
    <dgm:pt modelId="{80260E1C-F5CB-43D2-9231-5161ACFD6905}" type="pres">
      <dgm:prSet presAssocID="{5740A417-4369-42B1-9613-D75EDDFADF09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8F21812-5D92-4F8A-9D26-F1CC80B09F33}" type="presOf" srcId="{765EDFCC-CCCD-40BB-930F-5910F327F352}" destId="{1019426F-5507-43A3-8386-3FDB8E87E709}" srcOrd="0" destOrd="0" presId="urn:microsoft.com/office/officeart/2005/8/layout/list1"/>
    <dgm:cxn modelId="{5C1DA012-40E7-4763-964D-3BAD6998649D}" srcId="{71DB5A31-DD98-4C64-9340-8288E43D84AA}" destId="{D8E268B7-8521-44F0-85B8-5CE3A5AE715F}" srcOrd="1" destOrd="0" parTransId="{9F4EE22D-D95E-4DF1-BC9B-16CD66FB1F2C}" sibTransId="{0AFEA718-D033-496A-8671-299CAF157498}"/>
    <dgm:cxn modelId="{8BFD1C27-31C4-4E0F-830A-E9B1078D2DB2}" type="presOf" srcId="{C6831ADC-C660-4DE0-8718-7ED61645795F}" destId="{A02283C4-EFED-4B89-9D74-BD4A2DA241C2}" srcOrd="1" destOrd="0" presId="urn:microsoft.com/office/officeart/2005/8/layout/list1"/>
    <dgm:cxn modelId="{20A4AF3E-F4A1-4112-A55C-896C86EC8FE8}" srcId="{71DB5A31-DD98-4C64-9340-8288E43D84AA}" destId="{C6831ADC-C660-4DE0-8718-7ED61645795F}" srcOrd="2" destOrd="0" parTransId="{34B093F6-3E62-4CE5-A957-63BD64ABA469}" sibTransId="{AB8E56D2-9B4F-4CE4-B900-6465E0753F2B}"/>
    <dgm:cxn modelId="{94AD4D5C-BD18-4EE6-AB1E-4E96749FF394}" type="presOf" srcId="{5740A417-4369-42B1-9613-D75EDDFADF09}" destId="{32CEF726-A6EB-4E25-9166-0710FD64FC71}" srcOrd="1" destOrd="0" presId="urn:microsoft.com/office/officeart/2005/8/layout/list1"/>
    <dgm:cxn modelId="{7250936F-1C74-4338-A609-92DD6616A705}" type="presOf" srcId="{D8E268B7-8521-44F0-85B8-5CE3A5AE715F}" destId="{1E7FF513-DCE8-4B83-90CF-4B29E42C99B0}" srcOrd="1" destOrd="0" presId="urn:microsoft.com/office/officeart/2005/8/layout/list1"/>
    <dgm:cxn modelId="{54258D54-A2A4-4264-BAE3-1E7C7D099C40}" type="presOf" srcId="{5740A417-4369-42B1-9613-D75EDDFADF09}" destId="{2AEE1B38-EDC4-490E-8A47-3B69FBD2A54C}" srcOrd="0" destOrd="0" presId="urn:microsoft.com/office/officeart/2005/8/layout/list1"/>
    <dgm:cxn modelId="{CF69B780-E510-4E9D-B30F-4A9B1E214D5A}" type="presOf" srcId="{AA2B9CDF-A29D-4C4A-905E-FE2C2FAEBBB1}" destId="{3565BA77-9351-4B7C-9028-D104D3256F8F}" srcOrd="1" destOrd="0" presId="urn:microsoft.com/office/officeart/2005/8/layout/list1"/>
    <dgm:cxn modelId="{6E39CC8F-0334-40AE-A261-FD9FEA807CC0}" type="presOf" srcId="{AA2B9CDF-A29D-4C4A-905E-FE2C2FAEBBB1}" destId="{0ED1CF79-84E2-4708-9189-3E5C844D5FA5}" srcOrd="0" destOrd="0" presId="urn:microsoft.com/office/officeart/2005/8/layout/list1"/>
    <dgm:cxn modelId="{6EB2F599-0C3A-48DE-8A09-4681E33C1067}" type="presOf" srcId="{D8E268B7-8521-44F0-85B8-5CE3A5AE715F}" destId="{1082570F-F110-4F6B-86F0-33E059099CBF}" srcOrd="0" destOrd="0" presId="urn:microsoft.com/office/officeart/2005/8/layout/list1"/>
    <dgm:cxn modelId="{23C194D0-0C6F-4CED-ABAA-DE6EA4F30281}" type="presOf" srcId="{71DB5A31-DD98-4C64-9340-8288E43D84AA}" destId="{988B2B59-C907-4821-8523-F977841A51D4}" srcOrd="0" destOrd="0" presId="urn:microsoft.com/office/officeart/2005/8/layout/list1"/>
    <dgm:cxn modelId="{6AFC2EDC-C167-4A3C-BFCA-6181A6BE596A}" type="presOf" srcId="{765EDFCC-CCCD-40BB-930F-5910F327F352}" destId="{B252B87E-3DE1-4EAC-A2F6-FA43085412D6}" srcOrd="1" destOrd="0" presId="urn:microsoft.com/office/officeart/2005/8/layout/list1"/>
    <dgm:cxn modelId="{7C2427E9-276F-40A2-B1D2-7A6746AFD8FC}" srcId="{71DB5A31-DD98-4C64-9340-8288E43D84AA}" destId="{5740A417-4369-42B1-9613-D75EDDFADF09}" srcOrd="4" destOrd="0" parTransId="{302F9A37-FEE7-42B2-AEAE-E2B745BAC439}" sibTransId="{606D9657-E6BE-4AED-8BB1-8450734300C2}"/>
    <dgm:cxn modelId="{82B590EC-BCA9-4217-A633-653FFCF04DAA}" srcId="{71DB5A31-DD98-4C64-9340-8288E43D84AA}" destId="{AA2B9CDF-A29D-4C4A-905E-FE2C2FAEBBB1}" srcOrd="3" destOrd="0" parTransId="{7E6B79EF-AFA2-4F3D-AF35-02CE138A981E}" sibTransId="{B3A6F7D5-F96B-4963-B8CF-B841F40541E5}"/>
    <dgm:cxn modelId="{92476FEF-5D7C-4EFA-8CD0-E61468C58687}" srcId="{71DB5A31-DD98-4C64-9340-8288E43D84AA}" destId="{765EDFCC-CCCD-40BB-930F-5910F327F352}" srcOrd="0" destOrd="0" parTransId="{8E227C81-0338-4847-B428-7C469C8FE5D7}" sibTransId="{6359A6A4-2527-471B-8E68-302C498B1A43}"/>
    <dgm:cxn modelId="{811E05FE-7491-4E2E-B0FC-488C30B81165}" type="presOf" srcId="{C6831ADC-C660-4DE0-8718-7ED61645795F}" destId="{53306EDD-2A12-4A36-BA70-B2C77C8B70FD}" srcOrd="0" destOrd="0" presId="urn:microsoft.com/office/officeart/2005/8/layout/list1"/>
    <dgm:cxn modelId="{A6887223-CA63-49A4-89D7-D16ED620536F}" type="presParOf" srcId="{988B2B59-C907-4821-8523-F977841A51D4}" destId="{8D18E350-2A55-42FF-9562-F62C1B4BE1DF}" srcOrd="0" destOrd="0" presId="urn:microsoft.com/office/officeart/2005/8/layout/list1"/>
    <dgm:cxn modelId="{DA183176-CF03-4DCD-BF17-3760158ACA84}" type="presParOf" srcId="{8D18E350-2A55-42FF-9562-F62C1B4BE1DF}" destId="{1019426F-5507-43A3-8386-3FDB8E87E709}" srcOrd="0" destOrd="0" presId="urn:microsoft.com/office/officeart/2005/8/layout/list1"/>
    <dgm:cxn modelId="{BCF17E0C-E69C-4A51-861E-A483267B57C2}" type="presParOf" srcId="{8D18E350-2A55-42FF-9562-F62C1B4BE1DF}" destId="{B252B87E-3DE1-4EAC-A2F6-FA43085412D6}" srcOrd="1" destOrd="0" presId="urn:microsoft.com/office/officeart/2005/8/layout/list1"/>
    <dgm:cxn modelId="{75585EC3-15B1-47C4-B14C-08ED6DFD335F}" type="presParOf" srcId="{988B2B59-C907-4821-8523-F977841A51D4}" destId="{42B8C651-2A39-4515-880B-768070DD0FAF}" srcOrd="1" destOrd="0" presId="urn:microsoft.com/office/officeart/2005/8/layout/list1"/>
    <dgm:cxn modelId="{8B81BEC7-16F0-4D13-B699-E2E3F47CE0ED}" type="presParOf" srcId="{988B2B59-C907-4821-8523-F977841A51D4}" destId="{55F53D84-0AF4-4B34-8705-87406BF18DB4}" srcOrd="2" destOrd="0" presId="urn:microsoft.com/office/officeart/2005/8/layout/list1"/>
    <dgm:cxn modelId="{090E7896-68F6-44FC-85B3-0766275559A3}" type="presParOf" srcId="{988B2B59-C907-4821-8523-F977841A51D4}" destId="{13437C05-3522-44CE-BF53-AD5E2BBC2536}" srcOrd="3" destOrd="0" presId="urn:microsoft.com/office/officeart/2005/8/layout/list1"/>
    <dgm:cxn modelId="{5C2B7435-9047-45DB-898F-86CD89D406D5}" type="presParOf" srcId="{988B2B59-C907-4821-8523-F977841A51D4}" destId="{3507602E-7A5C-48DB-ACCA-CA990A18507A}" srcOrd="4" destOrd="0" presId="urn:microsoft.com/office/officeart/2005/8/layout/list1"/>
    <dgm:cxn modelId="{A63859A5-E300-4697-8B41-5F8818E5FA13}" type="presParOf" srcId="{3507602E-7A5C-48DB-ACCA-CA990A18507A}" destId="{1082570F-F110-4F6B-86F0-33E059099CBF}" srcOrd="0" destOrd="0" presId="urn:microsoft.com/office/officeart/2005/8/layout/list1"/>
    <dgm:cxn modelId="{63947C1F-2244-4739-9E8C-F6145DD8A6B6}" type="presParOf" srcId="{3507602E-7A5C-48DB-ACCA-CA990A18507A}" destId="{1E7FF513-DCE8-4B83-90CF-4B29E42C99B0}" srcOrd="1" destOrd="0" presId="urn:microsoft.com/office/officeart/2005/8/layout/list1"/>
    <dgm:cxn modelId="{E446B852-0FCE-43AB-A495-01FA56878D0E}" type="presParOf" srcId="{988B2B59-C907-4821-8523-F977841A51D4}" destId="{2945C310-2696-44F8-BADC-53A42291EEBD}" srcOrd="5" destOrd="0" presId="urn:microsoft.com/office/officeart/2005/8/layout/list1"/>
    <dgm:cxn modelId="{B520AFC0-789E-4DAF-AB98-54CD83541891}" type="presParOf" srcId="{988B2B59-C907-4821-8523-F977841A51D4}" destId="{2E098356-A62E-4F1A-81C0-3B8E39CAF2E1}" srcOrd="6" destOrd="0" presId="urn:microsoft.com/office/officeart/2005/8/layout/list1"/>
    <dgm:cxn modelId="{34773BC6-67A5-49EA-8582-EB626DA9D98B}" type="presParOf" srcId="{988B2B59-C907-4821-8523-F977841A51D4}" destId="{94C0D131-A366-436B-924F-C23456F3F910}" srcOrd="7" destOrd="0" presId="urn:microsoft.com/office/officeart/2005/8/layout/list1"/>
    <dgm:cxn modelId="{8EACFA09-2D1B-4BF0-9438-6EEB35C7ECF7}" type="presParOf" srcId="{988B2B59-C907-4821-8523-F977841A51D4}" destId="{18BA76CB-4916-4647-817A-0A1BE2505EC2}" srcOrd="8" destOrd="0" presId="urn:microsoft.com/office/officeart/2005/8/layout/list1"/>
    <dgm:cxn modelId="{642F0098-EBC3-4F6B-885E-1A96F6C83204}" type="presParOf" srcId="{18BA76CB-4916-4647-817A-0A1BE2505EC2}" destId="{53306EDD-2A12-4A36-BA70-B2C77C8B70FD}" srcOrd="0" destOrd="0" presId="urn:microsoft.com/office/officeart/2005/8/layout/list1"/>
    <dgm:cxn modelId="{29ADC3D0-DD6D-4C5D-9CC1-729F4BF3BAD6}" type="presParOf" srcId="{18BA76CB-4916-4647-817A-0A1BE2505EC2}" destId="{A02283C4-EFED-4B89-9D74-BD4A2DA241C2}" srcOrd="1" destOrd="0" presId="urn:microsoft.com/office/officeart/2005/8/layout/list1"/>
    <dgm:cxn modelId="{CD1C12C9-E032-4799-A720-5B37F8BED7D8}" type="presParOf" srcId="{988B2B59-C907-4821-8523-F977841A51D4}" destId="{DE8632C6-F5B8-4180-BDE6-F1DCB4A2AAB6}" srcOrd="9" destOrd="0" presId="urn:microsoft.com/office/officeart/2005/8/layout/list1"/>
    <dgm:cxn modelId="{4267A2DE-DE7D-4F6D-9062-E9BE9DE721C8}" type="presParOf" srcId="{988B2B59-C907-4821-8523-F977841A51D4}" destId="{2A873864-AA28-46E7-932A-2EAE4975731C}" srcOrd="10" destOrd="0" presId="urn:microsoft.com/office/officeart/2005/8/layout/list1"/>
    <dgm:cxn modelId="{26A24367-AB42-46A1-9245-890E9F7A5E6D}" type="presParOf" srcId="{988B2B59-C907-4821-8523-F977841A51D4}" destId="{DFDD01B9-18AD-4634-B0DF-20BDE2D5DAB3}" srcOrd="11" destOrd="0" presId="urn:microsoft.com/office/officeart/2005/8/layout/list1"/>
    <dgm:cxn modelId="{C0EC02AC-F366-424A-B714-CA98D31EFA21}" type="presParOf" srcId="{988B2B59-C907-4821-8523-F977841A51D4}" destId="{99B52AC6-AAF5-4D11-8AC4-512CEED3BE3D}" srcOrd="12" destOrd="0" presId="urn:microsoft.com/office/officeart/2005/8/layout/list1"/>
    <dgm:cxn modelId="{1DF11C49-FFA9-46DC-BF82-3ACED50AB9B7}" type="presParOf" srcId="{99B52AC6-AAF5-4D11-8AC4-512CEED3BE3D}" destId="{0ED1CF79-84E2-4708-9189-3E5C844D5FA5}" srcOrd="0" destOrd="0" presId="urn:microsoft.com/office/officeart/2005/8/layout/list1"/>
    <dgm:cxn modelId="{8C724BB9-E633-4AC9-8537-F29CAB2D5B98}" type="presParOf" srcId="{99B52AC6-AAF5-4D11-8AC4-512CEED3BE3D}" destId="{3565BA77-9351-4B7C-9028-D104D3256F8F}" srcOrd="1" destOrd="0" presId="urn:microsoft.com/office/officeart/2005/8/layout/list1"/>
    <dgm:cxn modelId="{23B05EE2-11DA-49E7-968A-E52BB6CD0C3F}" type="presParOf" srcId="{988B2B59-C907-4821-8523-F977841A51D4}" destId="{953657E7-1862-4D9E-99DA-04CA92F27B84}" srcOrd="13" destOrd="0" presId="urn:microsoft.com/office/officeart/2005/8/layout/list1"/>
    <dgm:cxn modelId="{0D5CBAD1-A8B0-4554-A26B-A728357C46DF}" type="presParOf" srcId="{988B2B59-C907-4821-8523-F977841A51D4}" destId="{40356762-23CC-4495-8FEB-77D5A6FC505F}" srcOrd="14" destOrd="0" presId="urn:microsoft.com/office/officeart/2005/8/layout/list1"/>
    <dgm:cxn modelId="{B9C0E10B-F11E-4D91-83BA-AD94A1FB9F8A}" type="presParOf" srcId="{988B2B59-C907-4821-8523-F977841A51D4}" destId="{21200FC4-2DCB-46D5-9988-28E0921C09C9}" srcOrd="15" destOrd="0" presId="urn:microsoft.com/office/officeart/2005/8/layout/list1"/>
    <dgm:cxn modelId="{DDAFF130-0E23-48B3-A49F-43B84F78C3B5}" type="presParOf" srcId="{988B2B59-C907-4821-8523-F977841A51D4}" destId="{058D2540-C3A3-4408-B089-9E8E633B6F4D}" srcOrd="16" destOrd="0" presId="urn:microsoft.com/office/officeart/2005/8/layout/list1"/>
    <dgm:cxn modelId="{382FAD95-B1FD-4AFE-ADA7-9BFC28D6CB6A}" type="presParOf" srcId="{058D2540-C3A3-4408-B089-9E8E633B6F4D}" destId="{2AEE1B38-EDC4-490E-8A47-3B69FBD2A54C}" srcOrd="0" destOrd="0" presId="urn:microsoft.com/office/officeart/2005/8/layout/list1"/>
    <dgm:cxn modelId="{3F54B04D-8E67-42D6-B546-FBE2DBF67834}" type="presParOf" srcId="{058D2540-C3A3-4408-B089-9E8E633B6F4D}" destId="{32CEF726-A6EB-4E25-9166-0710FD64FC71}" srcOrd="1" destOrd="0" presId="urn:microsoft.com/office/officeart/2005/8/layout/list1"/>
    <dgm:cxn modelId="{AA63D1CA-6D83-49DF-B530-B822B5D594C9}" type="presParOf" srcId="{988B2B59-C907-4821-8523-F977841A51D4}" destId="{5235DA49-E549-470D-AEE0-A8C88C76B7C9}" srcOrd="17" destOrd="0" presId="urn:microsoft.com/office/officeart/2005/8/layout/list1"/>
    <dgm:cxn modelId="{3B2414BC-DE4E-4354-A907-E91B8A6361F7}" type="presParOf" srcId="{988B2B59-C907-4821-8523-F977841A51D4}" destId="{80260E1C-F5CB-43D2-9231-5161ACFD690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53D84-0AF4-4B34-8705-87406BF18DB4}">
      <dsp:nvSpPr>
        <dsp:cNvPr id="0" name=""/>
        <dsp:cNvSpPr/>
      </dsp:nvSpPr>
      <dsp:spPr>
        <a:xfrm>
          <a:off x="0" y="24242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52B87E-3DE1-4EAC-A2F6-FA43085412D6}">
      <dsp:nvSpPr>
        <dsp:cNvPr id="0" name=""/>
        <dsp:cNvSpPr/>
      </dsp:nvSpPr>
      <dsp:spPr>
        <a:xfrm>
          <a:off x="442305" y="626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水厂</a:t>
          </a:r>
          <a:r>
            <a:rPr lang="en-US" altLang="zh-CN" sz="1600" kern="1200" dirty="0"/>
            <a:t>1</a:t>
          </a:r>
          <a:r>
            <a:rPr lang="zh-CN" altLang="en-US" sz="1600" kern="1200" dirty="0"/>
            <a:t>、</a:t>
          </a:r>
          <a:r>
            <a:rPr lang="en-US" altLang="zh-CN" sz="1600" kern="1200" dirty="0"/>
            <a:t>2</a:t>
          </a:r>
          <a:r>
            <a:rPr lang="zh-CN" altLang="en-US" sz="1600" kern="1200" dirty="0"/>
            <a:t>层部署全覆盖的</a:t>
          </a:r>
          <a:r>
            <a:rPr lang="en-US" altLang="zh-CN" sz="1600" kern="1200" dirty="0"/>
            <a:t>UWB</a:t>
          </a:r>
          <a:r>
            <a:rPr lang="zh-CN" altLang="en-US" sz="1600" kern="1200" dirty="0"/>
            <a:t>室内定位系统</a:t>
          </a:r>
        </a:p>
      </dsp:txBody>
      <dsp:txXfrm>
        <a:off x="465362" y="29322"/>
        <a:ext cx="6146159" cy="426206"/>
      </dsp:txXfrm>
    </dsp:sp>
    <dsp:sp modelId="{2E098356-A62E-4F1A-81C0-3B8E39CAF2E1}">
      <dsp:nvSpPr>
        <dsp:cNvPr id="0" name=""/>
        <dsp:cNvSpPr/>
      </dsp:nvSpPr>
      <dsp:spPr>
        <a:xfrm>
          <a:off x="0" y="96818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FF513-DCE8-4B83-90CF-4B29E42C99B0}">
      <dsp:nvSpPr>
        <dsp:cNvPr id="0" name=""/>
        <dsp:cNvSpPr/>
      </dsp:nvSpPr>
      <dsp:spPr>
        <a:xfrm>
          <a:off x="442305" y="73202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搭建基于</a:t>
          </a:r>
          <a:r>
            <a:rPr lang="en-US" altLang="zh-CN" sz="1600" kern="1200" dirty="0"/>
            <a:t>GIS</a:t>
          </a:r>
          <a:r>
            <a:rPr lang="zh-CN" altLang="en-US" sz="1600" kern="1200" dirty="0"/>
            <a:t>的可视化导航服务平台</a:t>
          </a:r>
        </a:p>
      </dsp:txBody>
      <dsp:txXfrm>
        <a:off x="465362" y="755082"/>
        <a:ext cx="6146159" cy="426206"/>
      </dsp:txXfrm>
    </dsp:sp>
    <dsp:sp modelId="{2A873864-AA28-46E7-932A-2EAE4975731C}">
      <dsp:nvSpPr>
        <dsp:cNvPr id="0" name=""/>
        <dsp:cNvSpPr/>
      </dsp:nvSpPr>
      <dsp:spPr>
        <a:xfrm>
          <a:off x="0" y="169394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283C4-EFED-4B89-9D74-BD4A2DA241C2}">
      <dsp:nvSpPr>
        <dsp:cNvPr id="0" name=""/>
        <dsp:cNvSpPr/>
      </dsp:nvSpPr>
      <dsp:spPr>
        <a:xfrm>
          <a:off x="442305" y="145778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构建厂区、人员、设备、危险区域等二维空间地理数据库</a:t>
          </a:r>
        </a:p>
      </dsp:txBody>
      <dsp:txXfrm>
        <a:off x="465362" y="1480842"/>
        <a:ext cx="6146159" cy="426206"/>
      </dsp:txXfrm>
    </dsp:sp>
    <dsp:sp modelId="{40356762-23CC-4495-8FEB-77D5A6FC505F}">
      <dsp:nvSpPr>
        <dsp:cNvPr id="0" name=""/>
        <dsp:cNvSpPr/>
      </dsp:nvSpPr>
      <dsp:spPr>
        <a:xfrm>
          <a:off x="0" y="241970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5BA77-9351-4B7C-9028-D104D3256F8F}">
      <dsp:nvSpPr>
        <dsp:cNvPr id="0" name=""/>
        <dsp:cNvSpPr/>
      </dsp:nvSpPr>
      <dsp:spPr>
        <a:xfrm>
          <a:off x="442305" y="218354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配合巡检进行导航、安全提醒等工作过程透明管理 </a:t>
          </a:r>
        </a:p>
      </dsp:txBody>
      <dsp:txXfrm>
        <a:off x="465362" y="2206602"/>
        <a:ext cx="6146159" cy="426206"/>
      </dsp:txXfrm>
    </dsp:sp>
    <dsp:sp modelId="{80260E1C-F5CB-43D2-9231-5161ACFD6905}">
      <dsp:nvSpPr>
        <dsp:cNvPr id="0" name=""/>
        <dsp:cNvSpPr/>
      </dsp:nvSpPr>
      <dsp:spPr>
        <a:xfrm>
          <a:off x="0" y="314546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EF726-A6EB-4E25-9166-0710FD64FC71}">
      <dsp:nvSpPr>
        <dsp:cNvPr id="0" name=""/>
        <dsp:cNvSpPr/>
      </dsp:nvSpPr>
      <dsp:spPr>
        <a:xfrm>
          <a:off x="442305" y="290930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提升效率、降低安全风险、提升工作透明度</a:t>
          </a:r>
        </a:p>
      </dsp:txBody>
      <dsp:txXfrm>
        <a:off x="465362" y="2932362"/>
        <a:ext cx="6146159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92823-5FB1-431E-B988-4D34920BF2D1}" type="datetimeFigureOut">
              <a:rPr lang="zh-CN" altLang="en-US" smtClean="0"/>
              <a:t>2022/6/30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CAE35-9DE4-4F6E-B7AA-1B9D5F307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F9E5A-4D62-6B40-86D0-D009507B26B0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F4268-AEAE-D24C-A82F-384FB85B09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5023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1015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4332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DC527-CB41-BB48-A3BC-C51F9475406E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6210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8104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0832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9870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9686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2656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4830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805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6905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00173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1965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0635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弧 4"/>
          <p:cNvSpPr>
            <a:spLocks noChangeAspect="1"/>
          </p:cNvSpPr>
          <p:nvPr userDrawn="1"/>
        </p:nvSpPr>
        <p:spPr>
          <a:xfrm>
            <a:off x="-958601" y="-635045"/>
            <a:ext cx="1639508" cy="1639508"/>
          </a:xfrm>
          <a:prstGeom prst="arc">
            <a:avLst>
              <a:gd name="adj1" fmla="val 20771918"/>
              <a:gd name="adj2" fmla="val 4859837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>
            <a:spLocks noChangeAspect="1"/>
          </p:cNvSpPr>
          <p:nvPr userDrawn="1"/>
        </p:nvSpPr>
        <p:spPr>
          <a:xfrm>
            <a:off x="182735" y="331547"/>
            <a:ext cx="471967" cy="471967"/>
          </a:xfrm>
          <a:prstGeom prst="ellipse">
            <a:avLst/>
          </a:prstGeom>
          <a:solidFill>
            <a:srgbClr val="2164ED"/>
          </a:solidFill>
          <a:ln>
            <a:solidFill>
              <a:srgbClr val="216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>
            <a:spLocks noChangeAspect="1"/>
          </p:cNvSpPr>
          <p:nvPr userDrawn="1"/>
        </p:nvSpPr>
        <p:spPr>
          <a:xfrm>
            <a:off x="680907" y="397387"/>
            <a:ext cx="118800" cy="118800"/>
          </a:xfrm>
          <a:prstGeom prst="ellipse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2175" y="94149"/>
            <a:ext cx="181120" cy="181120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  <a:t>2022/6/29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弧 4"/>
          <p:cNvSpPr>
            <a:spLocks noChangeAspect="1"/>
          </p:cNvSpPr>
          <p:nvPr userDrawn="1"/>
        </p:nvSpPr>
        <p:spPr>
          <a:xfrm>
            <a:off x="-958601" y="-635045"/>
            <a:ext cx="1639508" cy="1639508"/>
          </a:xfrm>
          <a:prstGeom prst="arc">
            <a:avLst>
              <a:gd name="adj1" fmla="val 20771918"/>
              <a:gd name="adj2" fmla="val 4859837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>
            <a:spLocks noChangeAspect="1"/>
          </p:cNvSpPr>
          <p:nvPr userDrawn="1"/>
        </p:nvSpPr>
        <p:spPr>
          <a:xfrm>
            <a:off x="182735" y="331547"/>
            <a:ext cx="471967" cy="471967"/>
          </a:xfrm>
          <a:prstGeom prst="ellipse">
            <a:avLst/>
          </a:prstGeom>
          <a:solidFill>
            <a:srgbClr val="2164ED"/>
          </a:solidFill>
          <a:ln>
            <a:solidFill>
              <a:srgbClr val="216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>
            <a:spLocks noChangeAspect="1"/>
          </p:cNvSpPr>
          <p:nvPr userDrawn="1"/>
        </p:nvSpPr>
        <p:spPr>
          <a:xfrm>
            <a:off x="680907" y="397387"/>
            <a:ext cx="118800" cy="118800"/>
          </a:xfrm>
          <a:prstGeom prst="ellipse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2175" y="94149"/>
            <a:ext cx="181120" cy="181120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066" y="378004"/>
            <a:ext cx="9580218" cy="438389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64665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94763" y="411258"/>
            <a:ext cx="1286310" cy="2734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-91105" y="-64980"/>
            <a:ext cx="12192000" cy="245893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8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连接符 23"/>
          <p:cNvCxnSpPr/>
          <p:nvPr/>
        </p:nvCxnSpPr>
        <p:spPr>
          <a:xfrm flipH="1">
            <a:off x="9595420" y="2491975"/>
            <a:ext cx="1384521" cy="1216084"/>
          </a:xfrm>
          <a:prstGeom prst="line">
            <a:avLst/>
          </a:prstGeom>
          <a:ln w="12700" cap="rnd">
            <a:solidFill>
              <a:schemeClr val="bg1">
                <a:alpha val="2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24206" y="1363195"/>
            <a:ext cx="11180190" cy="3100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54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导航智能化资询与研</a:t>
            </a:r>
            <a:endParaRPr kumimoji="1" lang="en-US" altLang="zh-CN" sz="5400" b="1" dirty="0">
              <a:solidFill>
                <a:srgbClr val="2164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54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kumimoji="1" lang="zh-CN" altLang="en-US" sz="54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发试点项目</a:t>
            </a:r>
            <a:endParaRPr kumimoji="1" lang="en-US" altLang="zh-CN" sz="5400" b="1" dirty="0">
              <a:solidFill>
                <a:srgbClr val="2164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60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	        </a:t>
            </a:r>
            <a:r>
              <a:rPr kumimoji="1" lang="zh-CN" altLang="en-US" sz="48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079365" y="4733925"/>
            <a:ext cx="1564640" cy="824230"/>
            <a:chOff x="1860" y="5569"/>
            <a:chExt cx="2464" cy="1298"/>
          </a:xfrm>
        </p:grpSpPr>
        <p:sp>
          <p:nvSpPr>
            <p:cNvPr id="13" name="文本框 12"/>
            <p:cNvSpPr txBox="1"/>
            <p:nvPr/>
          </p:nvSpPr>
          <p:spPr>
            <a:xfrm>
              <a:off x="1860" y="5569"/>
              <a:ext cx="2262" cy="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 Semibold" panose="020B0503020204020204" charset="-122"/>
                  <a:ea typeface="Microsoft YaHei Semibold" panose="020B0503020204020204" charset="-122"/>
                  <a:cs typeface="微软雅黑" panose="020B0503020204020204" charset="-122"/>
                </a:rPr>
                <a:t>   中核集团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2216" y="6285"/>
              <a:ext cx="2108" cy="5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Regular" panose="02000503000000020004" charset="0"/>
                  <a:cs typeface="Helvetica Neue Regular" panose="02000503000000020004" charset="0"/>
                </a:rPr>
                <a:t>2022.03.18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Regular" panose="02000503000000020004" charset="0"/>
                <a:cs typeface="Helvetica Neue Regular" panose="02000503000000020004" charset="0"/>
              </a:endParaRPr>
            </a:p>
          </p:txBody>
        </p:sp>
      </p:grpSp>
      <p:cxnSp>
        <p:nvCxnSpPr>
          <p:cNvPr id="43" name="直线连接符 42"/>
          <p:cNvCxnSpPr/>
          <p:nvPr/>
        </p:nvCxnSpPr>
        <p:spPr>
          <a:xfrm flipH="1">
            <a:off x="3426460" y="0"/>
            <a:ext cx="2669540" cy="1367155"/>
          </a:xfrm>
          <a:prstGeom prst="line">
            <a:avLst/>
          </a:prstGeom>
          <a:ln w="25400" cap="rnd">
            <a:solidFill>
              <a:schemeClr val="bg1">
                <a:lumMod val="75000"/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 flipH="1">
            <a:off x="9436100" y="1070610"/>
            <a:ext cx="3415030" cy="232029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/>
          <p:cNvCxnSpPr/>
          <p:nvPr/>
        </p:nvCxnSpPr>
        <p:spPr>
          <a:xfrm flipH="1">
            <a:off x="3426460" y="5987415"/>
            <a:ext cx="1418590" cy="649605"/>
          </a:xfrm>
          <a:prstGeom prst="line">
            <a:avLst/>
          </a:prstGeom>
          <a:ln w="254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568305" y="4984750"/>
            <a:ext cx="1586230" cy="121094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4">
            <a:alphaModFix amt="50000"/>
          </a:blip>
          <a:srcRect l="-1283" r="2"/>
          <a:stretch>
            <a:fillRect/>
          </a:stretch>
        </p:blipFill>
        <p:spPr>
          <a:xfrm>
            <a:off x="9807575" y="794385"/>
            <a:ext cx="2319655" cy="412750"/>
          </a:xfrm>
          <a:prstGeom prst="rect">
            <a:avLst/>
          </a:prstGeom>
        </p:spPr>
      </p:pic>
      <p:pic>
        <p:nvPicPr>
          <p:cNvPr id="29" name="图片 28" descr="资源 58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" y="-1603375"/>
            <a:ext cx="3002280" cy="333883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5063601" y="4376297"/>
            <a:ext cx="1882588" cy="45719"/>
          </a:xfrm>
          <a:prstGeom prst="rect">
            <a:avLst/>
          </a:prstGeom>
          <a:solidFill>
            <a:srgbClr val="226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690088" y="-1784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17" name="图片 16" descr="资源 58@4x-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8060" y="-1397000"/>
            <a:ext cx="4123690" cy="4585970"/>
          </a:xfrm>
          <a:prstGeom prst="rect">
            <a:avLst/>
          </a:prstGeom>
        </p:spPr>
      </p:pic>
      <p:cxnSp>
        <p:nvCxnSpPr>
          <p:cNvPr id="24" name="直线连接符 20"/>
          <p:cNvCxnSpPr/>
          <p:nvPr/>
        </p:nvCxnSpPr>
        <p:spPr>
          <a:xfrm flipH="1">
            <a:off x="3703955" y="465455"/>
            <a:ext cx="2155825" cy="1205865"/>
          </a:xfrm>
          <a:prstGeom prst="line">
            <a:avLst/>
          </a:prstGeom>
          <a:ln w="25400" cap="rnd">
            <a:solidFill>
              <a:schemeClr val="bg1">
                <a:lumMod val="75000"/>
                <a:alpha val="2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1"/>
          <p:cNvCxnSpPr/>
          <p:nvPr/>
        </p:nvCxnSpPr>
        <p:spPr>
          <a:xfrm flipH="1">
            <a:off x="4641850" y="-58420"/>
            <a:ext cx="2945130" cy="1729740"/>
          </a:xfrm>
          <a:prstGeom prst="line">
            <a:avLst/>
          </a:prstGeom>
          <a:ln w="12700" cap="rnd">
            <a:solidFill>
              <a:schemeClr val="bg1">
                <a:lumMod val="75000"/>
                <a:alpha val="3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4"/>
          <p:cNvCxnSpPr/>
          <p:nvPr/>
        </p:nvCxnSpPr>
        <p:spPr>
          <a:xfrm flipH="1">
            <a:off x="3135630" y="6021705"/>
            <a:ext cx="2082800" cy="1134745"/>
          </a:xfrm>
          <a:prstGeom prst="line">
            <a:avLst/>
          </a:prstGeom>
          <a:ln w="12700" cap="rnd">
            <a:solidFill>
              <a:srgbClr val="AFC9FF">
                <a:alpha val="2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编组-2 (28)@4x-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10" y="4943475"/>
            <a:ext cx="2635885" cy="2933700"/>
          </a:xfrm>
          <a:prstGeom prst="rect">
            <a:avLst/>
          </a:prstGeom>
        </p:spPr>
      </p:pic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88060" y="4816475"/>
            <a:ext cx="2635885" cy="2933700"/>
          </a:xfrm>
          <a:prstGeom prst="rect">
            <a:avLst/>
          </a:prstGeom>
        </p:spPr>
      </p:pic>
      <p:cxnSp>
        <p:nvCxnSpPr>
          <p:cNvPr id="30" name="直线连接符 24"/>
          <p:cNvCxnSpPr/>
          <p:nvPr/>
        </p:nvCxnSpPr>
        <p:spPr>
          <a:xfrm flipH="1">
            <a:off x="-528955" y="2105025"/>
            <a:ext cx="4232910" cy="2392045"/>
          </a:xfrm>
          <a:prstGeom prst="line">
            <a:avLst/>
          </a:prstGeom>
          <a:ln w="12700" cap="rnd">
            <a:solidFill>
              <a:srgbClr val="2164ED">
                <a:alpha val="2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080337" y="16406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业务分析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518573" y="1659877"/>
            <a:ext cx="585417" cy="523220"/>
            <a:chOff x="6255775" y="1564126"/>
            <a:chExt cx="636883" cy="611679"/>
          </a:xfrm>
        </p:grpSpPr>
        <p:sp>
          <p:nvSpPr>
            <p:cNvPr id="74" name="矩形 73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255775" y="1564126"/>
              <a:ext cx="636883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dirty="0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01</a:t>
              </a: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5080337" y="225466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主要功能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518573" y="2273942"/>
            <a:ext cx="585418" cy="523220"/>
            <a:chOff x="6230041" y="1564126"/>
            <a:chExt cx="636884" cy="611679"/>
          </a:xfrm>
        </p:grpSpPr>
        <p:sp>
          <p:nvSpPr>
            <p:cNvPr id="72" name="矩形 71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230041" y="1564126"/>
              <a:ext cx="636884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02</a:t>
              </a:r>
              <a:endParaRPr kumimoji="1" lang="en-US" altLang="zh-CN" sz="2800" b="1" i="1" dirty="0">
                <a:solidFill>
                  <a:srgbClr val="2164ED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5080337" y="286479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数据关系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518573" y="2884071"/>
            <a:ext cx="585418" cy="523220"/>
            <a:chOff x="6230041" y="1564126"/>
            <a:chExt cx="636884" cy="611679"/>
          </a:xfrm>
        </p:grpSpPr>
        <p:sp>
          <p:nvSpPr>
            <p:cNvPr id="70" name="矩形 69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6230041" y="1564126"/>
              <a:ext cx="636884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03</a:t>
              </a:r>
              <a:endParaRPr kumimoji="1" lang="en-US" altLang="zh-CN" sz="2800" b="1" i="1" dirty="0">
                <a:solidFill>
                  <a:srgbClr val="2164ED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5080337" y="34222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主要功能原型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518573" y="3441551"/>
            <a:ext cx="585418" cy="523220"/>
            <a:chOff x="6230041" y="1564126"/>
            <a:chExt cx="636884" cy="611679"/>
          </a:xfrm>
        </p:grpSpPr>
        <p:sp>
          <p:nvSpPr>
            <p:cNvPr id="68" name="矩形 67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6230041" y="1564126"/>
              <a:ext cx="636884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dirty="0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04</a:t>
              </a: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5080337" y="402986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接口说明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518573" y="4049143"/>
            <a:ext cx="585418" cy="523220"/>
            <a:chOff x="6230041" y="1564126"/>
            <a:chExt cx="636884" cy="611679"/>
          </a:xfrm>
        </p:grpSpPr>
        <p:sp>
          <p:nvSpPr>
            <p:cNvPr id="66" name="矩形 65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6230041" y="1564126"/>
              <a:ext cx="636884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dirty="0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4447577" cy="1569660"/>
            <a:chOff x="3099114" y="2429363"/>
            <a:chExt cx="4447577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26468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业务分析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01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4" name="图片 3" descr="资源 58@4x-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740" y="3326130"/>
            <a:ext cx="4123690" cy="4585970"/>
          </a:xfrm>
          <a:prstGeom prst="rect">
            <a:avLst/>
          </a:prstGeom>
        </p:spPr>
      </p:pic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4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业务</a:t>
            </a:r>
            <a:r>
              <a:rPr lang="zh-CN" altLang="en-US" dirty="0">
                <a:solidFill>
                  <a:schemeClr val="tx1"/>
                </a:solidFill>
              </a:rPr>
              <a:t>分析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4A23DD3-86F5-4C74-B609-FCE44FA56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613" y="3088604"/>
            <a:ext cx="8975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11F5FF12-8019-491F-85E5-6DC82D097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84200"/>
            <a:ext cx="8064500" cy="464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lvl="1" indent="-342900" algn="just" eaLnBrk="0" hangingPunct="0">
              <a:lnSpc>
                <a:spcPct val="150000"/>
              </a:lnSpc>
              <a:buFont typeface="Wingdings" pitchFamily="2" charset="2"/>
              <a:buChar char="n"/>
              <a:defRPr/>
            </a:pPr>
            <a:r>
              <a:rPr lang="zh-CN" altLang="en-US" b="1" dirty="0">
                <a:latin typeface="微软雅黑" pitchFamily="34" charset="-122"/>
              </a:rPr>
              <a:t>业务需求</a:t>
            </a:r>
            <a:endParaRPr lang="en-US" altLang="zh-CN" b="1" dirty="0">
              <a:latin typeface="微软雅黑" pitchFamily="34" charset="-122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232039C-A0B5-4DAE-B667-6D6219154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07" y="1025748"/>
            <a:ext cx="8550275" cy="326576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88950" lvl="0" indent="-268288">
              <a:lnSpc>
                <a:spcPct val="135000"/>
              </a:lnSpc>
              <a:buSzPct val="120000"/>
              <a:buFont typeface="Wingdings" pitchFamily="2" charset="2"/>
              <a:buChar char="Ø"/>
            </a:pPr>
            <a:r>
              <a:rPr lang="zh-CN" altLang="en-US" sz="1400" dirty="0">
                <a:effectLst/>
              </a:rPr>
              <a:t>实现厂区</a:t>
            </a:r>
            <a:r>
              <a:rPr lang="en-US" altLang="zh-CN" sz="1400" dirty="0">
                <a:effectLst/>
              </a:rPr>
              <a:t>UWB</a:t>
            </a:r>
            <a:r>
              <a:rPr lang="zh-CN" altLang="en-US" sz="1400" dirty="0">
                <a:effectLst/>
              </a:rPr>
              <a:t>定位全覆盖</a:t>
            </a:r>
            <a:endParaRPr lang="en-US" altLang="zh-CN" sz="1400" dirty="0">
              <a:effectLst/>
            </a:endParaRPr>
          </a:p>
          <a:p>
            <a:pPr marL="488950" lvl="0" indent="-268288">
              <a:lnSpc>
                <a:spcPct val="135000"/>
              </a:lnSpc>
              <a:buSzPct val="120000"/>
              <a:buFont typeface="Wingdings" pitchFamily="2" charset="2"/>
              <a:buChar char="Ø"/>
            </a:pPr>
            <a:r>
              <a:rPr lang="zh-CN" altLang="en-US" sz="1400" dirty="0">
                <a:effectLst/>
              </a:rPr>
              <a:t>建立示范区室内二维地图，地图需模拟 厂区内部基本轮廓形状，完整展示建筑整体室内地图，及各设备等具体 </a:t>
            </a:r>
            <a:r>
              <a:rPr lang="en-US" altLang="zh-CN" sz="1400" dirty="0">
                <a:effectLst/>
              </a:rPr>
              <a:t>POI </a:t>
            </a:r>
            <a:r>
              <a:rPr lang="zh-CN" altLang="en-US" sz="1400" dirty="0">
                <a:effectLst/>
              </a:rPr>
              <a:t>信息</a:t>
            </a:r>
            <a:endParaRPr lang="zh-CN" altLang="zh-CN" sz="1400" dirty="0">
              <a:latin typeface="微软雅黑" pitchFamily="34" charset="-122"/>
              <a:cs typeface="Times New Roman" pitchFamily="18" charset="0"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Ø"/>
              <a:tabLst/>
            </a:pPr>
            <a:r>
              <a:rPr lang="zh-CN" altLang="en-US" sz="1400" dirty="0"/>
              <a:t>对于不同楼层，以层为单位进行多栋多层展现</a:t>
            </a:r>
            <a:endParaRPr lang="en-US" altLang="zh-CN" sz="1400" dirty="0"/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Ø"/>
              <a:tabLst/>
            </a:pPr>
            <a:r>
              <a:rPr lang="zh-CN" altLang="en-US" sz="1400" dirty="0">
                <a:effectLst/>
              </a:rPr>
              <a:t>实现基于任何位置 的厂区内导航</a:t>
            </a:r>
            <a:endParaRPr lang="en-US" altLang="zh-CN" sz="1400" dirty="0">
              <a:effectLst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Ø"/>
              <a:tabLst/>
            </a:pPr>
            <a:r>
              <a:rPr lang="zh-CN" altLang="en-US" sz="1400" dirty="0">
                <a:effectLst/>
              </a:rPr>
              <a:t>提供通用地图平台及接口，预留地理围栏接口，能支持业务开发，可调用位置信 息、地图数据、路线计算等</a:t>
            </a:r>
            <a:endParaRPr lang="en-US" altLang="zh-CN" sz="1400" dirty="0">
              <a:effectLst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Ø"/>
              <a:tabLst/>
            </a:pPr>
            <a:r>
              <a:rPr lang="zh-CN" altLang="en-US" sz="1400" dirty="0">
                <a:effectLst/>
              </a:rPr>
              <a:t>地图基本操作，实现地图缩放、平移、旋转和俯仰操作</a:t>
            </a:r>
            <a:endParaRPr lang="en-US" altLang="zh-CN" sz="1400" dirty="0">
              <a:effectLst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Ø"/>
              <a:tabLst/>
            </a:pPr>
            <a:r>
              <a:rPr lang="zh-CN" altLang="en-US" sz="1400" dirty="0">
                <a:latin typeface="微软雅黑" pitchFamily="34" charset="-122"/>
                <a:cs typeface="Times New Roman" pitchFamily="18" charset="0"/>
              </a:rPr>
              <a:t>地图部件</a:t>
            </a:r>
            <a:r>
              <a:rPr lang="zh-CN" altLang="en-US" sz="1400" dirty="0"/>
              <a:t>提供比例尺、罗盘按钮、定位按钮、方向指示、设施按钮 等 </a:t>
            </a:r>
            <a:endParaRPr lang="en-US" altLang="zh-CN" sz="1400" dirty="0"/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Ø"/>
              <a:tabLst/>
            </a:pPr>
            <a:r>
              <a:rPr lang="en-US" altLang="zh-CN" sz="1400" dirty="0">
                <a:latin typeface="微软雅黑" pitchFamily="34" charset="-122"/>
                <a:cs typeface="Times New Roman" pitchFamily="18" charset="0"/>
              </a:rPr>
              <a:t>POI</a:t>
            </a:r>
            <a:r>
              <a:rPr lang="zh-CN" altLang="en-US" sz="1400" dirty="0">
                <a:latin typeface="微软雅黑" pitchFamily="34" charset="-122"/>
                <a:cs typeface="Times New Roman" pitchFamily="18" charset="0"/>
              </a:rPr>
              <a:t>搜索，按设备编号搜索等；支持历史记录搜索、关键词搜索、 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cs typeface="Times New Roman" pitchFamily="18" charset="0"/>
              </a:rPr>
              <a:t>语音搜索 </a:t>
            </a:r>
            <a:endParaRPr lang="zh-CN" altLang="zh-CN" sz="1400" dirty="0">
              <a:solidFill>
                <a:srgbClr val="FF0000"/>
              </a:solidFill>
              <a:latin typeface="微软雅黑" pitchFamily="34" charset="-122"/>
              <a:cs typeface="Times New Roman" pitchFamily="18" charset="0"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Ø"/>
              <a:tabLst/>
            </a:pPr>
            <a:r>
              <a:rPr lang="zh-CN" altLang="en-US" sz="1400" dirty="0">
                <a:latin typeface="微软雅黑" pitchFamily="34" charset="-122"/>
                <a:cs typeface="Times New Roman" pitchFamily="18" charset="0"/>
              </a:rPr>
              <a:t>导航，路线规划、路线详情展示、实时动态导航、定位吸附、偏航重新规划、语音导航、跨楼层导航 </a:t>
            </a:r>
            <a:endParaRPr lang="zh-CN" altLang="zh-CN" sz="1400" dirty="0">
              <a:latin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右箭头 4">
            <a:extLst>
              <a:ext uri="{FF2B5EF4-FFF2-40B4-BE49-F238E27FC236}">
                <a16:creationId xmlns:a16="http://schemas.microsoft.com/office/drawing/2014/main" id="{521DD112-90C4-4421-B529-2157F550FD31}"/>
              </a:ext>
            </a:extLst>
          </p:cNvPr>
          <p:cNvSpPr/>
          <p:nvPr/>
        </p:nvSpPr>
        <p:spPr bwMode="auto">
          <a:xfrm>
            <a:off x="8773083" y="2069463"/>
            <a:ext cx="612068" cy="1368152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>
              <a:tabLst>
                <a:tab pos="292100" algn="l"/>
              </a:tabLst>
            </a:pPr>
            <a:endParaRPr lang="zh-CN" altLang="en-US" sz="1800">
              <a:latin typeface="微软雅黑" pitchFamily="34" charset="-122"/>
              <a:sym typeface="Arial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EEFCDCA-1694-4A65-AC90-1B497BDC8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5151" y="1616962"/>
            <a:ext cx="2556792" cy="45879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61938" lvl="0" indent="-261938">
              <a:lnSpc>
                <a:spcPct val="135000"/>
              </a:lnSpc>
              <a:buSzPct val="120000"/>
              <a:buFont typeface="Wingdings" pitchFamily="2" charset="2"/>
              <a:buChar char="n"/>
            </a:pPr>
            <a:r>
              <a:rPr lang="zh-CN" altLang="en-US" sz="2000" b="1" dirty="0">
                <a:latin typeface="微软雅黑" pitchFamily="34" charset="-122"/>
                <a:cs typeface="Times New Roman" pitchFamily="18" charset="0"/>
              </a:rPr>
              <a:t>主要需求</a:t>
            </a:r>
            <a:endParaRPr lang="en-US" altLang="zh-CN" sz="2000" b="1" dirty="0">
              <a:latin typeface="微软雅黑" pitchFamily="34" charset="-122"/>
              <a:cs typeface="Times New Roman" pitchFamily="18" charset="0"/>
            </a:endParaRPr>
          </a:p>
          <a:p>
            <a:pPr marL="488950" indent="-268288" eaLnBrk="0" hangingPunct="0">
              <a:lnSpc>
                <a:spcPct val="135000"/>
              </a:lnSpc>
              <a:buSzPct val="120000"/>
              <a:buFont typeface="Wingdings" pitchFamily="2" charset="2"/>
              <a:buChar char="l"/>
            </a:pPr>
            <a:r>
              <a:rPr lang="en-US" altLang="zh-CN" dirty="0">
                <a:latin typeface="微软雅黑" pitchFamily="34" charset="-122"/>
                <a:cs typeface="Times New Roman" pitchFamily="18" charset="0"/>
              </a:rPr>
              <a:t>UWB</a:t>
            </a:r>
            <a:r>
              <a:rPr lang="zh-CN" altLang="en-US" dirty="0">
                <a:latin typeface="微软雅黑" pitchFamily="34" charset="-122"/>
                <a:cs typeface="Times New Roman" pitchFamily="18" charset="0"/>
              </a:rPr>
              <a:t>实时定位</a:t>
            </a:r>
            <a:endParaRPr lang="en-US" altLang="zh-CN" sz="1800" dirty="0">
              <a:latin typeface="微软雅黑" pitchFamily="34" charset="-122"/>
              <a:cs typeface="Times New Roman" pitchFamily="18" charset="0"/>
            </a:endParaRPr>
          </a:p>
          <a:p>
            <a:pPr marL="488950" indent="-268288" eaLnBrk="0" hangingPunct="0">
              <a:lnSpc>
                <a:spcPct val="135000"/>
              </a:lnSpc>
              <a:buSzPct val="120000"/>
              <a:buFont typeface="Wingdings" pitchFamily="2" charset="2"/>
              <a:buChar char="l"/>
            </a:pPr>
            <a:r>
              <a:rPr lang="zh-CN" altLang="en-US" dirty="0">
                <a:latin typeface="微软雅黑" pitchFamily="34" charset="-122"/>
                <a:cs typeface="Times New Roman" pitchFamily="18" charset="0"/>
              </a:rPr>
              <a:t>二维地图制作</a:t>
            </a:r>
            <a:endParaRPr lang="en-US" altLang="zh-CN" dirty="0">
              <a:latin typeface="微软雅黑" pitchFamily="34" charset="-122"/>
              <a:cs typeface="Times New Roman" pitchFamily="18" charset="0"/>
            </a:endParaRPr>
          </a:p>
          <a:p>
            <a:pPr marL="488950" indent="-268288" eaLnBrk="0" hangingPunct="0">
              <a:lnSpc>
                <a:spcPct val="135000"/>
              </a:lnSpc>
              <a:buSzPct val="120000"/>
              <a:buFont typeface="Wingdings" pitchFamily="2" charset="2"/>
              <a:buChar char="l"/>
            </a:pPr>
            <a:r>
              <a:rPr lang="zh-CN" altLang="en-US" dirty="0">
                <a:latin typeface="微软雅黑" pitchFamily="34" charset="-122"/>
                <a:cs typeface="Times New Roman" pitchFamily="18" charset="0"/>
              </a:rPr>
              <a:t>坐标系转换</a:t>
            </a:r>
            <a:endParaRPr lang="en-US" altLang="zh-CN" sz="1800" dirty="0">
              <a:latin typeface="微软雅黑" pitchFamily="34" charset="-122"/>
              <a:cs typeface="Times New Roman" pitchFamily="18" charset="0"/>
            </a:endParaRPr>
          </a:p>
          <a:p>
            <a:pPr marL="488950" indent="-268288" eaLnBrk="0" hangingPunct="0">
              <a:lnSpc>
                <a:spcPct val="135000"/>
              </a:lnSpc>
              <a:buSzPct val="120000"/>
              <a:buFont typeface="Wingdings" pitchFamily="2" charset="2"/>
              <a:buChar char="l"/>
            </a:pPr>
            <a:r>
              <a:rPr lang="zh-CN" altLang="en-US" sz="1800" dirty="0">
                <a:latin typeface="微软雅黑" pitchFamily="34" charset="-122"/>
                <a:cs typeface="Times New Roman" pitchFamily="18" charset="0"/>
              </a:rPr>
              <a:t>设备</a:t>
            </a:r>
            <a:r>
              <a:rPr lang="en-US" altLang="zh-CN" sz="1800" dirty="0">
                <a:latin typeface="微软雅黑" pitchFamily="34" charset="-122"/>
                <a:cs typeface="Times New Roman" pitchFamily="18" charset="0"/>
              </a:rPr>
              <a:t>POI</a:t>
            </a:r>
            <a:r>
              <a:rPr lang="zh-CN" altLang="en-US" sz="1800" dirty="0">
                <a:latin typeface="微软雅黑" pitchFamily="34" charset="-122"/>
                <a:cs typeface="Times New Roman" pitchFamily="18" charset="0"/>
              </a:rPr>
              <a:t>展示</a:t>
            </a:r>
            <a:endParaRPr lang="zh-CN" altLang="zh-CN" sz="1800" dirty="0">
              <a:latin typeface="微软雅黑" pitchFamily="34" charset="-122"/>
              <a:cs typeface="Times New Roman" pitchFamily="18" charset="0"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l"/>
              <a:tabLst/>
            </a:pPr>
            <a:r>
              <a:rPr lang="en-US" altLang="zh-CN" sz="1800" dirty="0">
                <a:latin typeface="微软雅黑" pitchFamily="34" charset="-122"/>
                <a:cs typeface="Times New Roman" pitchFamily="18" charset="0"/>
              </a:rPr>
              <a:t>GIS</a:t>
            </a:r>
            <a:r>
              <a:rPr lang="zh-CN" altLang="en-US" sz="1800" dirty="0">
                <a:latin typeface="微软雅黑" pitchFamily="34" charset="-122"/>
                <a:cs typeface="Times New Roman" pitchFamily="18" charset="0"/>
              </a:rPr>
              <a:t>地图服务</a:t>
            </a:r>
            <a:endParaRPr lang="en-US" altLang="zh-CN" sz="1800" dirty="0">
              <a:latin typeface="微软雅黑" pitchFamily="34" charset="-122"/>
              <a:cs typeface="Times New Roman" pitchFamily="18" charset="0"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l"/>
              <a:tabLst/>
            </a:pPr>
            <a:r>
              <a:rPr lang="zh-CN" altLang="en-US" dirty="0">
                <a:latin typeface="微软雅黑" pitchFamily="34" charset="-122"/>
                <a:cs typeface="Times New Roman" pitchFamily="18" charset="0"/>
              </a:rPr>
              <a:t>导航服务</a:t>
            </a:r>
            <a:endParaRPr lang="en-US" altLang="zh-CN" sz="1800" dirty="0">
              <a:latin typeface="微软雅黑" pitchFamily="34" charset="-122"/>
              <a:cs typeface="Times New Roman" pitchFamily="18" charset="0"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l"/>
              <a:tabLst/>
            </a:pPr>
            <a:r>
              <a:rPr lang="zh-CN" altLang="en-US" dirty="0">
                <a:latin typeface="微软雅黑" pitchFamily="34" charset="-122"/>
                <a:cs typeface="Times New Roman" pitchFamily="18" charset="0"/>
              </a:rPr>
              <a:t>电子围栏</a:t>
            </a:r>
            <a:endParaRPr lang="en-US" altLang="zh-CN" dirty="0">
              <a:latin typeface="微软雅黑" pitchFamily="34" charset="-122"/>
              <a:cs typeface="Times New Roman" pitchFamily="18" charset="0"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l"/>
              <a:tabLst/>
            </a:pPr>
            <a:r>
              <a:rPr lang="zh-CN" altLang="en-US" dirty="0">
                <a:latin typeface="微软雅黑" pitchFamily="34" charset="-122"/>
                <a:cs typeface="Times New Roman" pitchFamily="18" charset="0"/>
              </a:rPr>
              <a:t>巡检应用</a:t>
            </a:r>
            <a:endParaRPr lang="en-US" altLang="zh-CN" sz="1800" dirty="0">
              <a:latin typeface="微软雅黑" pitchFamily="34" charset="-122"/>
              <a:cs typeface="Times New Roman" pitchFamily="18" charset="0"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l"/>
              <a:tabLst/>
            </a:pPr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cs typeface="Times New Roman" pitchFamily="18" charset="0"/>
              </a:rPr>
              <a:t>设备信息补录</a:t>
            </a:r>
            <a:endParaRPr lang="en-US" altLang="zh-CN" sz="1800" dirty="0">
              <a:solidFill>
                <a:srgbClr val="FF0000"/>
              </a:solidFill>
              <a:latin typeface="微软雅黑" pitchFamily="34" charset="-122"/>
              <a:cs typeface="Times New Roman" pitchFamily="18" charset="0"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l"/>
              <a:tabLst/>
            </a:pPr>
            <a:r>
              <a:rPr lang="zh-CN" altLang="en-US" dirty="0">
                <a:latin typeface="微软雅黑" pitchFamily="34" charset="-122"/>
                <a:cs typeface="Times New Roman" pitchFamily="18" charset="0"/>
              </a:rPr>
              <a:t>基本数据管理</a:t>
            </a:r>
            <a:endParaRPr lang="en-US" altLang="zh-CN" sz="1800" dirty="0">
              <a:latin typeface="微软雅黑" pitchFamily="34" charset="-122"/>
              <a:cs typeface="Times New Roman" pitchFamily="18" charset="0"/>
            </a:endParaRPr>
          </a:p>
          <a:p>
            <a:pPr marL="488950" marR="0" lvl="0" indent="-268288" defTabSz="914400" eaLnBrk="0" latinLnBrk="0" hangingPunct="0">
              <a:lnSpc>
                <a:spcPct val="135000"/>
              </a:lnSpc>
              <a:buClrTx/>
              <a:buSzPct val="120000"/>
              <a:buFont typeface="Wingdings" pitchFamily="2" charset="2"/>
              <a:buChar char="l"/>
              <a:tabLst/>
            </a:pPr>
            <a:r>
              <a:rPr lang="zh-CN" altLang="en-US" dirty="0">
                <a:latin typeface="微软雅黑" pitchFamily="34" charset="-122"/>
                <a:cs typeface="Times New Roman" pitchFamily="18" charset="0"/>
              </a:rPr>
              <a:t>权限管理</a:t>
            </a:r>
            <a:endParaRPr lang="en-US" altLang="zh-CN" sz="1800" dirty="0">
              <a:latin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15C55CC-1687-4E9F-84CF-F9A69C919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06" y="4872862"/>
            <a:ext cx="8550275" cy="181152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88950" lvl="0" indent="-268288">
              <a:lnSpc>
                <a:spcPct val="135000"/>
              </a:lnSpc>
              <a:buSzPct val="120000"/>
              <a:buFont typeface="Wingdings" pitchFamily="2" charset="2"/>
              <a:buChar char="Ø"/>
            </a:pPr>
            <a:r>
              <a:rPr lang="zh-CN" altLang="en-US" sz="1400" dirty="0">
                <a:effectLst/>
              </a:rPr>
              <a:t>巡检场景：巡检前自动搜索该巡检路线上还未关闭的缺陷工单或关注 缺陷（</a:t>
            </a:r>
            <a:r>
              <a:rPr lang="en-US" altLang="zh-CN" sz="1400" dirty="0">
                <a:effectLst/>
              </a:rPr>
              <a:t>CM</a:t>
            </a:r>
            <a:r>
              <a:rPr lang="zh-CN" altLang="en-US" sz="1400" dirty="0">
                <a:effectLst/>
              </a:rPr>
              <a:t>、</a:t>
            </a:r>
            <a:r>
              <a:rPr lang="en-US" altLang="zh-CN" sz="1400" dirty="0">
                <a:effectLst/>
              </a:rPr>
              <a:t>DM</a:t>
            </a:r>
            <a:r>
              <a:rPr lang="zh-CN" altLang="en-US" sz="1400" dirty="0">
                <a:effectLst/>
              </a:rPr>
              <a:t>），到该区域扫码后自动语音提醒； </a:t>
            </a:r>
            <a:endParaRPr lang="en-US" altLang="zh-CN" sz="1400" dirty="0">
              <a:effectLst/>
            </a:endParaRPr>
          </a:p>
          <a:p>
            <a:pPr marL="488950" lvl="0" indent="-268288">
              <a:lnSpc>
                <a:spcPct val="135000"/>
              </a:lnSpc>
              <a:buSzPct val="120000"/>
              <a:buFont typeface="Wingdings" pitchFamily="2" charset="2"/>
              <a:buChar char="Ø"/>
            </a:pPr>
            <a:r>
              <a:rPr lang="zh-CN" altLang="en-US" sz="1400" dirty="0">
                <a:effectLst/>
              </a:rPr>
              <a:t>巡检路径预计耗时计算统计，存在工业安全风险时（如上下楼梯请握 扶手，小心绊倒、佩戴安全带、测氧、防酸碱）进行</a:t>
            </a:r>
            <a:r>
              <a:rPr lang="zh-CN" altLang="en-US" sz="1400" dirty="0">
                <a:solidFill>
                  <a:srgbClr val="FF0000"/>
                </a:solidFill>
                <a:effectLst/>
              </a:rPr>
              <a:t>语音</a:t>
            </a:r>
            <a:r>
              <a:rPr lang="zh-CN" altLang="en-US" sz="1400" dirty="0">
                <a:effectLst/>
              </a:rPr>
              <a:t>提示； </a:t>
            </a:r>
            <a:endParaRPr lang="en-US" altLang="zh-CN" sz="1400" dirty="0">
              <a:effectLst/>
            </a:endParaRPr>
          </a:p>
          <a:p>
            <a:pPr marL="488950" lvl="0" indent="-268288">
              <a:lnSpc>
                <a:spcPct val="135000"/>
              </a:lnSpc>
              <a:buSzPct val="120000"/>
              <a:buFont typeface="Wingdings" pitchFamily="2" charset="2"/>
              <a:buChar char="Ø"/>
            </a:pPr>
            <a:r>
              <a:rPr lang="zh-CN" altLang="en-US" sz="1400" dirty="0">
                <a:solidFill>
                  <a:srgbClr val="FF0000"/>
                </a:solidFill>
              </a:rPr>
              <a:t>语音申报工作申请，自动推送该设备或该型号设备最相近的故障缺陷 和原因以及处理过程，查找该工作申请后同一时间日志记录 </a:t>
            </a:r>
            <a:endParaRPr lang="zh-CN" altLang="zh-CN" sz="1400" dirty="0">
              <a:solidFill>
                <a:srgbClr val="FF0000"/>
              </a:solidFill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D8CF2B0A-5092-442A-B056-9D7C46492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4394200"/>
            <a:ext cx="8064500" cy="464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lvl="1" indent="-342900" algn="just" eaLnBrk="0" hangingPunct="0">
              <a:lnSpc>
                <a:spcPct val="150000"/>
              </a:lnSpc>
              <a:buFont typeface="Wingdings" pitchFamily="2" charset="2"/>
              <a:buChar char="n"/>
              <a:defRPr/>
            </a:pPr>
            <a:r>
              <a:rPr lang="zh-CN" altLang="en-US" b="1" dirty="0">
                <a:latin typeface="微软雅黑" pitchFamily="34" charset="-122"/>
              </a:rPr>
              <a:t>配合支持系统的业务开发</a:t>
            </a:r>
            <a:endParaRPr lang="en-US" altLang="zh-CN" b="1" dirty="0">
              <a:latin typeface="微软雅黑" pitchFamily="34" charset="-122"/>
            </a:endParaRPr>
          </a:p>
        </p:txBody>
      </p:sp>
      <p:sp>
        <p:nvSpPr>
          <p:cNvPr id="15" name="右箭头 4">
            <a:extLst>
              <a:ext uri="{FF2B5EF4-FFF2-40B4-BE49-F238E27FC236}">
                <a16:creationId xmlns:a16="http://schemas.microsoft.com/office/drawing/2014/main" id="{FF0E09B0-5511-40C6-94E9-237E4CD7A140}"/>
              </a:ext>
            </a:extLst>
          </p:cNvPr>
          <p:cNvSpPr/>
          <p:nvPr/>
        </p:nvSpPr>
        <p:spPr bwMode="auto">
          <a:xfrm>
            <a:off x="8773083" y="4531032"/>
            <a:ext cx="612068" cy="1368152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>
              <a:tabLst>
                <a:tab pos="292100" algn="l"/>
              </a:tabLst>
            </a:pPr>
            <a:endParaRPr lang="zh-CN" altLang="en-US" sz="1800">
              <a:latin typeface="微软雅黑" pitchFamily="34" charset="-122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9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</a:rPr>
              <a:t>整体目标</a:t>
            </a:r>
          </a:p>
        </p:txBody>
      </p:sp>
      <p:sp>
        <p:nvSpPr>
          <p:cNvPr id="41" name="幻灯片编号"/>
          <p:cNvSpPr txBox="1"/>
          <p:nvPr/>
        </p:nvSpPr>
        <p:spPr>
          <a:xfrm>
            <a:off x="11415526" y="6467622"/>
            <a:ext cx="729255" cy="390378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zh-CN" alt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3879" y="6638926"/>
            <a:ext cx="480982" cy="72000"/>
            <a:chOff x="143879" y="6628766"/>
            <a:chExt cx="480982" cy="72000"/>
          </a:xfrm>
        </p:grpSpPr>
        <p:sp>
          <p:nvSpPr>
            <p:cNvPr id="37" name="椭圆 36"/>
            <p:cNvSpPr>
              <a:spLocks noChangeAspect="1"/>
            </p:cNvSpPr>
            <p:nvPr/>
          </p:nvSpPr>
          <p:spPr>
            <a:xfrm>
              <a:off x="143879" y="6628766"/>
              <a:ext cx="72000" cy="7200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80206" y="6628766"/>
              <a:ext cx="72000" cy="72000"/>
            </a:xfrm>
            <a:prstGeom prst="ellipse">
              <a:avLst/>
            </a:prstGeom>
            <a:solidFill>
              <a:srgbClr val="2164ED"/>
            </a:solidFill>
            <a:ln>
              <a:solidFill>
                <a:srgbClr val="2164E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椭圆 39"/>
            <p:cNvSpPr>
              <a:spLocks noChangeAspect="1"/>
            </p:cNvSpPr>
            <p:nvPr/>
          </p:nvSpPr>
          <p:spPr>
            <a:xfrm>
              <a:off x="416533" y="6628766"/>
              <a:ext cx="72000" cy="7200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椭圆 41"/>
            <p:cNvSpPr>
              <a:spLocks noChangeAspect="1"/>
            </p:cNvSpPr>
            <p:nvPr/>
          </p:nvSpPr>
          <p:spPr>
            <a:xfrm>
              <a:off x="552861" y="6628766"/>
              <a:ext cx="72000" cy="7200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21178" y="784861"/>
            <a:ext cx="10829087" cy="5417820"/>
            <a:chOff x="1122700" y="1900011"/>
            <a:chExt cx="7677053" cy="2534567"/>
          </a:xfrm>
        </p:grpSpPr>
        <p:sp>
          <p:nvSpPr>
            <p:cNvPr id="18" name="矩形 17"/>
            <p:cNvSpPr/>
            <p:nvPr/>
          </p:nvSpPr>
          <p:spPr>
            <a:xfrm>
              <a:off x="1122700" y="1900011"/>
              <a:ext cx="7677053" cy="253456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endParaRPr lang="zh-CN" altLang="en-US" sz="105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552497" y="2270681"/>
              <a:ext cx="5988268" cy="187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zh-CN" sz="1200" kern="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732201" y="1063258"/>
            <a:ext cx="10607040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      依托二维、三维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GIS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等相关技术，构建室内人员、设备、物资等公司资源统一展示的“一张图”，并结合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UWB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、导航等技术，对人员、设备资源进行实时定位及导航，对工作任务全程进行可视化管理。主要实现以下目标：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39405E99-E7A4-477A-ACC7-29AA68AA6C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8036256"/>
              </p:ext>
            </p:extLst>
          </p:nvPr>
        </p:nvGraphicFramePr>
        <p:xfrm>
          <a:off x="821253" y="2450019"/>
          <a:ext cx="8846105" cy="3554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E1E4740-B37E-874E-930B-408416F3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66" y="316501"/>
            <a:ext cx="9580218" cy="438389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语音及导航智能化资询与研发试点项目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一张图可视化管理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FA6B25-8BB9-4110-97B6-9D021832675B}"/>
              </a:ext>
            </a:extLst>
          </p:cNvPr>
          <p:cNvSpPr/>
          <p:nvPr/>
        </p:nvSpPr>
        <p:spPr>
          <a:xfrm>
            <a:off x="272138" y="816393"/>
            <a:ext cx="11566071" cy="5910978"/>
          </a:xfrm>
          <a:prstGeom prst="rect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圆角矩形 26">
            <a:extLst>
              <a:ext uri="{FF2B5EF4-FFF2-40B4-BE49-F238E27FC236}">
                <a16:creationId xmlns:a16="http://schemas.microsoft.com/office/drawing/2014/main" id="{E3E18D34-EAA3-4FFD-8362-29E6F80B46EF}"/>
              </a:ext>
            </a:extLst>
          </p:cNvPr>
          <p:cNvSpPr/>
          <p:nvPr/>
        </p:nvSpPr>
        <p:spPr>
          <a:xfrm>
            <a:off x="404363" y="1001310"/>
            <a:ext cx="3411480" cy="1169551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F1412A8-029E-42E9-9666-5D788CA1E9FD}"/>
              </a:ext>
            </a:extLst>
          </p:cNvPr>
          <p:cNvSpPr/>
          <p:nvPr/>
        </p:nvSpPr>
        <p:spPr>
          <a:xfrm>
            <a:off x="184190" y="1048376"/>
            <a:ext cx="2764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整体资源全图展示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7FEA0BC-5714-466A-A609-EADEE23A8C77}"/>
              </a:ext>
            </a:extLst>
          </p:cNvPr>
          <p:cNvSpPr/>
          <p:nvPr/>
        </p:nvSpPr>
        <p:spPr>
          <a:xfrm>
            <a:off x="535349" y="1368271"/>
            <a:ext cx="28273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厂区整体二维地图展示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UWB</a:t>
            </a: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人员实时位置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设备位置、状态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电子围栏等风险区域展示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圆角矩形 29">
            <a:extLst>
              <a:ext uri="{FF2B5EF4-FFF2-40B4-BE49-F238E27FC236}">
                <a16:creationId xmlns:a16="http://schemas.microsoft.com/office/drawing/2014/main" id="{BC803DBB-3E63-4D28-889A-B023EF779D86}"/>
              </a:ext>
            </a:extLst>
          </p:cNvPr>
          <p:cNvSpPr/>
          <p:nvPr/>
        </p:nvSpPr>
        <p:spPr>
          <a:xfrm>
            <a:off x="4011319" y="935029"/>
            <a:ext cx="3710660" cy="1235454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13E6901-2D35-450E-A9C7-53EC197F61B9}"/>
              </a:ext>
            </a:extLst>
          </p:cNvPr>
          <p:cNvSpPr/>
          <p:nvPr/>
        </p:nvSpPr>
        <p:spPr>
          <a:xfrm>
            <a:off x="3934828" y="959404"/>
            <a:ext cx="2086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可视化精准管控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B119AA4-CCCE-4672-9EE0-DFCDC19F75C4}"/>
              </a:ext>
            </a:extLst>
          </p:cNvPr>
          <p:cNvSpPr/>
          <p:nvPr/>
        </p:nvSpPr>
        <p:spPr>
          <a:xfrm>
            <a:off x="4136472" y="1282607"/>
            <a:ext cx="31515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人员实时位置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巡检路径实时化、可视化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风险点风险区域实时监控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语音、可视化的导航指引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圆角矩形 35">
            <a:extLst>
              <a:ext uri="{FF2B5EF4-FFF2-40B4-BE49-F238E27FC236}">
                <a16:creationId xmlns:a16="http://schemas.microsoft.com/office/drawing/2014/main" id="{8D7C642E-8EBF-4EDA-BC64-F9418D2B3C86}"/>
              </a:ext>
            </a:extLst>
          </p:cNvPr>
          <p:cNvSpPr/>
          <p:nvPr/>
        </p:nvSpPr>
        <p:spPr>
          <a:xfrm>
            <a:off x="8033943" y="969680"/>
            <a:ext cx="3660936" cy="1229146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31A4F8B-4B64-4D62-A0CF-68FD44874594}"/>
              </a:ext>
            </a:extLst>
          </p:cNvPr>
          <p:cNvSpPr/>
          <p:nvPr/>
        </p:nvSpPr>
        <p:spPr>
          <a:xfrm>
            <a:off x="7737066" y="993216"/>
            <a:ext cx="2086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时空统计分析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1C3BE7B-154E-4880-A4BB-58AC021C0339}"/>
              </a:ext>
            </a:extLst>
          </p:cNvPr>
          <p:cNvSpPr/>
          <p:nvPr/>
        </p:nvSpPr>
        <p:spPr>
          <a:xfrm>
            <a:off x="7984219" y="1308709"/>
            <a:ext cx="29026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通过历史轨迹进行巡检等工作过程回放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电子围栏等管控区域统计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设备、物资缺陷实时统计展示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告警信息时间、地点统计回放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A07095-D184-411F-BB6B-6A1755A0E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92" y="2313543"/>
            <a:ext cx="7123334" cy="4441188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C8AB78DA-5C9E-408E-9DE0-4E236A196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537931"/>
              </p:ext>
            </p:extLst>
          </p:nvPr>
        </p:nvGraphicFramePr>
        <p:xfrm>
          <a:off x="784184" y="3763660"/>
          <a:ext cx="23693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029">
                <a:tc gridSpan="3"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itchFamily="34" charset="-122"/>
                          <a:ea typeface="微软雅黑" pitchFamily="34" charset="-122"/>
                        </a:rPr>
                        <a:t>实时定位人员分布情况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029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总量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作业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空闲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029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12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7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5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510E7D2-0774-44CC-A904-B6DEABF1C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690423"/>
              </p:ext>
            </p:extLst>
          </p:nvPr>
        </p:nvGraphicFramePr>
        <p:xfrm>
          <a:off x="775350" y="2762628"/>
          <a:ext cx="23693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029">
                <a:tc gridSpan="3"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itchFamily="34" charset="-122"/>
                          <a:ea typeface="微软雅黑" pitchFamily="34" charset="-122"/>
                        </a:rPr>
                        <a:t>告警信息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029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电子围栏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闯入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029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任务调度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7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超时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5E168E2-F2DA-4E20-A7C4-C10A7E42A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047843"/>
              </p:ext>
            </p:extLst>
          </p:nvPr>
        </p:nvGraphicFramePr>
        <p:xfrm>
          <a:off x="782584" y="4782330"/>
          <a:ext cx="23693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029">
                <a:tc gridSpan="3"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itchFamily="34" charset="-122"/>
                          <a:ea typeface="微软雅黑" pitchFamily="34" charset="-122"/>
                        </a:rPr>
                        <a:t>风险点分布统计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029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总量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029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12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图形 4" descr="男人">
            <a:extLst>
              <a:ext uri="{FF2B5EF4-FFF2-40B4-BE49-F238E27FC236}">
                <a16:creationId xmlns:a16="http://schemas.microsoft.com/office/drawing/2014/main" id="{E43F7CAF-F947-452C-9309-14E20A84F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0220" y="3583012"/>
            <a:ext cx="338488" cy="377739"/>
          </a:xfrm>
          <a:prstGeom prst="rect">
            <a:avLst/>
          </a:prstGeom>
        </p:spPr>
      </p:pic>
      <p:pic>
        <p:nvPicPr>
          <p:cNvPr id="21" name="图形 20" descr="男人">
            <a:extLst>
              <a:ext uri="{FF2B5EF4-FFF2-40B4-BE49-F238E27FC236}">
                <a16:creationId xmlns:a16="http://schemas.microsoft.com/office/drawing/2014/main" id="{BD22FD6D-0254-445A-885D-315D37860C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4536" y="4103433"/>
            <a:ext cx="338488" cy="377739"/>
          </a:xfrm>
          <a:prstGeom prst="rect">
            <a:avLst/>
          </a:prstGeom>
        </p:spPr>
      </p:pic>
      <p:pic>
        <p:nvPicPr>
          <p:cNvPr id="22" name="图形 21" descr="男人">
            <a:extLst>
              <a:ext uri="{FF2B5EF4-FFF2-40B4-BE49-F238E27FC236}">
                <a16:creationId xmlns:a16="http://schemas.microsoft.com/office/drawing/2014/main" id="{14698021-1DE0-4208-A469-873E8C4726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11319" y="5534979"/>
            <a:ext cx="338488" cy="377739"/>
          </a:xfrm>
          <a:prstGeom prst="rect">
            <a:avLst/>
          </a:prstGeom>
        </p:spPr>
      </p:pic>
      <p:pic>
        <p:nvPicPr>
          <p:cNvPr id="23" name="图形 22" descr="骷髅">
            <a:extLst>
              <a:ext uri="{FF2B5EF4-FFF2-40B4-BE49-F238E27FC236}">
                <a16:creationId xmlns:a16="http://schemas.microsoft.com/office/drawing/2014/main" id="{93209A7C-11A0-456F-9A53-D0104F821C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30673" y="5587866"/>
            <a:ext cx="409692" cy="32485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BCB23BE-1EE7-480B-AA76-D8BA3EE472D8}"/>
              </a:ext>
            </a:extLst>
          </p:cNvPr>
          <p:cNvSpPr/>
          <p:nvPr/>
        </p:nvSpPr>
        <p:spPr>
          <a:xfrm>
            <a:off x="3724834" y="3211609"/>
            <a:ext cx="792541" cy="82169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5CE8FC-578A-4167-BBC0-FA09FD3DA9EB}"/>
              </a:ext>
            </a:extLst>
          </p:cNvPr>
          <p:cNvSpPr txBox="1"/>
          <p:nvPr/>
        </p:nvSpPr>
        <p:spPr>
          <a:xfrm>
            <a:off x="3685066" y="331467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禁止入内</a:t>
            </a:r>
          </a:p>
        </p:txBody>
      </p:sp>
      <p:pic>
        <p:nvPicPr>
          <p:cNvPr id="25" name="图片 24" descr="空/最短路径-2.png">
            <a:extLst>
              <a:ext uri="{FF2B5EF4-FFF2-40B4-BE49-F238E27FC236}">
                <a16:creationId xmlns:a16="http://schemas.microsoft.com/office/drawing/2014/main" id="{C07F6675-BC30-4269-8EA3-AEAEE4DEB074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323" y="1914004"/>
            <a:ext cx="6294440" cy="5096395"/>
          </a:xfrm>
          <a:prstGeom prst="rect">
            <a:avLst/>
          </a:prstGeom>
          <a:noFill/>
          <a:ln>
            <a:noFill/>
          </a:ln>
          <a:effectLst>
            <a:outerShdw blurRad="127000" dist="50800" dir="7440000" algn="ctr" rotWithShape="0">
              <a:srgbClr val="000000">
                <a:alpha val="49000"/>
              </a:srgbClr>
            </a:outerShdw>
          </a:effec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30F58BFA-028B-40B0-B425-2A2CF3984BB5}"/>
              </a:ext>
            </a:extLst>
          </p:cNvPr>
          <p:cNvSpPr txBox="1"/>
          <p:nvPr/>
        </p:nvSpPr>
        <p:spPr>
          <a:xfrm>
            <a:off x="9916984" y="5123960"/>
            <a:ext cx="217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导航信息简短描述</a:t>
            </a:r>
            <a:endParaRPr kumimoji="1" lang="zh-CN" altLang="en-US" dirty="0">
              <a:solidFill>
                <a:schemeClr val="tx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6E7164-9E09-49F7-B8E7-79BD5F5798BB}"/>
              </a:ext>
            </a:extLst>
          </p:cNvPr>
          <p:cNvSpPr txBox="1"/>
          <p:nvPr/>
        </p:nvSpPr>
        <p:spPr>
          <a:xfrm>
            <a:off x="9904390" y="4386591"/>
            <a:ext cx="119474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最优</a:t>
            </a:r>
            <a:r>
              <a:rPr lang="zh-CN" altLang="zh-CN" dirty="0">
                <a:solidFill>
                  <a:schemeClr val="tx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路径</a:t>
            </a:r>
            <a:endParaRPr kumimoji="1" lang="zh-CN" altLang="en-US" dirty="0">
              <a:solidFill>
                <a:schemeClr val="tx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AE7FE8C-3130-4E3E-88D0-8B97E0E440DA}"/>
              </a:ext>
            </a:extLst>
          </p:cNvPr>
          <p:cNvSpPr txBox="1"/>
          <p:nvPr/>
        </p:nvSpPr>
        <p:spPr>
          <a:xfrm>
            <a:off x="9972559" y="3037631"/>
            <a:ext cx="188564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搜索人员、设备、物资等</a:t>
            </a:r>
            <a:r>
              <a:rPr lang="en-US" altLang="zh-CN" dirty="0">
                <a:solidFill>
                  <a:schemeClr val="tx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POI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点</a:t>
            </a:r>
            <a:endParaRPr kumimoji="1" lang="zh-CN" altLang="en-US" dirty="0">
              <a:solidFill>
                <a:schemeClr val="tx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29" name="Straight Arrow Connector 19">
            <a:extLst>
              <a:ext uri="{FF2B5EF4-FFF2-40B4-BE49-F238E27FC236}">
                <a16:creationId xmlns:a16="http://schemas.microsoft.com/office/drawing/2014/main" id="{3D10F9BB-F799-47BF-A8B6-A9752918523F}"/>
              </a:ext>
            </a:extLst>
          </p:cNvPr>
          <p:cNvCxnSpPr>
            <a:cxnSpLocks/>
          </p:cNvCxnSpPr>
          <p:nvPr/>
        </p:nvCxnSpPr>
        <p:spPr>
          <a:xfrm>
            <a:off x="8863123" y="3419710"/>
            <a:ext cx="958578" cy="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0">
            <a:extLst>
              <a:ext uri="{FF2B5EF4-FFF2-40B4-BE49-F238E27FC236}">
                <a16:creationId xmlns:a16="http://schemas.microsoft.com/office/drawing/2014/main" id="{B9AC9839-76FB-4425-8D5E-4FF1AFA52CBF}"/>
              </a:ext>
            </a:extLst>
          </p:cNvPr>
          <p:cNvCxnSpPr>
            <a:cxnSpLocks/>
          </p:cNvCxnSpPr>
          <p:nvPr/>
        </p:nvCxnSpPr>
        <p:spPr>
          <a:xfrm>
            <a:off x="8863123" y="4675349"/>
            <a:ext cx="958578" cy="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21">
            <a:extLst>
              <a:ext uri="{FF2B5EF4-FFF2-40B4-BE49-F238E27FC236}">
                <a16:creationId xmlns:a16="http://schemas.microsoft.com/office/drawing/2014/main" id="{7C712677-1CA5-49C0-ABF6-D2E0B3E04232}"/>
              </a:ext>
            </a:extLst>
          </p:cNvPr>
          <p:cNvCxnSpPr>
            <a:cxnSpLocks/>
          </p:cNvCxnSpPr>
          <p:nvPr/>
        </p:nvCxnSpPr>
        <p:spPr>
          <a:xfrm flipV="1">
            <a:off x="8886420" y="5327746"/>
            <a:ext cx="1010115" cy="11416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31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4447577" cy="1569660"/>
            <a:chOff x="3099114" y="2429363"/>
            <a:chExt cx="4447577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26468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主要功能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02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4" name="图片 3" descr="资源 58@4x-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740" y="3326130"/>
            <a:ext cx="4123690" cy="4585970"/>
          </a:xfrm>
          <a:prstGeom prst="rect">
            <a:avLst/>
          </a:prstGeom>
        </p:spPr>
      </p:pic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4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5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sz="2400" kern="1200" dirty="0">
                <a:solidFill>
                  <a:schemeClr val="tx1"/>
                </a:solidFill>
              </a:rPr>
              <a:t>主要</a:t>
            </a:r>
            <a:r>
              <a:rPr lang="zh-CN" altLang="en-US" dirty="0">
                <a:solidFill>
                  <a:schemeClr val="tx1"/>
                </a:solidFill>
              </a:rPr>
              <a:t>功能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4A23DD3-86F5-4C74-B609-FCE44FA56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613" y="3088604"/>
            <a:ext cx="8975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7FAC63-E1EA-49AF-A983-1AA2463BC004}"/>
              </a:ext>
            </a:extLst>
          </p:cNvPr>
          <p:cNvSpPr/>
          <p:nvPr/>
        </p:nvSpPr>
        <p:spPr>
          <a:xfrm>
            <a:off x="3804164" y="1016000"/>
            <a:ext cx="2930525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导航智能化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3639D9-583C-45FD-B44E-EDEE46D1FC59}"/>
              </a:ext>
            </a:extLst>
          </p:cNvPr>
          <p:cNvSpPr/>
          <p:nvPr/>
        </p:nvSpPr>
        <p:spPr>
          <a:xfrm>
            <a:off x="216414" y="1895475"/>
            <a:ext cx="102235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UWB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81CBBF-9968-49CB-8BB3-2DE98B2DA1E3}"/>
              </a:ext>
            </a:extLst>
          </p:cNvPr>
          <p:cNvSpPr/>
          <p:nvPr/>
        </p:nvSpPr>
        <p:spPr>
          <a:xfrm>
            <a:off x="1929526" y="1895475"/>
            <a:ext cx="1058863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GIS</a:t>
            </a:r>
            <a:r>
              <a:rPr lang="zh-CN" altLang="en-US" sz="16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15B8A-B91C-48C5-8AE1-644A4C89DED8}"/>
              </a:ext>
            </a:extLst>
          </p:cNvPr>
          <p:cNvSpPr/>
          <p:nvPr/>
        </p:nvSpPr>
        <p:spPr>
          <a:xfrm>
            <a:off x="3694847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lang="zh-CN" altLang="en-US" sz="1600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导航服务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367B26-2429-4875-A54C-B90D61FA53CC}"/>
              </a:ext>
            </a:extLst>
          </p:cNvPr>
          <p:cNvSpPr/>
          <p:nvPr/>
        </p:nvSpPr>
        <p:spPr>
          <a:xfrm>
            <a:off x="5362227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巡检应用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92ADD4-6216-45AA-8B42-816B058A6246}"/>
              </a:ext>
            </a:extLst>
          </p:cNvPr>
          <p:cNvSpPr/>
          <p:nvPr/>
        </p:nvSpPr>
        <p:spPr bwMode="auto">
          <a:xfrm>
            <a:off x="943488" y="3054350"/>
            <a:ext cx="266308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sym typeface="Arial" charset="0"/>
              </a:rPr>
              <a:t>定位接口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Arial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CCC3F6-B41A-44B8-8BDB-51794375DA64}"/>
              </a:ext>
            </a:extLst>
          </p:cNvPr>
          <p:cNvSpPr/>
          <p:nvPr/>
        </p:nvSpPr>
        <p:spPr bwMode="auto">
          <a:xfrm>
            <a:off x="77574" y="3054350"/>
            <a:ext cx="246062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实时定位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9CB2B4-3980-45F2-BC45-5020EE4B4BDF}"/>
              </a:ext>
            </a:extLst>
          </p:cNvPr>
          <p:cNvSpPr/>
          <p:nvPr/>
        </p:nvSpPr>
        <p:spPr bwMode="auto">
          <a:xfrm>
            <a:off x="650662" y="3054350"/>
            <a:ext cx="250826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声音报警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0CEA02-264C-47CB-8346-05AE11FBFEB7}"/>
              </a:ext>
            </a:extLst>
          </p:cNvPr>
          <p:cNvSpPr/>
          <p:nvPr/>
        </p:nvSpPr>
        <p:spPr bwMode="auto">
          <a:xfrm>
            <a:off x="377612" y="3054350"/>
            <a:ext cx="231775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Arial" charset="0"/>
              </a:rPr>
              <a:t>震动报警</a:t>
            </a:r>
          </a:p>
        </p:txBody>
      </p:sp>
      <p:cxnSp>
        <p:nvCxnSpPr>
          <p:cNvPr id="18" name="肘形连接符 18">
            <a:extLst>
              <a:ext uri="{FF2B5EF4-FFF2-40B4-BE49-F238E27FC236}">
                <a16:creationId xmlns:a16="http://schemas.microsoft.com/office/drawing/2014/main" id="{405AEFAE-9A58-4752-AF63-FF5756CF44C2}"/>
              </a:ext>
            </a:extLst>
          </p:cNvPr>
          <p:cNvCxnSpPr>
            <a:cxnSpLocks/>
            <a:stCxn id="15" idx="0"/>
            <a:endCxn id="9" idx="2"/>
          </p:cNvCxnSpPr>
          <p:nvPr/>
        </p:nvCxnSpPr>
        <p:spPr>
          <a:xfrm rot="5400000" flipH="1" flipV="1">
            <a:off x="118816" y="2445577"/>
            <a:ext cx="690562" cy="52698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9" name="肘形连接符 21">
            <a:extLst>
              <a:ext uri="{FF2B5EF4-FFF2-40B4-BE49-F238E27FC236}">
                <a16:creationId xmlns:a16="http://schemas.microsoft.com/office/drawing/2014/main" id="{D63F1A4E-EEDD-400C-A596-4BB4C171437D}"/>
              </a:ext>
            </a:extLst>
          </p:cNvPr>
          <p:cNvCxnSpPr>
            <a:cxnSpLocks/>
            <a:stCxn id="17" idx="0"/>
            <a:endCxn id="9" idx="2"/>
          </p:cNvCxnSpPr>
          <p:nvPr/>
        </p:nvCxnSpPr>
        <p:spPr>
          <a:xfrm rot="5400000" flipH="1" flipV="1">
            <a:off x="265263" y="2592025"/>
            <a:ext cx="690562" cy="23408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0" name="肘形连接符 24">
            <a:extLst>
              <a:ext uri="{FF2B5EF4-FFF2-40B4-BE49-F238E27FC236}">
                <a16:creationId xmlns:a16="http://schemas.microsoft.com/office/drawing/2014/main" id="{5E571AEC-8BD8-45B0-B54A-EA2F20666B6F}"/>
              </a:ext>
            </a:extLst>
          </p:cNvPr>
          <p:cNvCxnSpPr>
            <a:cxnSpLocks/>
            <a:stCxn id="16" idx="0"/>
            <a:endCxn id="9" idx="2"/>
          </p:cNvCxnSpPr>
          <p:nvPr/>
        </p:nvCxnSpPr>
        <p:spPr>
          <a:xfrm rot="16200000" flipV="1">
            <a:off x="406551" y="2684826"/>
            <a:ext cx="690562" cy="4848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1" name="肘形连接符 27">
            <a:extLst>
              <a:ext uri="{FF2B5EF4-FFF2-40B4-BE49-F238E27FC236}">
                <a16:creationId xmlns:a16="http://schemas.microsoft.com/office/drawing/2014/main" id="{CA31B893-B027-4ED4-ACA7-E6C4638F9102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rot="16200000" flipV="1">
            <a:off x="556835" y="2534542"/>
            <a:ext cx="690562" cy="34905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3152B509-5813-42CD-92E8-4D43276EE63B}"/>
              </a:ext>
            </a:extLst>
          </p:cNvPr>
          <p:cNvSpPr/>
          <p:nvPr/>
        </p:nvSpPr>
        <p:spPr bwMode="auto">
          <a:xfrm>
            <a:off x="9051487" y="3054350"/>
            <a:ext cx="238125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设备等图例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74B2AB-3A3F-476E-826D-457805F5A82E}"/>
              </a:ext>
            </a:extLst>
          </p:cNvPr>
          <p:cNvSpPr/>
          <p:nvPr/>
        </p:nvSpPr>
        <p:spPr bwMode="auto">
          <a:xfrm>
            <a:off x="5887184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巡检过程回放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08D99B-4EE7-4C31-8BB7-432851F4CB49}"/>
              </a:ext>
            </a:extLst>
          </p:cNvPr>
          <p:cNvSpPr/>
          <p:nvPr/>
        </p:nvSpPr>
        <p:spPr bwMode="auto">
          <a:xfrm>
            <a:off x="5327301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设备定位查看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6CE00C-457D-4C19-BEDA-3CA0E4A96961}"/>
              </a:ext>
            </a:extLst>
          </p:cNvPr>
          <p:cNvSpPr/>
          <p:nvPr/>
        </p:nvSpPr>
        <p:spPr bwMode="auto">
          <a:xfrm>
            <a:off x="5606701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巡检路径导航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E15B3AD-254D-41D2-B195-D8013317A760}"/>
              </a:ext>
            </a:extLst>
          </p:cNvPr>
          <p:cNvSpPr/>
          <p:nvPr/>
        </p:nvSpPr>
        <p:spPr bwMode="auto">
          <a:xfrm>
            <a:off x="6817192" y="3054349"/>
            <a:ext cx="238125" cy="1253053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电子围栏绘制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8" name="肘形连接符 38">
            <a:extLst>
              <a:ext uri="{FF2B5EF4-FFF2-40B4-BE49-F238E27FC236}">
                <a16:creationId xmlns:a16="http://schemas.microsoft.com/office/drawing/2014/main" id="{05F1A8DA-8583-49D9-9FFA-9B03D3428EE1}"/>
              </a:ext>
            </a:extLst>
          </p:cNvPr>
          <p:cNvCxnSpPr>
            <a:cxnSpLocks/>
            <a:stCxn id="25" idx="0"/>
            <a:endCxn id="12" idx="2"/>
          </p:cNvCxnSpPr>
          <p:nvPr/>
        </p:nvCxnSpPr>
        <p:spPr>
          <a:xfrm rot="5400000" flipH="1" flipV="1">
            <a:off x="5351114" y="2459038"/>
            <a:ext cx="690562" cy="50006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9" name="肘形连接符 41">
            <a:extLst>
              <a:ext uri="{FF2B5EF4-FFF2-40B4-BE49-F238E27FC236}">
                <a16:creationId xmlns:a16="http://schemas.microsoft.com/office/drawing/2014/main" id="{2327C98A-8ECC-442E-A5DE-591680E6CB23}"/>
              </a:ext>
            </a:extLst>
          </p:cNvPr>
          <p:cNvCxnSpPr>
            <a:cxnSpLocks/>
            <a:stCxn id="27" idx="0"/>
            <a:endCxn id="96" idx="2"/>
          </p:cNvCxnSpPr>
          <p:nvPr/>
        </p:nvCxnSpPr>
        <p:spPr>
          <a:xfrm rot="5400000" flipH="1" flipV="1">
            <a:off x="6794968" y="2484438"/>
            <a:ext cx="711199" cy="42862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0" name="肘形连接符 44">
            <a:extLst>
              <a:ext uri="{FF2B5EF4-FFF2-40B4-BE49-F238E27FC236}">
                <a16:creationId xmlns:a16="http://schemas.microsoft.com/office/drawing/2014/main" id="{59BE52CC-2D44-491E-8FF1-1D32CFDE666D}"/>
              </a:ext>
            </a:extLst>
          </p:cNvPr>
          <p:cNvCxnSpPr>
            <a:cxnSpLocks/>
            <a:stCxn id="26" idx="0"/>
            <a:endCxn id="12" idx="2"/>
          </p:cNvCxnSpPr>
          <p:nvPr/>
        </p:nvCxnSpPr>
        <p:spPr>
          <a:xfrm rot="5400000" flipH="1" flipV="1">
            <a:off x="5490814" y="2598738"/>
            <a:ext cx="690562" cy="22066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1" name="肘形连接符 47">
            <a:extLst>
              <a:ext uri="{FF2B5EF4-FFF2-40B4-BE49-F238E27FC236}">
                <a16:creationId xmlns:a16="http://schemas.microsoft.com/office/drawing/2014/main" id="{F86A5F30-2747-479F-B714-69AC01D55583}"/>
              </a:ext>
            </a:extLst>
          </p:cNvPr>
          <p:cNvCxnSpPr>
            <a:cxnSpLocks/>
            <a:stCxn id="24" idx="0"/>
            <a:endCxn id="12" idx="2"/>
          </p:cNvCxnSpPr>
          <p:nvPr/>
        </p:nvCxnSpPr>
        <p:spPr>
          <a:xfrm rot="16200000" flipV="1">
            <a:off x="5631056" y="2679159"/>
            <a:ext cx="690562" cy="5982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2" name="肘形连接符 50">
            <a:extLst>
              <a:ext uri="{FF2B5EF4-FFF2-40B4-BE49-F238E27FC236}">
                <a16:creationId xmlns:a16="http://schemas.microsoft.com/office/drawing/2014/main" id="{BE96D954-BF1F-4252-9A27-721DB6E81CCE}"/>
              </a:ext>
            </a:extLst>
          </p:cNvPr>
          <p:cNvCxnSpPr>
            <a:cxnSpLocks/>
            <a:stCxn id="23" idx="0"/>
            <a:endCxn id="92" idx="2"/>
          </p:cNvCxnSpPr>
          <p:nvPr/>
        </p:nvCxnSpPr>
        <p:spPr>
          <a:xfrm rot="16200000" flipV="1">
            <a:off x="8601432" y="2485231"/>
            <a:ext cx="690562" cy="44767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3" name="肘形连接符 53">
            <a:extLst>
              <a:ext uri="{FF2B5EF4-FFF2-40B4-BE49-F238E27FC236}">
                <a16:creationId xmlns:a16="http://schemas.microsoft.com/office/drawing/2014/main" id="{C26C87FB-1B0D-4BDC-AE3E-97381B6419BF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rot="5400000" flipH="1" flipV="1">
            <a:off x="2792927" y="-581025"/>
            <a:ext cx="411162" cy="454183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" name="肘形连接符 56">
            <a:extLst>
              <a:ext uri="{FF2B5EF4-FFF2-40B4-BE49-F238E27FC236}">
                <a16:creationId xmlns:a16="http://schemas.microsoft.com/office/drawing/2014/main" id="{0D54901D-7964-4CE6-9251-FCF18CD07731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rot="5400000" flipH="1" flipV="1">
            <a:off x="3658611" y="284660"/>
            <a:ext cx="411162" cy="281046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5" name="肘形连接符 59">
            <a:extLst>
              <a:ext uri="{FF2B5EF4-FFF2-40B4-BE49-F238E27FC236}">
                <a16:creationId xmlns:a16="http://schemas.microsoft.com/office/drawing/2014/main" id="{D0006740-F3BB-4C31-98B0-47FEAC5BA7EF}"/>
              </a:ext>
            </a:extLst>
          </p:cNvPr>
          <p:cNvCxnSpPr>
            <a:cxnSpLocks/>
            <a:stCxn id="11" idx="0"/>
            <a:endCxn id="8" idx="2"/>
          </p:cNvCxnSpPr>
          <p:nvPr/>
        </p:nvCxnSpPr>
        <p:spPr>
          <a:xfrm rot="5400000" flipH="1" flipV="1">
            <a:off x="4568656" y="1194704"/>
            <a:ext cx="411162" cy="99038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6" name="肘形连接符 62">
            <a:extLst>
              <a:ext uri="{FF2B5EF4-FFF2-40B4-BE49-F238E27FC236}">
                <a16:creationId xmlns:a16="http://schemas.microsoft.com/office/drawing/2014/main" id="{749F8ACF-DFD0-449F-B6A5-3D64C39AA2F3}"/>
              </a:ext>
            </a:extLst>
          </p:cNvPr>
          <p:cNvCxnSpPr>
            <a:cxnSpLocks/>
            <a:stCxn id="12" idx="0"/>
            <a:endCxn id="8" idx="2"/>
          </p:cNvCxnSpPr>
          <p:nvPr/>
        </p:nvCxnSpPr>
        <p:spPr>
          <a:xfrm rot="16200000" flipV="1">
            <a:off x="5402346" y="1351394"/>
            <a:ext cx="411162" cy="67700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A45C9E24-E062-48CB-A6E5-8914C0A4B24B}"/>
              </a:ext>
            </a:extLst>
          </p:cNvPr>
          <p:cNvSpPr/>
          <p:nvPr/>
        </p:nvSpPr>
        <p:spPr bwMode="auto">
          <a:xfrm>
            <a:off x="4723280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模拟导航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0F565EE-90BE-463A-B045-193F8F48C864}"/>
              </a:ext>
            </a:extLst>
          </p:cNvPr>
          <p:cNvSpPr/>
          <p:nvPr/>
        </p:nvSpPr>
        <p:spPr bwMode="auto">
          <a:xfrm>
            <a:off x="4017243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语音路线实时指引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E4A7748-CCA8-447F-ADF9-8A6D757783A9}"/>
              </a:ext>
            </a:extLst>
          </p:cNvPr>
          <p:cNvSpPr/>
          <p:nvPr/>
        </p:nvSpPr>
        <p:spPr bwMode="auto">
          <a:xfrm>
            <a:off x="4486876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偏航重新规划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3058D5E-AAB1-4336-9D90-A8AFF1919F8E}"/>
              </a:ext>
            </a:extLst>
          </p:cNvPr>
          <p:cNvSpPr/>
          <p:nvPr/>
        </p:nvSpPr>
        <p:spPr bwMode="auto">
          <a:xfrm>
            <a:off x="4252060" y="4861248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跨楼层导航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967DDB3-B66A-4F7A-B2EA-1FA4D523A120}"/>
              </a:ext>
            </a:extLst>
          </p:cNvPr>
          <p:cNvSpPr/>
          <p:nvPr/>
        </p:nvSpPr>
        <p:spPr bwMode="auto">
          <a:xfrm>
            <a:off x="6968169" y="4861249"/>
            <a:ext cx="225692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离开告警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B909B2A-D663-445D-B107-19C38583446E}"/>
              </a:ext>
            </a:extLst>
          </p:cNvPr>
          <p:cNvSpPr/>
          <p:nvPr/>
        </p:nvSpPr>
        <p:spPr bwMode="auto">
          <a:xfrm>
            <a:off x="6661707" y="4861249"/>
            <a:ext cx="241419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闯入告警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074F87E-38F8-47E0-86C5-F08A27E62BA2}"/>
              </a:ext>
            </a:extLst>
          </p:cNvPr>
          <p:cNvSpPr/>
          <p:nvPr/>
        </p:nvSpPr>
        <p:spPr bwMode="auto">
          <a:xfrm>
            <a:off x="7244483" y="4861249"/>
            <a:ext cx="223925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进入打卡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48" name="肘形连接符 81">
            <a:extLst>
              <a:ext uri="{FF2B5EF4-FFF2-40B4-BE49-F238E27FC236}">
                <a16:creationId xmlns:a16="http://schemas.microsoft.com/office/drawing/2014/main" id="{E664723B-22A5-4ED8-88C5-CECCDC211E14}"/>
              </a:ext>
            </a:extLst>
          </p:cNvPr>
          <p:cNvCxnSpPr>
            <a:cxnSpLocks/>
            <a:stCxn id="38" idx="0"/>
            <a:endCxn id="114" idx="2"/>
          </p:cNvCxnSpPr>
          <p:nvPr/>
        </p:nvCxnSpPr>
        <p:spPr>
          <a:xfrm rot="5400000" flipH="1" flipV="1">
            <a:off x="4040161" y="4406036"/>
            <a:ext cx="534792" cy="37563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49" name="肘形连接符 84">
            <a:extLst>
              <a:ext uri="{FF2B5EF4-FFF2-40B4-BE49-F238E27FC236}">
                <a16:creationId xmlns:a16="http://schemas.microsoft.com/office/drawing/2014/main" id="{CFD9F033-645C-4674-9924-363E68D677DE}"/>
              </a:ext>
            </a:extLst>
          </p:cNvPr>
          <p:cNvCxnSpPr>
            <a:cxnSpLocks/>
            <a:stCxn id="40" idx="0"/>
            <a:endCxn id="114" idx="2"/>
          </p:cNvCxnSpPr>
          <p:nvPr/>
        </p:nvCxnSpPr>
        <p:spPr>
          <a:xfrm rot="5400000" flipH="1" flipV="1">
            <a:off x="4157569" y="4523444"/>
            <a:ext cx="534792" cy="14081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0" name="肘形连接符 87">
            <a:extLst>
              <a:ext uri="{FF2B5EF4-FFF2-40B4-BE49-F238E27FC236}">
                <a16:creationId xmlns:a16="http://schemas.microsoft.com/office/drawing/2014/main" id="{05C65995-F4B0-4F6C-93ED-3CC8B624BA96}"/>
              </a:ext>
            </a:extLst>
          </p:cNvPr>
          <p:cNvCxnSpPr>
            <a:cxnSpLocks/>
            <a:stCxn id="39" idx="0"/>
            <a:endCxn id="114" idx="2"/>
          </p:cNvCxnSpPr>
          <p:nvPr/>
        </p:nvCxnSpPr>
        <p:spPr>
          <a:xfrm rot="16200000" flipV="1">
            <a:off x="4274978" y="4546851"/>
            <a:ext cx="534792" cy="9400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1" name="肘形连接符 90">
            <a:extLst>
              <a:ext uri="{FF2B5EF4-FFF2-40B4-BE49-F238E27FC236}">
                <a16:creationId xmlns:a16="http://schemas.microsoft.com/office/drawing/2014/main" id="{061B8BB4-8C97-4866-A837-E5E536213D11}"/>
              </a:ext>
            </a:extLst>
          </p:cNvPr>
          <p:cNvCxnSpPr>
            <a:cxnSpLocks/>
            <a:stCxn id="37" idx="0"/>
            <a:endCxn id="114" idx="2"/>
          </p:cNvCxnSpPr>
          <p:nvPr/>
        </p:nvCxnSpPr>
        <p:spPr>
          <a:xfrm rot="16200000" flipV="1">
            <a:off x="4393180" y="4428649"/>
            <a:ext cx="534792" cy="33040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2" name="肘形连接符 93">
            <a:extLst>
              <a:ext uri="{FF2B5EF4-FFF2-40B4-BE49-F238E27FC236}">
                <a16:creationId xmlns:a16="http://schemas.microsoft.com/office/drawing/2014/main" id="{C82EA72E-D3BD-49A3-AB36-BF270372808F}"/>
              </a:ext>
            </a:extLst>
          </p:cNvPr>
          <p:cNvCxnSpPr>
            <a:cxnSpLocks/>
            <a:stCxn id="42" idx="0"/>
            <a:endCxn id="27" idx="2"/>
          </p:cNvCxnSpPr>
          <p:nvPr/>
        </p:nvCxnSpPr>
        <p:spPr>
          <a:xfrm rot="5400000" flipH="1" flipV="1">
            <a:off x="6582413" y="4507407"/>
            <a:ext cx="553847" cy="15383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8" name="肘形连接符 102">
            <a:extLst>
              <a:ext uri="{FF2B5EF4-FFF2-40B4-BE49-F238E27FC236}">
                <a16:creationId xmlns:a16="http://schemas.microsoft.com/office/drawing/2014/main" id="{AD05212A-8E41-4777-9810-1C48A74DC8B4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16200000" flipV="1">
            <a:off x="6731712" y="4511946"/>
            <a:ext cx="553847" cy="14476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9" name="肘形连接符 105">
            <a:extLst>
              <a:ext uri="{FF2B5EF4-FFF2-40B4-BE49-F238E27FC236}">
                <a16:creationId xmlns:a16="http://schemas.microsoft.com/office/drawing/2014/main" id="{413E0101-E883-4063-A8E9-778E420673F0}"/>
              </a:ext>
            </a:extLst>
          </p:cNvPr>
          <p:cNvCxnSpPr>
            <a:cxnSpLocks/>
            <a:stCxn id="45" idx="0"/>
            <a:endCxn id="27" idx="2"/>
          </p:cNvCxnSpPr>
          <p:nvPr/>
        </p:nvCxnSpPr>
        <p:spPr>
          <a:xfrm rot="16200000" flipV="1">
            <a:off x="6869428" y="4374230"/>
            <a:ext cx="553847" cy="42019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CE35B566-1D7D-4DB7-AA31-C99D331942A2}"/>
              </a:ext>
            </a:extLst>
          </p:cNvPr>
          <p:cNvSpPr/>
          <p:nvPr/>
        </p:nvSpPr>
        <p:spPr bwMode="auto">
          <a:xfrm>
            <a:off x="8463934" y="3054349"/>
            <a:ext cx="238125" cy="125305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厂区基本地图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5F8C1FB-E0E1-4C60-A681-DDAB9E50C800}"/>
              </a:ext>
            </a:extLst>
          </p:cNvPr>
          <p:cNvSpPr/>
          <p:nvPr/>
        </p:nvSpPr>
        <p:spPr bwMode="auto">
          <a:xfrm>
            <a:off x="11090194" y="3054350"/>
            <a:ext cx="252412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功能权限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34787E2-7D4C-46C4-81C1-F0862367FA4E}"/>
              </a:ext>
            </a:extLst>
          </p:cNvPr>
          <p:cNvSpPr/>
          <p:nvPr/>
        </p:nvSpPr>
        <p:spPr bwMode="auto">
          <a:xfrm>
            <a:off x="6176198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基本配置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8F0042D-308D-4C6D-82C9-67558C098908}"/>
              </a:ext>
            </a:extLst>
          </p:cNvPr>
          <p:cNvSpPr/>
          <p:nvPr/>
        </p:nvSpPr>
        <p:spPr bwMode="auto">
          <a:xfrm>
            <a:off x="7693492" y="3054350"/>
            <a:ext cx="238125" cy="1253052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告警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72" name="肘形连接符 246">
            <a:extLst>
              <a:ext uri="{FF2B5EF4-FFF2-40B4-BE49-F238E27FC236}">
                <a16:creationId xmlns:a16="http://schemas.microsoft.com/office/drawing/2014/main" id="{5A041787-E46A-4E37-A31D-84DA95CF982C}"/>
              </a:ext>
            </a:extLst>
          </p:cNvPr>
          <p:cNvCxnSpPr>
            <a:cxnSpLocks/>
            <a:stCxn id="64" idx="0"/>
            <a:endCxn id="93" idx="2"/>
          </p:cNvCxnSpPr>
          <p:nvPr/>
        </p:nvCxnSpPr>
        <p:spPr>
          <a:xfrm rot="5400000" flipH="1" flipV="1">
            <a:off x="11000667" y="2579521"/>
            <a:ext cx="690562" cy="25909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5" name="肘形连接符 258">
            <a:extLst>
              <a:ext uri="{FF2B5EF4-FFF2-40B4-BE49-F238E27FC236}">
                <a16:creationId xmlns:a16="http://schemas.microsoft.com/office/drawing/2014/main" id="{AB768B67-5EA1-4678-9479-A8BB44F11240}"/>
              </a:ext>
            </a:extLst>
          </p:cNvPr>
          <p:cNvCxnSpPr>
            <a:cxnSpLocks/>
            <a:stCxn id="62" idx="0"/>
            <a:endCxn id="92" idx="2"/>
          </p:cNvCxnSpPr>
          <p:nvPr/>
        </p:nvCxnSpPr>
        <p:spPr>
          <a:xfrm rot="5400000" flipH="1" flipV="1">
            <a:off x="8307656" y="2639130"/>
            <a:ext cx="690561" cy="13987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6" name="肘形连接符 261">
            <a:extLst>
              <a:ext uri="{FF2B5EF4-FFF2-40B4-BE49-F238E27FC236}">
                <a16:creationId xmlns:a16="http://schemas.microsoft.com/office/drawing/2014/main" id="{AC4DD2FE-1114-4A1C-A12E-9A5798285ED7}"/>
              </a:ext>
            </a:extLst>
          </p:cNvPr>
          <p:cNvCxnSpPr>
            <a:cxnSpLocks/>
            <a:stCxn id="66" idx="0"/>
            <a:endCxn id="12" idx="2"/>
          </p:cNvCxnSpPr>
          <p:nvPr/>
        </p:nvCxnSpPr>
        <p:spPr>
          <a:xfrm rot="16200000" flipV="1">
            <a:off x="5775563" y="2534652"/>
            <a:ext cx="690562" cy="34883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7" name="肘形连接符 264">
            <a:extLst>
              <a:ext uri="{FF2B5EF4-FFF2-40B4-BE49-F238E27FC236}">
                <a16:creationId xmlns:a16="http://schemas.microsoft.com/office/drawing/2014/main" id="{761CA59C-5B20-4794-BD2C-037AEAD27F73}"/>
              </a:ext>
            </a:extLst>
          </p:cNvPr>
          <p:cNvCxnSpPr>
            <a:cxnSpLocks/>
            <a:stCxn id="67" idx="0"/>
            <a:endCxn id="96" idx="2"/>
          </p:cNvCxnSpPr>
          <p:nvPr/>
        </p:nvCxnSpPr>
        <p:spPr>
          <a:xfrm rot="16200000" flipV="1">
            <a:off x="7233118" y="2474912"/>
            <a:ext cx="711200" cy="44767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8F3F842B-350E-445A-87CA-6EBA6322EE05}"/>
              </a:ext>
            </a:extLst>
          </p:cNvPr>
          <p:cNvSpPr/>
          <p:nvPr/>
        </p:nvSpPr>
        <p:spPr bwMode="auto">
          <a:xfrm>
            <a:off x="11550448" y="3054350"/>
            <a:ext cx="266768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数据权限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85" name="肘形连接符 285">
            <a:extLst>
              <a:ext uri="{FF2B5EF4-FFF2-40B4-BE49-F238E27FC236}">
                <a16:creationId xmlns:a16="http://schemas.microsoft.com/office/drawing/2014/main" id="{34F5935A-216D-4F6E-83DB-42534270A7E6}"/>
              </a:ext>
            </a:extLst>
          </p:cNvPr>
          <p:cNvCxnSpPr>
            <a:cxnSpLocks/>
            <a:stCxn id="79" idx="0"/>
            <a:endCxn id="93" idx="2"/>
          </p:cNvCxnSpPr>
          <p:nvPr/>
        </p:nvCxnSpPr>
        <p:spPr>
          <a:xfrm rot="16200000" flipV="1">
            <a:off x="11234383" y="2604901"/>
            <a:ext cx="690562" cy="20833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F358D32A-7E16-4232-8902-A99D92DFB2A6}"/>
              </a:ext>
            </a:extLst>
          </p:cNvPr>
          <p:cNvSpPr/>
          <p:nvPr/>
        </p:nvSpPr>
        <p:spPr bwMode="auto">
          <a:xfrm>
            <a:off x="1325675" y="3054349"/>
            <a:ext cx="302754" cy="1272103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二维地图展示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A728169-DB9C-4460-B6A3-90DA86ADB86B}"/>
              </a:ext>
            </a:extLst>
          </p:cNvPr>
          <p:cNvSpPr/>
          <p:nvPr/>
        </p:nvSpPr>
        <p:spPr bwMode="auto">
          <a:xfrm>
            <a:off x="1703248" y="3054350"/>
            <a:ext cx="289616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设备等图层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展示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392D1E1-349D-4A01-BE89-443AE7ED391C}"/>
              </a:ext>
            </a:extLst>
          </p:cNvPr>
          <p:cNvSpPr/>
          <p:nvPr/>
        </p:nvSpPr>
        <p:spPr>
          <a:xfrm>
            <a:off x="8138675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二维地图制作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1A076F8-67C0-48BD-B3B9-7FD35474F6C3}"/>
              </a:ext>
            </a:extLst>
          </p:cNvPr>
          <p:cNvSpPr/>
          <p:nvPr/>
        </p:nvSpPr>
        <p:spPr>
          <a:xfrm>
            <a:off x="10891296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权限管理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94" name="肘形连接符 207">
            <a:extLst>
              <a:ext uri="{FF2B5EF4-FFF2-40B4-BE49-F238E27FC236}">
                <a16:creationId xmlns:a16="http://schemas.microsoft.com/office/drawing/2014/main" id="{DDB6F7FE-66EB-456C-840B-BFD7F96AB1A1}"/>
              </a:ext>
            </a:extLst>
          </p:cNvPr>
          <p:cNvCxnSpPr>
            <a:cxnSpLocks/>
            <a:endCxn id="10" idx="2"/>
          </p:cNvCxnSpPr>
          <p:nvPr/>
        </p:nvCxnSpPr>
        <p:spPr>
          <a:xfrm rot="5400000" flipH="1" flipV="1">
            <a:off x="1653953" y="2249345"/>
            <a:ext cx="690561" cy="91944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95" name="肘形连接符 211">
            <a:extLst>
              <a:ext uri="{FF2B5EF4-FFF2-40B4-BE49-F238E27FC236}">
                <a16:creationId xmlns:a16="http://schemas.microsoft.com/office/drawing/2014/main" id="{17A8A766-0FF4-4CDA-9FF6-D9924B18E3A7}"/>
              </a:ext>
            </a:extLst>
          </p:cNvPr>
          <p:cNvCxnSpPr>
            <a:cxnSpLocks/>
            <a:stCxn id="91" idx="0"/>
            <a:endCxn id="10" idx="2"/>
          </p:cNvCxnSpPr>
          <p:nvPr/>
        </p:nvCxnSpPr>
        <p:spPr>
          <a:xfrm rot="5400000" flipH="1" flipV="1">
            <a:off x="1808226" y="2403618"/>
            <a:ext cx="690562" cy="61090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28E64546-3ECD-49B3-A305-86C1A6F5BF97}"/>
              </a:ext>
            </a:extLst>
          </p:cNvPr>
          <p:cNvSpPr/>
          <p:nvPr/>
        </p:nvSpPr>
        <p:spPr>
          <a:xfrm>
            <a:off x="6780680" y="1874838"/>
            <a:ext cx="1168400" cy="468312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电子围栏</a:t>
            </a:r>
          </a:p>
        </p:txBody>
      </p:sp>
      <p:cxnSp>
        <p:nvCxnSpPr>
          <p:cNvPr id="97" name="肘形连接符 244">
            <a:extLst>
              <a:ext uri="{FF2B5EF4-FFF2-40B4-BE49-F238E27FC236}">
                <a16:creationId xmlns:a16="http://schemas.microsoft.com/office/drawing/2014/main" id="{7A5219C9-38AB-47EA-8F36-A378CBF0A3BE}"/>
              </a:ext>
            </a:extLst>
          </p:cNvPr>
          <p:cNvCxnSpPr>
            <a:stCxn id="92" idx="0"/>
            <a:endCxn id="8" idx="2"/>
          </p:cNvCxnSpPr>
          <p:nvPr/>
        </p:nvCxnSpPr>
        <p:spPr>
          <a:xfrm rot="16200000" flipV="1">
            <a:off x="6790570" y="-36830"/>
            <a:ext cx="411162" cy="345344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98" name="肘形连接符 248">
            <a:extLst>
              <a:ext uri="{FF2B5EF4-FFF2-40B4-BE49-F238E27FC236}">
                <a16:creationId xmlns:a16="http://schemas.microsoft.com/office/drawing/2014/main" id="{5D61FCE0-835C-4B65-B054-AB4E24F856A8}"/>
              </a:ext>
            </a:extLst>
          </p:cNvPr>
          <p:cNvCxnSpPr>
            <a:stCxn id="93" idx="0"/>
            <a:endCxn id="8" idx="2"/>
          </p:cNvCxnSpPr>
          <p:nvPr/>
        </p:nvCxnSpPr>
        <p:spPr>
          <a:xfrm rot="16200000" flipV="1">
            <a:off x="8166881" y="-1413141"/>
            <a:ext cx="411162" cy="620606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99" name="肘形连接符 253">
            <a:extLst>
              <a:ext uri="{FF2B5EF4-FFF2-40B4-BE49-F238E27FC236}">
                <a16:creationId xmlns:a16="http://schemas.microsoft.com/office/drawing/2014/main" id="{F3197EE3-5662-4FED-BBE3-A41C3047720A}"/>
              </a:ext>
            </a:extLst>
          </p:cNvPr>
          <p:cNvCxnSpPr>
            <a:cxnSpLocks/>
            <a:stCxn id="96" idx="0"/>
            <a:endCxn id="8" idx="2"/>
          </p:cNvCxnSpPr>
          <p:nvPr/>
        </p:nvCxnSpPr>
        <p:spPr>
          <a:xfrm rot="16200000" flipV="1">
            <a:off x="6121892" y="631849"/>
            <a:ext cx="390525" cy="209545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00" name="肘形连接符 259">
            <a:extLst>
              <a:ext uri="{FF2B5EF4-FFF2-40B4-BE49-F238E27FC236}">
                <a16:creationId xmlns:a16="http://schemas.microsoft.com/office/drawing/2014/main" id="{6E481F59-DCC1-4441-BC3F-56F514619F4D}"/>
              </a:ext>
            </a:extLst>
          </p:cNvPr>
          <p:cNvCxnSpPr>
            <a:cxnSpLocks/>
            <a:stCxn id="101" idx="0"/>
            <a:endCxn id="92" idx="2"/>
          </p:cNvCxnSpPr>
          <p:nvPr/>
        </p:nvCxnSpPr>
        <p:spPr>
          <a:xfrm rot="16200000" flipV="1">
            <a:off x="8455382" y="2631281"/>
            <a:ext cx="690562" cy="15557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E3388525-D218-4851-8200-7C8926569001}"/>
              </a:ext>
            </a:extLst>
          </p:cNvPr>
          <p:cNvSpPr/>
          <p:nvPr/>
        </p:nvSpPr>
        <p:spPr bwMode="auto">
          <a:xfrm>
            <a:off x="8759387" y="3054350"/>
            <a:ext cx="238125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设备等</a:t>
            </a: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POI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79D4D12-ADF8-4D74-8CF0-7FC09B3B177F}"/>
              </a:ext>
            </a:extLst>
          </p:cNvPr>
          <p:cNvSpPr/>
          <p:nvPr/>
        </p:nvSpPr>
        <p:spPr bwMode="auto">
          <a:xfrm>
            <a:off x="7556968" y="4861249"/>
            <a:ext cx="24447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工卡震动声音告警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D43B93B-F6B3-4239-9D0C-0105AB08406F}"/>
              </a:ext>
            </a:extLst>
          </p:cNvPr>
          <p:cNvSpPr/>
          <p:nvPr/>
        </p:nvSpPr>
        <p:spPr bwMode="auto">
          <a:xfrm>
            <a:off x="7883577" y="4861249"/>
            <a:ext cx="253999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电脑端弹窗声音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06" name="肘形连接符 283">
            <a:extLst>
              <a:ext uri="{FF2B5EF4-FFF2-40B4-BE49-F238E27FC236}">
                <a16:creationId xmlns:a16="http://schemas.microsoft.com/office/drawing/2014/main" id="{7956D1F5-4885-41AA-A832-5BB21A340A06}"/>
              </a:ext>
            </a:extLst>
          </p:cNvPr>
          <p:cNvCxnSpPr>
            <a:cxnSpLocks/>
            <a:stCxn id="104" idx="0"/>
            <a:endCxn id="67" idx="2"/>
          </p:cNvCxnSpPr>
          <p:nvPr/>
        </p:nvCxnSpPr>
        <p:spPr>
          <a:xfrm rot="5400000" flipH="1" flipV="1">
            <a:off x="7468957" y="4517652"/>
            <a:ext cx="553847" cy="13334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09" name="肘形连接符 296">
            <a:extLst>
              <a:ext uri="{FF2B5EF4-FFF2-40B4-BE49-F238E27FC236}">
                <a16:creationId xmlns:a16="http://schemas.microsoft.com/office/drawing/2014/main" id="{6D4A555F-472D-4335-B123-9BDD807388F7}"/>
              </a:ext>
            </a:extLst>
          </p:cNvPr>
          <p:cNvCxnSpPr>
            <a:cxnSpLocks/>
            <a:stCxn id="105" idx="0"/>
            <a:endCxn id="67" idx="2"/>
          </p:cNvCxnSpPr>
          <p:nvPr/>
        </p:nvCxnSpPr>
        <p:spPr>
          <a:xfrm rot="16200000" flipV="1">
            <a:off x="7634643" y="4485315"/>
            <a:ext cx="553847" cy="19802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70DD63D3-F814-4AD8-948D-35992D47BAEC}"/>
              </a:ext>
            </a:extLst>
          </p:cNvPr>
          <p:cNvSpPr/>
          <p:nvPr/>
        </p:nvSpPr>
        <p:spPr bwMode="auto">
          <a:xfrm>
            <a:off x="3732705" y="3054350"/>
            <a:ext cx="292477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路线规划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90F00D1-74C2-4469-BB0A-1CA2F722758B}"/>
              </a:ext>
            </a:extLst>
          </p:cNvPr>
          <p:cNvSpPr/>
          <p:nvPr/>
        </p:nvSpPr>
        <p:spPr bwMode="auto">
          <a:xfrm>
            <a:off x="4047272" y="3054350"/>
            <a:ext cx="285751" cy="1272106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路线详情展示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12" name="肘形连接符 307">
            <a:extLst>
              <a:ext uri="{FF2B5EF4-FFF2-40B4-BE49-F238E27FC236}">
                <a16:creationId xmlns:a16="http://schemas.microsoft.com/office/drawing/2014/main" id="{F979DE10-6203-49CD-A28A-374D9C1AAFBD}"/>
              </a:ext>
            </a:extLst>
          </p:cNvPr>
          <p:cNvCxnSpPr>
            <a:cxnSpLocks/>
            <a:stCxn id="110" idx="0"/>
            <a:endCxn id="11" idx="2"/>
          </p:cNvCxnSpPr>
          <p:nvPr/>
        </p:nvCxnSpPr>
        <p:spPr>
          <a:xfrm rot="5400000" flipH="1" flipV="1">
            <a:off x="3733714" y="2509018"/>
            <a:ext cx="690562" cy="40010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13" name="肘形连接符 310">
            <a:extLst>
              <a:ext uri="{FF2B5EF4-FFF2-40B4-BE49-F238E27FC236}">
                <a16:creationId xmlns:a16="http://schemas.microsoft.com/office/drawing/2014/main" id="{88227C50-3BD4-4F37-B742-6D230E95E740}"/>
              </a:ext>
            </a:extLst>
          </p:cNvPr>
          <p:cNvCxnSpPr>
            <a:cxnSpLocks/>
            <a:stCxn id="111" idx="0"/>
            <a:endCxn id="11" idx="2"/>
          </p:cNvCxnSpPr>
          <p:nvPr/>
        </p:nvCxnSpPr>
        <p:spPr>
          <a:xfrm rot="5400000" flipH="1" flipV="1">
            <a:off x="3889316" y="2664620"/>
            <a:ext cx="690562" cy="8889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E6819AAE-B5C7-4A13-8B9B-048D59A7F463}"/>
              </a:ext>
            </a:extLst>
          </p:cNvPr>
          <p:cNvSpPr/>
          <p:nvPr/>
        </p:nvSpPr>
        <p:spPr bwMode="auto">
          <a:xfrm>
            <a:off x="4365623" y="3054350"/>
            <a:ext cx="259500" cy="1272106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15" name="肘形连接符 116">
            <a:extLst>
              <a:ext uri="{FF2B5EF4-FFF2-40B4-BE49-F238E27FC236}">
                <a16:creationId xmlns:a16="http://schemas.microsoft.com/office/drawing/2014/main" id="{463D7FDD-C375-42D3-82D1-45CAC32945CB}"/>
              </a:ext>
            </a:extLst>
          </p:cNvPr>
          <p:cNvCxnSpPr>
            <a:cxnSpLocks/>
            <a:stCxn id="114" idx="0"/>
            <a:endCxn id="11" idx="2"/>
          </p:cNvCxnSpPr>
          <p:nvPr/>
        </p:nvCxnSpPr>
        <p:spPr>
          <a:xfrm rot="16200000" flipV="1">
            <a:off x="4041929" y="2600906"/>
            <a:ext cx="690562" cy="21632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31" name="矩形 130">
            <a:extLst>
              <a:ext uri="{FF2B5EF4-FFF2-40B4-BE49-F238E27FC236}">
                <a16:creationId xmlns:a16="http://schemas.microsoft.com/office/drawing/2014/main" id="{DE5374E0-8946-4415-87D8-A6BEBFB228CB}"/>
              </a:ext>
            </a:extLst>
          </p:cNvPr>
          <p:cNvSpPr/>
          <p:nvPr/>
        </p:nvSpPr>
        <p:spPr>
          <a:xfrm>
            <a:off x="9550385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设备信息补录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637540F4-5A24-40F1-BD2A-7353EF4BF0C8}"/>
              </a:ext>
            </a:extLst>
          </p:cNvPr>
          <p:cNvSpPr/>
          <p:nvPr/>
        </p:nvSpPr>
        <p:spPr bwMode="auto">
          <a:xfrm>
            <a:off x="10436245" y="3054350"/>
            <a:ext cx="227011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sym typeface="Arial" charset="0"/>
              </a:rPr>
              <a:t>电脑端维护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Arial" charset="0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D3F8053F-A0D0-4F74-95DB-43EC4B3B560B}"/>
              </a:ext>
            </a:extLst>
          </p:cNvPr>
          <p:cNvSpPr/>
          <p:nvPr/>
        </p:nvSpPr>
        <p:spPr bwMode="auto">
          <a:xfrm>
            <a:off x="9519429" y="3054350"/>
            <a:ext cx="218281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移动端采集</a:t>
            </a:r>
          </a:p>
        </p:txBody>
      </p:sp>
      <p:cxnSp>
        <p:nvCxnSpPr>
          <p:cNvPr id="153" name="肘形连接符 246">
            <a:extLst>
              <a:ext uri="{FF2B5EF4-FFF2-40B4-BE49-F238E27FC236}">
                <a16:creationId xmlns:a16="http://schemas.microsoft.com/office/drawing/2014/main" id="{667CBBC6-2F15-4515-80CB-F2618E1EF3EE}"/>
              </a:ext>
            </a:extLst>
          </p:cNvPr>
          <p:cNvCxnSpPr>
            <a:cxnSpLocks/>
            <a:stCxn id="151" idx="0"/>
            <a:endCxn id="131" idx="2"/>
          </p:cNvCxnSpPr>
          <p:nvPr/>
        </p:nvCxnSpPr>
        <p:spPr>
          <a:xfrm rot="5400000" flipH="1" flipV="1">
            <a:off x="9536296" y="2456062"/>
            <a:ext cx="690562" cy="50601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55" name="肘形连接符 255">
            <a:extLst>
              <a:ext uri="{FF2B5EF4-FFF2-40B4-BE49-F238E27FC236}">
                <a16:creationId xmlns:a16="http://schemas.microsoft.com/office/drawing/2014/main" id="{891F966C-8892-4612-A99F-95FD89941A29}"/>
              </a:ext>
            </a:extLst>
          </p:cNvPr>
          <p:cNvCxnSpPr>
            <a:cxnSpLocks/>
            <a:stCxn id="150" idx="0"/>
            <a:endCxn id="131" idx="2"/>
          </p:cNvCxnSpPr>
          <p:nvPr/>
        </p:nvCxnSpPr>
        <p:spPr>
          <a:xfrm rot="16200000" flipV="1">
            <a:off x="9996887" y="2501486"/>
            <a:ext cx="690562" cy="41516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58" name="矩形 157">
            <a:extLst>
              <a:ext uri="{FF2B5EF4-FFF2-40B4-BE49-F238E27FC236}">
                <a16:creationId xmlns:a16="http://schemas.microsoft.com/office/drawing/2014/main" id="{F559FCB1-1724-4DFF-87B5-67D52EE58137}"/>
              </a:ext>
            </a:extLst>
          </p:cNvPr>
          <p:cNvSpPr/>
          <p:nvPr/>
        </p:nvSpPr>
        <p:spPr bwMode="auto">
          <a:xfrm>
            <a:off x="8927825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实时定位设备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XY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60328784-2792-4F28-A5F8-236E71912461}"/>
              </a:ext>
            </a:extLst>
          </p:cNvPr>
          <p:cNvSpPr/>
          <p:nvPr/>
        </p:nvSpPr>
        <p:spPr bwMode="auto">
          <a:xfrm>
            <a:off x="9242699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基本信息输入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9D7D7729-099F-4456-A927-024B548AED30}"/>
              </a:ext>
            </a:extLst>
          </p:cNvPr>
          <p:cNvSpPr/>
          <p:nvPr/>
        </p:nvSpPr>
        <p:spPr bwMode="auto">
          <a:xfrm>
            <a:off x="9531446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拖动维护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B42EA760-1F96-46BA-A1CD-8A0CA97AEA64}"/>
              </a:ext>
            </a:extLst>
          </p:cNvPr>
          <p:cNvSpPr/>
          <p:nvPr/>
        </p:nvSpPr>
        <p:spPr bwMode="auto">
          <a:xfrm>
            <a:off x="9834614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XY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输入维护</a:t>
            </a:r>
          </a:p>
        </p:txBody>
      </p:sp>
      <p:cxnSp>
        <p:nvCxnSpPr>
          <p:cNvPr id="165" name="肘形连接符 291">
            <a:extLst>
              <a:ext uri="{FF2B5EF4-FFF2-40B4-BE49-F238E27FC236}">
                <a16:creationId xmlns:a16="http://schemas.microsoft.com/office/drawing/2014/main" id="{4E5C5278-23B1-461E-96C4-9873E72CC532}"/>
              </a:ext>
            </a:extLst>
          </p:cNvPr>
          <p:cNvCxnSpPr>
            <a:cxnSpLocks/>
            <a:stCxn id="158" idx="0"/>
            <a:endCxn id="151" idx="2"/>
          </p:cNvCxnSpPr>
          <p:nvPr/>
        </p:nvCxnSpPr>
        <p:spPr>
          <a:xfrm rot="5400000" flipH="1" flipV="1">
            <a:off x="9060805" y="4293484"/>
            <a:ext cx="553849" cy="58168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66" name="肘形连接符 294">
            <a:extLst>
              <a:ext uri="{FF2B5EF4-FFF2-40B4-BE49-F238E27FC236}">
                <a16:creationId xmlns:a16="http://schemas.microsoft.com/office/drawing/2014/main" id="{BAD21EDD-F0BA-4B99-A794-2747D6463679}"/>
              </a:ext>
            </a:extLst>
          </p:cNvPr>
          <p:cNvCxnSpPr>
            <a:cxnSpLocks/>
            <a:stCxn id="159" idx="0"/>
            <a:endCxn id="151" idx="2"/>
          </p:cNvCxnSpPr>
          <p:nvPr/>
        </p:nvCxnSpPr>
        <p:spPr>
          <a:xfrm rot="5400000" flipH="1" flipV="1">
            <a:off x="9218242" y="4450921"/>
            <a:ext cx="553849" cy="26680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67" name="肘形连接符 300">
            <a:extLst>
              <a:ext uri="{FF2B5EF4-FFF2-40B4-BE49-F238E27FC236}">
                <a16:creationId xmlns:a16="http://schemas.microsoft.com/office/drawing/2014/main" id="{2BA70C52-2B45-4982-8446-E9E76E548DDF}"/>
              </a:ext>
            </a:extLst>
          </p:cNvPr>
          <p:cNvCxnSpPr>
            <a:cxnSpLocks/>
            <a:stCxn id="160" idx="0"/>
            <a:endCxn id="151" idx="2"/>
          </p:cNvCxnSpPr>
          <p:nvPr/>
        </p:nvCxnSpPr>
        <p:spPr>
          <a:xfrm rot="16200000" flipV="1">
            <a:off x="9362616" y="4573355"/>
            <a:ext cx="553849" cy="2193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76" name="矩形 175">
            <a:extLst>
              <a:ext uri="{FF2B5EF4-FFF2-40B4-BE49-F238E27FC236}">
                <a16:creationId xmlns:a16="http://schemas.microsoft.com/office/drawing/2014/main" id="{0C6829E5-E5CE-4ED9-9F8A-9C9A26B61C19}"/>
              </a:ext>
            </a:extLst>
          </p:cNvPr>
          <p:cNvSpPr/>
          <p:nvPr/>
        </p:nvSpPr>
        <p:spPr bwMode="auto">
          <a:xfrm>
            <a:off x="10154102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基本信息输入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B70F6E1B-CC6B-4E8E-817B-A50728F02821}"/>
              </a:ext>
            </a:extLst>
          </p:cNvPr>
          <p:cNvSpPr/>
          <p:nvPr/>
        </p:nvSpPr>
        <p:spPr bwMode="auto">
          <a:xfrm>
            <a:off x="10442849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拖动维护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B0D762BA-EA3D-4493-86F5-870EDA414A6A}"/>
              </a:ext>
            </a:extLst>
          </p:cNvPr>
          <p:cNvSpPr/>
          <p:nvPr/>
        </p:nvSpPr>
        <p:spPr bwMode="auto">
          <a:xfrm>
            <a:off x="10728599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XY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输入维护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CE579A61-049A-4D2B-8A37-23A62EE6C52B}"/>
              </a:ext>
            </a:extLst>
          </p:cNvPr>
          <p:cNvSpPr/>
          <p:nvPr/>
        </p:nvSpPr>
        <p:spPr bwMode="auto">
          <a:xfrm>
            <a:off x="7241737" y="3054349"/>
            <a:ext cx="238125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类型设置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98DD297B-C672-455B-A983-C73EF23526F5}"/>
              </a:ext>
            </a:extLst>
          </p:cNvPr>
          <p:cNvSpPr/>
          <p:nvPr/>
        </p:nvSpPr>
        <p:spPr bwMode="auto">
          <a:xfrm>
            <a:off x="8209874" y="4861249"/>
            <a:ext cx="253999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告警统计分析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0730F73F-FA1B-40F6-85CB-2495A59F7923}"/>
              </a:ext>
            </a:extLst>
          </p:cNvPr>
          <p:cNvSpPr/>
          <p:nvPr/>
        </p:nvSpPr>
        <p:spPr bwMode="auto">
          <a:xfrm>
            <a:off x="2065198" y="3054350"/>
            <a:ext cx="314116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地图基本操作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0646F13F-9557-4975-A33D-406A69D13D0B}"/>
              </a:ext>
            </a:extLst>
          </p:cNvPr>
          <p:cNvSpPr/>
          <p:nvPr/>
        </p:nvSpPr>
        <p:spPr bwMode="auto">
          <a:xfrm>
            <a:off x="2454134" y="3054350"/>
            <a:ext cx="318505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地图基本部件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83949596-33F4-41D1-943D-F833459BC248}"/>
              </a:ext>
            </a:extLst>
          </p:cNvPr>
          <p:cNvSpPr/>
          <p:nvPr/>
        </p:nvSpPr>
        <p:spPr bwMode="auto">
          <a:xfrm>
            <a:off x="930286" y="4861249"/>
            <a:ext cx="204996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放大缩小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A509F885-5B37-45FB-8980-99F302D8F148}"/>
              </a:ext>
            </a:extLst>
          </p:cNvPr>
          <p:cNvSpPr/>
          <p:nvPr/>
        </p:nvSpPr>
        <p:spPr bwMode="auto">
          <a:xfrm>
            <a:off x="1439795" y="4861249"/>
            <a:ext cx="204996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俯仰跟随</a:t>
            </a: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B87C2822-8000-48E2-9340-B2F701E15F0A}"/>
              </a:ext>
            </a:extLst>
          </p:cNvPr>
          <p:cNvSpPr/>
          <p:nvPr/>
        </p:nvSpPr>
        <p:spPr bwMode="auto">
          <a:xfrm>
            <a:off x="1185041" y="4861248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平移旋转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10" name="肘形连接符 81">
            <a:extLst>
              <a:ext uri="{FF2B5EF4-FFF2-40B4-BE49-F238E27FC236}">
                <a16:creationId xmlns:a16="http://schemas.microsoft.com/office/drawing/2014/main" id="{73599937-F1D7-4445-8A32-53A32203BF65}"/>
              </a:ext>
            </a:extLst>
          </p:cNvPr>
          <p:cNvCxnSpPr>
            <a:cxnSpLocks/>
            <a:stCxn id="207" idx="0"/>
            <a:endCxn id="204" idx="2"/>
          </p:cNvCxnSpPr>
          <p:nvPr/>
        </p:nvCxnSpPr>
        <p:spPr>
          <a:xfrm rot="5400000" flipH="1" flipV="1">
            <a:off x="1360123" y="3999116"/>
            <a:ext cx="534795" cy="118947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11" name="肘形连接符 84">
            <a:extLst>
              <a:ext uri="{FF2B5EF4-FFF2-40B4-BE49-F238E27FC236}">
                <a16:creationId xmlns:a16="http://schemas.microsoft.com/office/drawing/2014/main" id="{7312DFA9-01C8-402D-B969-AAB66F5F6971}"/>
              </a:ext>
            </a:extLst>
          </p:cNvPr>
          <p:cNvCxnSpPr>
            <a:cxnSpLocks/>
            <a:stCxn id="209" idx="0"/>
            <a:endCxn id="204" idx="2"/>
          </p:cNvCxnSpPr>
          <p:nvPr/>
        </p:nvCxnSpPr>
        <p:spPr>
          <a:xfrm rot="5400000" flipH="1" flipV="1">
            <a:off x="1487500" y="4126492"/>
            <a:ext cx="534794" cy="93471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12" name="肘形连接符 87">
            <a:extLst>
              <a:ext uri="{FF2B5EF4-FFF2-40B4-BE49-F238E27FC236}">
                <a16:creationId xmlns:a16="http://schemas.microsoft.com/office/drawing/2014/main" id="{776E4211-5F42-408A-8953-099CA0110D54}"/>
              </a:ext>
            </a:extLst>
          </p:cNvPr>
          <p:cNvCxnSpPr>
            <a:cxnSpLocks/>
            <a:stCxn id="208" idx="0"/>
            <a:endCxn id="204" idx="2"/>
          </p:cNvCxnSpPr>
          <p:nvPr/>
        </p:nvCxnSpPr>
        <p:spPr>
          <a:xfrm rot="5400000" flipH="1" flipV="1">
            <a:off x="1614877" y="4253871"/>
            <a:ext cx="534795" cy="67996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14" name="矩形 213">
            <a:extLst>
              <a:ext uri="{FF2B5EF4-FFF2-40B4-BE49-F238E27FC236}">
                <a16:creationId xmlns:a16="http://schemas.microsoft.com/office/drawing/2014/main" id="{A9BA1CBC-3E4B-445E-9D82-C7A96F8940E6}"/>
              </a:ext>
            </a:extLst>
          </p:cNvPr>
          <p:cNvSpPr/>
          <p:nvPr/>
        </p:nvSpPr>
        <p:spPr bwMode="auto">
          <a:xfrm>
            <a:off x="2168174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比例尺</a:t>
            </a:r>
            <a:endParaRPr lang="en-US" altLang="zh-CN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3F633C47-0376-469E-9850-649EAE3EAB0E}"/>
              </a:ext>
            </a:extLst>
          </p:cNvPr>
          <p:cNvSpPr/>
          <p:nvPr/>
        </p:nvSpPr>
        <p:spPr bwMode="auto">
          <a:xfrm>
            <a:off x="2602971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定位原点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AB1AE027-5BD8-4C8B-8DC2-1EE56D382BAE}"/>
              </a:ext>
            </a:extLst>
          </p:cNvPr>
          <p:cNvSpPr/>
          <p:nvPr/>
        </p:nvSpPr>
        <p:spPr bwMode="auto">
          <a:xfrm>
            <a:off x="2376864" y="4861249"/>
            <a:ext cx="204994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罗盘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方向指示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C5305F34-99BF-4B45-8467-A583CA4462D9}"/>
              </a:ext>
            </a:extLst>
          </p:cNvPr>
          <p:cNvSpPr/>
          <p:nvPr/>
        </p:nvSpPr>
        <p:spPr bwMode="auto">
          <a:xfrm>
            <a:off x="2848173" y="4861249"/>
            <a:ext cx="204996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距离测量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D65E2FD1-246E-4240-9E74-5E357CF0A7E4}"/>
              </a:ext>
            </a:extLst>
          </p:cNvPr>
          <p:cNvSpPr/>
          <p:nvPr/>
        </p:nvSpPr>
        <p:spPr bwMode="auto">
          <a:xfrm>
            <a:off x="2852552" y="3054350"/>
            <a:ext cx="268973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POI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搜索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2FFC880-D0E6-419E-857A-CD3BB1FF15B6}"/>
              </a:ext>
            </a:extLst>
          </p:cNvPr>
          <p:cNvSpPr/>
          <p:nvPr/>
        </p:nvSpPr>
        <p:spPr bwMode="auto">
          <a:xfrm>
            <a:off x="4663223" y="3054350"/>
            <a:ext cx="265054" cy="1272106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API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接口</a:t>
            </a: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2B242945-3A60-40EE-83E1-5DC08E0C5E5D}"/>
              </a:ext>
            </a:extLst>
          </p:cNvPr>
          <p:cNvSpPr/>
          <p:nvPr/>
        </p:nvSpPr>
        <p:spPr bwMode="auto">
          <a:xfrm>
            <a:off x="3178373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设备编码</a:t>
            </a: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2202D6EE-A04C-45EB-AC7E-8F123E2DC202}"/>
              </a:ext>
            </a:extLst>
          </p:cNvPr>
          <p:cNvSpPr/>
          <p:nvPr/>
        </p:nvSpPr>
        <p:spPr bwMode="auto">
          <a:xfrm>
            <a:off x="3648006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语音搜索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D3431837-3BF7-494D-9284-F236C5AEF0E9}"/>
              </a:ext>
            </a:extLst>
          </p:cNvPr>
          <p:cNvSpPr/>
          <p:nvPr/>
        </p:nvSpPr>
        <p:spPr bwMode="auto">
          <a:xfrm>
            <a:off x="3413190" y="4861248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关键词</a:t>
            </a:r>
          </a:p>
        </p:txBody>
      </p:sp>
      <p:cxnSp>
        <p:nvCxnSpPr>
          <p:cNvPr id="227" name="肘形连接符 81">
            <a:extLst>
              <a:ext uri="{FF2B5EF4-FFF2-40B4-BE49-F238E27FC236}">
                <a16:creationId xmlns:a16="http://schemas.microsoft.com/office/drawing/2014/main" id="{D981F59F-5A59-46B4-AC0C-95278562A22D}"/>
              </a:ext>
            </a:extLst>
          </p:cNvPr>
          <p:cNvCxnSpPr>
            <a:cxnSpLocks/>
            <a:stCxn id="224" idx="0"/>
            <a:endCxn id="218" idx="2"/>
          </p:cNvCxnSpPr>
          <p:nvPr/>
        </p:nvCxnSpPr>
        <p:spPr>
          <a:xfrm rot="16200000" flipV="1">
            <a:off x="2866558" y="4446935"/>
            <a:ext cx="534794" cy="29383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28" name="肘形连接符 84">
            <a:extLst>
              <a:ext uri="{FF2B5EF4-FFF2-40B4-BE49-F238E27FC236}">
                <a16:creationId xmlns:a16="http://schemas.microsoft.com/office/drawing/2014/main" id="{A37B4F63-F46E-4B0E-A3B9-704CD0F2A3E6}"/>
              </a:ext>
            </a:extLst>
          </p:cNvPr>
          <p:cNvCxnSpPr>
            <a:cxnSpLocks/>
            <a:stCxn id="226" idx="0"/>
            <a:endCxn id="218" idx="2"/>
          </p:cNvCxnSpPr>
          <p:nvPr/>
        </p:nvCxnSpPr>
        <p:spPr>
          <a:xfrm rot="16200000" flipV="1">
            <a:off x="2983966" y="4329527"/>
            <a:ext cx="534794" cy="52864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29" name="肘形连接符 87">
            <a:extLst>
              <a:ext uri="{FF2B5EF4-FFF2-40B4-BE49-F238E27FC236}">
                <a16:creationId xmlns:a16="http://schemas.microsoft.com/office/drawing/2014/main" id="{AF8B9554-F610-4F73-9EA0-2AFF1FECA3CD}"/>
              </a:ext>
            </a:extLst>
          </p:cNvPr>
          <p:cNvCxnSpPr>
            <a:cxnSpLocks/>
            <a:stCxn id="225" idx="0"/>
            <a:endCxn id="218" idx="2"/>
          </p:cNvCxnSpPr>
          <p:nvPr/>
        </p:nvCxnSpPr>
        <p:spPr>
          <a:xfrm rot="16200000" flipV="1">
            <a:off x="3101375" y="4212118"/>
            <a:ext cx="534794" cy="76346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30" name="矩形 229">
            <a:extLst>
              <a:ext uri="{FF2B5EF4-FFF2-40B4-BE49-F238E27FC236}">
                <a16:creationId xmlns:a16="http://schemas.microsoft.com/office/drawing/2014/main" id="{E16725B1-5C11-467B-B485-38A815970AE3}"/>
              </a:ext>
            </a:extLst>
          </p:cNvPr>
          <p:cNvSpPr/>
          <p:nvPr/>
        </p:nvSpPr>
        <p:spPr bwMode="auto">
          <a:xfrm>
            <a:off x="3210808" y="3054349"/>
            <a:ext cx="294512" cy="1264988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API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接口</a:t>
            </a: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948E6CFF-4C9D-43B2-B0D8-0015048B6236}"/>
              </a:ext>
            </a:extLst>
          </p:cNvPr>
          <p:cNvSpPr/>
          <p:nvPr/>
        </p:nvSpPr>
        <p:spPr bwMode="auto">
          <a:xfrm>
            <a:off x="5275896" y="4861249"/>
            <a:ext cx="206290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未关闭缺陷提示</a:t>
            </a: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3548B134-6A6D-4751-B487-70A659A6B35D}"/>
              </a:ext>
            </a:extLst>
          </p:cNvPr>
          <p:cNvSpPr/>
          <p:nvPr/>
        </p:nvSpPr>
        <p:spPr bwMode="auto">
          <a:xfrm>
            <a:off x="5776296" y="4861249"/>
            <a:ext cx="229497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途径风险点提示</a:t>
            </a: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09A3A553-ACE3-445A-96C8-52743B079955}"/>
              </a:ext>
            </a:extLst>
          </p:cNvPr>
          <p:cNvSpPr/>
          <p:nvPr/>
        </p:nvSpPr>
        <p:spPr bwMode="auto">
          <a:xfrm>
            <a:off x="5524063" y="4861249"/>
            <a:ext cx="212034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关注的缺陷提示</a:t>
            </a:r>
          </a:p>
        </p:txBody>
      </p:sp>
      <p:cxnSp>
        <p:nvCxnSpPr>
          <p:cNvPr id="239" name="肘形连接符 81">
            <a:extLst>
              <a:ext uri="{FF2B5EF4-FFF2-40B4-BE49-F238E27FC236}">
                <a16:creationId xmlns:a16="http://schemas.microsoft.com/office/drawing/2014/main" id="{88327F1D-B3A5-4D75-892E-F0BC37DAAA5E}"/>
              </a:ext>
            </a:extLst>
          </p:cNvPr>
          <p:cNvCxnSpPr>
            <a:cxnSpLocks/>
            <a:stCxn id="236" idx="0"/>
            <a:endCxn id="26" idx="2"/>
          </p:cNvCxnSpPr>
          <p:nvPr/>
        </p:nvCxnSpPr>
        <p:spPr>
          <a:xfrm rot="5400000" flipH="1" flipV="1">
            <a:off x="5285858" y="4421344"/>
            <a:ext cx="533089" cy="34672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40" name="肘形连接符 84">
            <a:extLst>
              <a:ext uri="{FF2B5EF4-FFF2-40B4-BE49-F238E27FC236}">
                <a16:creationId xmlns:a16="http://schemas.microsoft.com/office/drawing/2014/main" id="{F58E0C3B-CEEF-42DA-98CC-92AF1389DCC4}"/>
              </a:ext>
            </a:extLst>
          </p:cNvPr>
          <p:cNvCxnSpPr>
            <a:cxnSpLocks/>
            <a:stCxn id="238" idx="0"/>
            <a:endCxn id="26" idx="2"/>
          </p:cNvCxnSpPr>
          <p:nvPr/>
        </p:nvCxnSpPr>
        <p:spPr>
          <a:xfrm rot="5400000" flipH="1" flipV="1">
            <a:off x="5411378" y="4546863"/>
            <a:ext cx="533089" cy="9568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41" name="肘形连接符 87">
            <a:extLst>
              <a:ext uri="{FF2B5EF4-FFF2-40B4-BE49-F238E27FC236}">
                <a16:creationId xmlns:a16="http://schemas.microsoft.com/office/drawing/2014/main" id="{D7AE1B42-68EE-4B0A-9F1F-E1F775D6EC17}"/>
              </a:ext>
            </a:extLst>
          </p:cNvPr>
          <p:cNvCxnSpPr>
            <a:cxnSpLocks/>
            <a:stCxn id="237" idx="0"/>
            <a:endCxn id="26" idx="2"/>
          </p:cNvCxnSpPr>
          <p:nvPr/>
        </p:nvCxnSpPr>
        <p:spPr>
          <a:xfrm rot="16200000" flipV="1">
            <a:off x="5541861" y="4512064"/>
            <a:ext cx="533089" cy="16528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47" name="矩形 246">
            <a:extLst>
              <a:ext uri="{FF2B5EF4-FFF2-40B4-BE49-F238E27FC236}">
                <a16:creationId xmlns:a16="http://schemas.microsoft.com/office/drawing/2014/main" id="{EE7683C5-8AC4-4221-AA28-F69EA596F824}"/>
              </a:ext>
            </a:extLst>
          </p:cNvPr>
          <p:cNvSpPr/>
          <p:nvPr/>
        </p:nvSpPr>
        <p:spPr bwMode="auto">
          <a:xfrm>
            <a:off x="6459233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统计分析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F5B55C18-D821-44A2-9230-D62CD8710223}"/>
              </a:ext>
            </a:extLst>
          </p:cNvPr>
          <p:cNvSpPr/>
          <p:nvPr/>
        </p:nvSpPr>
        <p:spPr bwMode="auto">
          <a:xfrm>
            <a:off x="5054340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人员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endParaRPr lang="en-US" altLang="zh-CN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标签绑定</a:t>
            </a:r>
          </a:p>
        </p:txBody>
      </p:sp>
      <p:cxnSp>
        <p:nvCxnSpPr>
          <p:cNvPr id="310" name="肘形连接符 81">
            <a:extLst>
              <a:ext uri="{FF2B5EF4-FFF2-40B4-BE49-F238E27FC236}">
                <a16:creationId xmlns:a16="http://schemas.microsoft.com/office/drawing/2014/main" id="{96793108-80F9-4B34-B1C9-B03170C55449}"/>
              </a:ext>
            </a:extLst>
          </p:cNvPr>
          <p:cNvCxnSpPr>
            <a:cxnSpLocks/>
            <a:stCxn id="217" idx="0"/>
            <a:endCxn id="205" idx="2"/>
          </p:cNvCxnSpPr>
          <p:nvPr/>
        </p:nvCxnSpPr>
        <p:spPr>
          <a:xfrm rot="16200000" flipV="1">
            <a:off x="2514632" y="4425210"/>
            <a:ext cx="534795" cy="33728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13" name="肘形连接符 81">
            <a:extLst>
              <a:ext uri="{FF2B5EF4-FFF2-40B4-BE49-F238E27FC236}">
                <a16:creationId xmlns:a16="http://schemas.microsoft.com/office/drawing/2014/main" id="{44EEAAE0-6D19-4589-B757-D07286E56E96}"/>
              </a:ext>
            </a:extLst>
          </p:cNvPr>
          <p:cNvCxnSpPr>
            <a:cxnSpLocks/>
            <a:stCxn id="214" idx="0"/>
            <a:endCxn id="205" idx="2"/>
          </p:cNvCxnSpPr>
          <p:nvPr/>
        </p:nvCxnSpPr>
        <p:spPr>
          <a:xfrm rot="5400000" flipH="1" flipV="1">
            <a:off x="2174632" y="4422494"/>
            <a:ext cx="534794" cy="34271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16" name="肘形连接符 81">
            <a:extLst>
              <a:ext uri="{FF2B5EF4-FFF2-40B4-BE49-F238E27FC236}">
                <a16:creationId xmlns:a16="http://schemas.microsoft.com/office/drawing/2014/main" id="{4FC2BEEE-C074-4BC4-BAE8-0BFBBDE50604}"/>
              </a:ext>
            </a:extLst>
          </p:cNvPr>
          <p:cNvCxnSpPr>
            <a:cxnSpLocks/>
            <a:stCxn id="216" idx="0"/>
            <a:endCxn id="205" idx="2"/>
          </p:cNvCxnSpPr>
          <p:nvPr/>
        </p:nvCxnSpPr>
        <p:spPr>
          <a:xfrm rot="5400000" flipH="1" flipV="1">
            <a:off x="2278977" y="4526839"/>
            <a:ext cx="534795" cy="13402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19" name="肘形连接符 81">
            <a:extLst>
              <a:ext uri="{FF2B5EF4-FFF2-40B4-BE49-F238E27FC236}">
                <a16:creationId xmlns:a16="http://schemas.microsoft.com/office/drawing/2014/main" id="{DEB6E1D8-5E3C-4172-85C3-9DCFD20524AB}"/>
              </a:ext>
            </a:extLst>
          </p:cNvPr>
          <p:cNvCxnSpPr>
            <a:cxnSpLocks/>
            <a:stCxn id="215" idx="0"/>
            <a:endCxn id="205" idx="2"/>
          </p:cNvCxnSpPr>
          <p:nvPr/>
        </p:nvCxnSpPr>
        <p:spPr>
          <a:xfrm rot="16200000" flipV="1">
            <a:off x="2392031" y="4547810"/>
            <a:ext cx="534794" cy="9208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30" name="肘形连接符 261">
            <a:extLst>
              <a:ext uri="{FF2B5EF4-FFF2-40B4-BE49-F238E27FC236}">
                <a16:creationId xmlns:a16="http://schemas.microsoft.com/office/drawing/2014/main" id="{05DE5ADF-A8D7-4E05-ADF3-EA4D99ACAE96}"/>
              </a:ext>
            </a:extLst>
          </p:cNvPr>
          <p:cNvCxnSpPr>
            <a:cxnSpLocks/>
            <a:stCxn id="247" idx="0"/>
            <a:endCxn id="12" idx="2"/>
          </p:cNvCxnSpPr>
          <p:nvPr/>
        </p:nvCxnSpPr>
        <p:spPr>
          <a:xfrm rot="16200000" flipV="1">
            <a:off x="5917081" y="2393134"/>
            <a:ext cx="690562" cy="63186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33" name="肘形连接符 261">
            <a:extLst>
              <a:ext uri="{FF2B5EF4-FFF2-40B4-BE49-F238E27FC236}">
                <a16:creationId xmlns:a16="http://schemas.microsoft.com/office/drawing/2014/main" id="{2CF10AE5-55EF-4719-8405-F2017760C3D4}"/>
              </a:ext>
            </a:extLst>
          </p:cNvPr>
          <p:cNvCxnSpPr>
            <a:cxnSpLocks/>
            <a:stCxn id="248" idx="0"/>
            <a:endCxn id="12" idx="2"/>
          </p:cNvCxnSpPr>
          <p:nvPr/>
        </p:nvCxnSpPr>
        <p:spPr>
          <a:xfrm rot="5400000" flipH="1" flipV="1">
            <a:off x="5214634" y="2322557"/>
            <a:ext cx="690562" cy="77302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37" name="肘形连接符 211">
            <a:extLst>
              <a:ext uri="{FF2B5EF4-FFF2-40B4-BE49-F238E27FC236}">
                <a16:creationId xmlns:a16="http://schemas.microsoft.com/office/drawing/2014/main" id="{7AA46D8D-12F9-4291-BDA9-D9B76CCC7749}"/>
              </a:ext>
            </a:extLst>
          </p:cNvPr>
          <p:cNvCxnSpPr>
            <a:cxnSpLocks/>
            <a:stCxn id="204" idx="0"/>
            <a:endCxn id="10" idx="2"/>
          </p:cNvCxnSpPr>
          <p:nvPr/>
        </p:nvCxnSpPr>
        <p:spPr>
          <a:xfrm rot="5400000" flipH="1" flipV="1">
            <a:off x="1995326" y="2590718"/>
            <a:ext cx="690562" cy="23670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0" name="肘形连接符 211">
            <a:extLst>
              <a:ext uri="{FF2B5EF4-FFF2-40B4-BE49-F238E27FC236}">
                <a16:creationId xmlns:a16="http://schemas.microsoft.com/office/drawing/2014/main" id="{59948BF2-7E51-49DC-AC1F-89BDD2216EEE}"/>
              </a:ext>
            </a:extLst>
          </p:cNvPr>
          <p:cNvCxnSpPr>
            <a:cxnSpLocks/>
            <a:stCxn id="205" idx="0"/>
            <a:endCxn id="10" idx="2"/>
          </p:cNvCxnSpPr>
          <p:nvPr/>
        </p:nvCxnSpPr>
        <p:spPr>
          <a:xfrm rot="16200000" flipV="1">
            <a:off x="2190892" y="2631854"/>
            <a:ext cx="690562" cy="15442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3" name="肘形连接符 211">
            <a:extLst>
              <a:ext uri="{FF2B5EF4-FFF2-40B4-BE49-F238E27FC236}">
                <a16:creationId xmlns:a16="http://schemas.microsoft.com/office/drawing/2014/main" id="{F8283621-0A5B-4360-A4C7-888FEAA81376}"/>
              </a:ext>
            </a:extLst>
          </p:cNvPr>
          <p:cNvCxnSpPr>
            <a:cxnSpLocks/>
            <a:stCxn id="218" idx="0"/>
            <a:endCxn id="10" idx="2"/>
          </p:cNvCxnSpPr>
          <p:nvPr/>
        </p:nvCxnSpPr>
        <p:spPr>
          <a:xfrm rot="16200000" flipV="1">
            <a:off x="2377718" y="2445028"/>
            <a:ext cx="690562" cy="52808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6" name="肘形连接符 211">
            <a:extLst>
              <a:ext uri="{FF2B5EF4-FFF2-40B4-BE49-F238E27FC236}">
                <a16:creationId xmlns:a16="http://schemas.microsoft.com/office/drawing/2014/main" id="{64C36FD0-3CB1-47EF-9FE5-9C27CDE2A394}"/>
              </a:ext>
            </a:extLst>
          </p:cNvPr>
          <p:cNvCxnSpPr>
            <a:cxnSpLocks/>
            <a:stCxn id="230" idx="0"/>
            <a:endCxn id="10" idx="2"/>
          </p:cNvCxnSpPr>
          <p:nvPr/>
        </p:nvCxnSpPr>
        <p:spPr>
          <a:xfrm rot="16200000" flipV="1">
            <a:off x="2563231" y="2259516"/>
            <a:ext cx="690561" cy="89910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9" name="肘形连接符 116">
            <a:extLst>
              <a:ext uri="{FF2B5EF4-FFF2-40B4-BE49-F238E27FC236}">
                <a16:creationId xmlns:a16="http://schemas.microsoft.com/office/drawing/2014/main" id="{8759B54D-EB93-4793-88D6-6883D2125EC9}"/>
              </a:ext>
            </a:extLst>
          </p:cNvPr>
          <p:cNvCxnSpPr>
            <a:cxnSpLocks/>
            <a:stCxn id="223" idx="0"/>
            <a:endCxn id="11" idx="2"/>
          </p:cNvCxnSpPr>
          <p:nvPr/>
        </p:nvCxnSpPr>
        <p:spPr>
          <a:xfrm rot="16200000" flipV="1">
            <a:off x="4192118" y="2450717"/>
            <a:ext cx="690562" cy="51670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57" name="肘形连接符 41">
            <a:extLst>
              <a:ext uri="{FF2B5EF4-FFF2-40B4-BE49-F238E27FC236}">
                <a16:creationId xmlns:a16="http://schemas.microsoft.com/office/drawing/2014/main" id="{7C15FAEB-7E00-48D3-B595-34E88DE10BE8}"/>
              </a:ext>
            </a:extLst>
          </p:cNvPr>
          <p:cNvCxnSpPr>
            <a:cxnSpLocks/>
            <a:stCxn id="185" idx="0"/>
            <a:endCxn id="96" idx="2"/>
          </p:cNvCxnSpPr>
          <p:nvPr/>
        </p:nvCxnSpPr>
        <p:spPr>
          <a:xfrm rot="5400000" flipH="1" flipV="1">
            <a:off x="7007241" y="2696710"/>
            <a:ext cx="711199" cy="408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60" name="肘形连接符 296">
            <a:extLst>
              <a:ext uri="{FF2B5EF4-FFF2-40B4-BE49-F238E27FC236}">
                <a16:creationId xmlns:a16="http://schemas.microsoft.com/office/drawing/2014/main" id="{3FB76932-86AA-4CB6-978F-99CE0EB064C9}"/>
              </a:ext>
            </a:extLst>
          </p:cNvPr>
          <p:cNvCxnSpPr>
            <a:cxnSpLocks/>
            <a:stCxn id="201" idx="0"/>
            <a:endCxn id="67" idx="2"/>
          </p:cNvCxnSpPr>
          <p:nvPr/>
        </p:nvCxnSpPr>
        <p:spPr>
          <a:xfrm rot="16200000" flipV="1">
            <a:off x="7797792" y="4322166"/>
            <a:ext cx="553847" cy="52431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70" name="肘形连接符 300">
            <a:extLst>
              <a:ext uri="{FF2B5EF4-FFF2-40B4-BE49-F238E27FC236}">
                <a16:creationId xmlns:a16="http://schemas.microsoft.com/office/drawing/2014/main" id="{78BDE869-56D1-443C-B17F-E191E3A72D3E}"/>
              </a:ext>
            </a:extLst>
          </p:cNvPr>
          <p:cNvCxnSpPr>
            <a:cxnSpLocks/>
            <a:stCxn id="161" idx="0"/>
            <a:endCxn id="151" idx="2"/>
          </p:cNvCxnSpPr>
          <p:nvPr/>
        </p:nvCxnSpPr>
        <p:spPr>
          <a:xfrm rot="16200000" flipV="1">
            <a:off x="9514200" y="4421771"/>
            <a:ext cx="553849" cy="325107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80" name="肘形连接符 300">
            <a:extLst>
              <a:ext uri="{FF2B5EF4-FFF2-40B4-BE49-F238E27FC236}">
                <a16:creationId xmlns:a16="http://schemas.microsoft.com/office/drawing/2014/main" id="{55E988BE-7598-44CA-83C8-51257F601D15}"/>
              </a:ext>
            </a:extLst>
          </p:cNvPr>
          <p:cNvCxnSpPr>
            <a:cxnSpLocks/>
            <a:stCxn id="176" idx="0"/>
            <a:endCxn id="150" idx="2"/>
          </p:cNvCxnSpPr>
          <p:nvPr/>
        </p:nvCxnSpPr>
        <p:spPr>
          <a:xfrm rot="5400000" flipH="1" flipV="1">
            <a:off x="10134534" y="4446032"/>
            <a:ext cx="553849" cy="27658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83" name="肘形连接符 300">
            <a:extLst>
              <a:ext uri="{FF2B5EF4-FFF2-40B4-BE49-F238E27FC236}">
                <a16:creationId xmlns:a16="http://schemas.microsoft.com/office/drawing/2014/main" id="{AA5CCBFB-FE52-4DEB-B475-AD9B67AA82D6}"/>
              </a:ext>
            </a:extLst>
          </p:cNvPr>
          <p:cNvCxnSpPr>
            <a:cxnSpLocks/>
            <a:stCxn id="177" idx="0"/>
            <a:endCxn id="150" idx="2"/>
          </p:cNvCxnSpPr>
          <p:nvPr/>
        </p:nvCxnSpPr>
        <p:spPr>
          <a:xfrm rot="16200000" flipV="1">
            <a:off x="10278908" y="4578244"/>
            <a:ext cx="553849" cy="1216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86" name="肘形连接符 300">
            <a:extLst>
              <a:ext uri="{FF2B5EF4-FFF2-40B4-BE49-F238E27FC236}">
                <a16:creationId xmlns:a16="http://schemas.microsoft.com/office/drawing/2014/main" id="{817818A8-347C-4BCD-BAFB-B7680712312F}"/>
              </a:ext>
            </a:extLst>
          </p:cNvPr>
          <p:cNvCxnSpPr>
            <a:cxnSpLocks/>
            <a:stCxn id="178" idx="0"/>
            <a:endCxn id="150" idx="2"/>
          </p:cNvCxnSpPr>
          <p:nvPr/>
        </p:nvCxnSpPr>
        <p:spPr>
          <a:xfrm rot="16200000" flipV="1">
            <a:off x="10421783" y="4435369"/>
            <a:ext cx="553849" cy="29791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50876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4447577" cy="1569660"/>
            <a:chOff x="3099114" y="2429363"/>
            <a:chExt cx="4447577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26468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数据关系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03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4" name="图片 3" descr="资源 58@4x-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740" y="3326130"/>
            <a:ext cx="4123690" cy="4585970"/>
          </a:xfrm>
          <a:prstGeom prst="rect">
            <a:avLst/>
          </a:prstGeom>
        </p:spPr>
      </p:pic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4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7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E88DD0C6-B4BE-4107-9375-5DAF46FB4049}"/>
              </a:ext>
            </a:extLst>
          </p:cNvPr>
          <p:cNvSpPr/>
          <p:nvPr/>
        </p:nvSpPr>
        <p:spPr>
          <a:xfrm>
            <a:off x="6647545" y="3598702"/>
            <a:ext cx="5107302" cy="20515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F87C180-24EB-4D40-A9DC-ACBE6AC3F255}"/>
              </a:ext>
            </a:extLst>
          </p:cNvPr>
          <p:cNvSpPr/>
          <p:nvPr/>
        </p:nvSpPr>
        <p:spPr>
          <a:xfrm>
            <a:off x="2106907" y="3598701"/>
            <a:ext cx="2723679" cy="2051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</a:rPr>
              <a:t>系统间数据流转及关系</a:t>
            </a:r>
          </a:p>
        </p:txBody>
      </p:sp>
      <p:sp>
        <p:nvSpPr>
          <p:cNvPr id="8" name="圆角矩形 61">
            <a:extLst>
              <a:ext uri="{FF2B5EF4-FFF2-40B4-BE49-F238E27FC236}">
                <a16:creationId xmlns:a16="http://schemas.microsoft.com/office/drawing/2014/main" id="{A1E3F95F-7C2E-43BF-BC23-6C2EF1E164B8}"/>
              </a:ext>
            </a:extLst>
          </p:cNvPr>
          <p:cNvSpPr/>
          <p:nvPr/>
        </p:nvSpPr>
        <p:spPr>
          <a:xfrm>
            <a:off x="2191252" y="5155173"/>
            <a:ext cx="2525128" cy="36048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生产管理系统</a:t>
            </a:r>
          </a:p>
        </p:txBody>
      </p:sp>
      <p:sp>
        <p:nvSpPr>
          <p:cNvPr id="5" name="流程图: 磁盘 4">
            <a:extLst>
              <a:ext uri="{FF2B5EF4-FFF2-40B4-BE49-F238E27FC236}">
                <a16:creationId xmlns:a16="http://schemas.microsoft.com/office/drawing/2014/main" id="{3CD1C8AD-91FE-4A0E-9FF5-35A770A68400}"/>
              </a:ext>
            </a:extLst>
          </p:cNvPr>
          <p:cNvSpPr/>
          <p:nvPr/>
        </p:nvSpPr>
        <p:spPr>
          <a:xfrm>
            <a:off x="2406024" y="3777311"/>
            <a:ext cx="1001321" cy="51025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设备空间数据库</a:t>
            </a:r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738B19FC-BB8F-4875-BA91-654806877B37}"/>
              </a:ext>
            </a:extLst>
          </p:cNvPr>
          <p:cNvSpPr/>
          <p:nvPr/>
        </p:nvSpPr>
        <p:spPr>
          <a:xfrm>
            <a:off x="3600910" y="3788167"/>
            <a:ext cx="1001321" cy="53150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人员基本信息</a:t>
            </a:r>
          </a:p>
        </p:txBody>
      </p:sp>
      <p:sp>
        <p:nvSpPr>
          <p:cNvPr id="9" name="圆角矩形 61">
            <a:extLst>
              <a:ext uri="{FF2B5EF4-FFF2-40B4-BE49-F238E27FC236}">
                <a16:creationId xmlns:a16="http://schemas.microsoft.com/office/drawing/2014/main" id="{6C9D53F4-9F6A-4827-9CDE-406A9487D94E}"/>
              </a:ext>
            </a:extLst>
          </p:cNvPr>
          <p:cNvSpPr/>
          <p:nvPr/>
        </p:nvSpPr>
        <p:spPr>
          <a:xfrm>
            <a:off x="6883776" y="5143860"/>
            <a:ext cx="1544782" cy="3604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UWB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实时定位</a:t>
            </a:r>
          </a:p>
        </p:txBody>
      </p:sp>
      <p:sp>
        <p:nvSpPr>
          <p:cNvPr id="10" name="圆角矩形 61">
            <a:extLst>
              <a:ext uri="{FF2B5EF4-FFF2-40B4-BE49-F238E27FC236}">
                <a16:creationId xmlns:a16="http://schemas.microsoft.com/office/drawing/2014/main" id="{828A28B6-740A-4741-B024-213450B3D4BF}"/>
              </a:ext>
            </a:extLst>
          </p:cNvPr>
          <p:cNvSpPr/>
          <p:nvPr/>
        </p:nvSpPr>
        <p:spPr>
          <a:xfrm>
            <a:off x="8662737" y="5143860"/>
            <a:ext cx="1437678" cy="3604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二维地图制作</a:t>
            </a:r>
          </a:p>
        </p:txBody>
      </p:sp>
      <p:sp>
        <p:nvSpPr>
          <p:cNvPr id="11" name="圆角矩形 61">
            <a:extLst>
              <a:ext uri="{FF2B5EF4-FFF2-40B4-BE49-F238E27FC236}">
                <a16:creationId xmlns:a16="http://schemas.microsoft.com/office/drawing/2014/main" id="{472157E7-0BEF-4744-BFB7-3D3A8950A031}"/>
              </a:ext>
            </a:extLst>
          </p:cNvPr>
          <p:cNvSpPr/>
          <p:nvPr/>
        </p:nvSpPr>
        <p:spPr>
          <a:xfrm>
            <a:off x="10218886" y="5143143"/>
            <a:ext cx="1343459" cy="3604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GIS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智能导航</a:t>
            </a:r>
            <a:endParaRPr lang="en-US" altLang="zh-CN" sz="1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8A49D9E-FD1D-4609-93BA-3197DBBC8BE1}"/>
              </a:ext>
            </a:extLst>
          </p:cNvPr>
          <p:cNvCxnSpPr/>
          <p:nvPr/>
        </p:nvCxnSpPr>
        <p:spPr>
          <a:xfrm>
            <a:off x="4932950" y="4114814"/>
            <a:ext cx="1612231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B4FE171-A9FE-4D93-9B0B-6231F5BCDD93}"/>
              </a:ext>
            </a:extLst>
          </p:cNvPr>
          <p:cNvSpPr txBox="1"/>
          <p:nvPr/>
        </p:nvSpPr>
        <p:spPr>
          <a:xfrm>
            <a:off x="5089361" y="37560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设备信息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7C0880F-6834-492C-93B9-8D69CA122DAB}"/>
              </a:ext>
            </a:extLst>
          </p:cNvPr>
          <p:cNvCxnSpPr/>
          <p:nvPr/>
        </p:nvCxnSpPr>
        <p:spPr>
          <a:xfrm>
            <a:off x="4894478" y="4714853"/>
            <a:ext cx="1612231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EA7B689-BE1E-4D92-A78D-7D1F4447D03E}"/>
              </a:ext>
            </a:extLst>
          </p:cNvPr>
          <p:cNvSpPr txBox="1"/>
          <p:nvPr/>
        </p:nvSpPr>
        <p:spPr>
          <a:xfrm>
            <a:off x="4836814" y="435611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人员和标签绑定</a:t>
            </a:r>
          </a:p>
        </p:txBody>
      </p:sp>
      <p:sp>
        <p:nvSpPr>
          <p:cNvPr id="15" name="圆角矩形 26">
            <a:extLst>
              <a:ext uri="{FF2B5EF4-FFF2-40B4-BE49-F238E27FC236}">
                <a16:creationId xmlns:a16="http://schemas.microsoft.com/office/drawing/2014/main" id="{A94FEA59-E670-4F6A-8FA5-9AFD20624178}"/>
              </a:ext>
            </a:extLst>
          </p:cNvPr>
          <p:cNvSpPr/>
          <p:nvPr/>
        </p:nvSpPr>
        <p:spPr>
          <a:xfrm>
            <a:off x="2851834" y="1191667"/>
            <a:ext cx="2099306" cy="1726376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3FA002-5139-4878-BC40-600CB0D52126}"/>
              </a:ext>
            </a:extLst>
          </p:cNvPr>
          <p:cNvSpPr/>
          <p:nvPr/>
        </p:nvSpPr>
        <p:spPr>
          <a:xfrm>
            <a:off x="2851833" y="1238733"/>
            <a:ext cx="1800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设备基本信息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D220BA-7082-4F28-94AC-ED8A8B074922}"/>
              </a:ext>
            </a:extLst>
          </p:cNvPr>
          <p:cNvSpPr/>
          <p:nvPr/>
        </p:nvSpPr>
        <p:spPr>
          <a:xfrm>
            <a:off x="2982820" y="1558628"/>
            <a:ext cx="17881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楼层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状态（缺陷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正常）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圆角矩形 26">
            <a:extLst>
              <a:ext uri="{FF2B5EF4-FFF2-40B4-BE49-F238E27FC236}">
                <a16:creationId xmlns:a16="http://schemas.microsoft.com/office/drawing/2014/main" id="{9F85DA93-B562-4651-A57F-EDE52B3CD80D}"/>
              </a:ext>
            </a:extLst>
          </p:cNvPr>
          <p:cNvSpPr/>
          <p:nvPr/>
        </p:nvSpPr>
        <p:spPr>
          <a:xfrm>
            <a:off x="5214132" y="1211767"/>
            <a:ext cx="1800493" cy="1706275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D6647EE-0C19-4086-87F6-29D1D8DD2274}"/>
              </a:ext>
            </a:extLst>
          </p:cNvPr>
          <p:cNvSpPr/>
          <p:nvPr/>
        </p:nvSpPr>
        <p:spPr>
          <a:xfrm>
            <a:off x="5214132" y="1258834"/>
            <a:ext cx="1800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人员信息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A41FEE1-BCEF-4520-AEB6-48E4E912FB1A}"/>
              </a:ext>
            </a:extLst>
          </p:cNvPr>
          <p:cNvSpPr/>
          <p:nvPr/>
        </p:nvSpPr>
        <p:spPr>
          <a:xfrm>
            <a:off x="5345118" y="1578729"/>
            <a:ext cx="15747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定位标签编码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姓名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圆角矩形 26">
            <a:extLst>
              <a:ext uri="{FF2B5EF4-FFF2-40B4-BE49-F238E27FC236}">
                <a16:creationId xmlns:a16="http://schemas.microsoft.com/office/drawing/2014/main" id="{83CD4164-F208-40A2-A78D-B9F314CA1BAA}"/>
              </a:ext>
            </a:extLst>
          </p:cNvPr>
          <p:cNvSpPr/>
          <p:nvPr/>
        </p:nvSpPr>
        <p:spPr>
          <a:xfrm>
            <a:off x="7267521" y="1231825"/>
            <a:ext cx="2634467" cy="1686218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4E6307F-219D-4030-9767-58EDB1F4A9C8}"/>
              </a:ext>
            </a:extLst>
          </p:cNvPr>
          <p:cNvSpPr/>
          <p:nvPr/>
        </p:nvSpPr>
        <p:spPr>
          <a:xfrm>
            <a:off x="7398507" y="1598786"/>
            <a:ext cx="23951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任务单号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目标点基本信息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巡检人员信息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附带关注设备信息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310DD7-4D2A-4E31-BA0A-8E713E70DC4B}"/>
              </a:ext>
            </a:extLst>
          </p:cNvPr>
          <p:cNvSpPr/>
          <p:nvPr/>
        </p:nvSpPr>
        <p:spPr>
          <a:xfrm>
            <a:off x="7267520" y="1242734"/>
            <a:ext cx="1831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巡检信息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04972BC-F217-4877-9C7A-F034FFBC26B8}"/>
              </a:ext>
            </a:extLst>
          </p:cNvPr>
          <p:cNvCxnSpPr>
            <a:cxnSpLocks/>
          </p:cNvCxnSpPr>
          <p:nvPr/>
        </p:nvCxnSpPr>
        <p:spPr>
          <a:xfrm>
            <a:off x="4857983" y="5324453"/>
            <a:ext cx="1671091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10482E8-D9F5-4339-A199-AFF3D5AE1F01}"/>
              </a:ext>
            </a:extLst>
          </p:cNvPr>
          <p:cNvSpPr txBox="1"/>
          <p:nvPr/>
        </p:nvSpPr>
        <p:spPr>
          <a:xfrm>
            <a:off x="4802448" y="4965718"/>
            <a:ext cx="1726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巡检基本信息</a:t>
            </a:r>
          </a:p>
        </p:txBody>
      </p:sp>
      <p:sp>
        <p:nvSpPr>
          <p:cNvPr id="32" name="圆角矩形 61">
            <a:extLst>
              <a:ext uri="{FF2B5EF4-FFF2-40B4-BE49-F238E27FC236}">
                <a16:creationId xmlns:a16="http://schemas.microsoft.com/office/drawing/2014/main" id="{164363F8-99B6-451B-835C-1E013DD863AE}"/>
              </a:ext>
            </a:extLst>
          </p:cNvPr>
          <p:cNvSpPr/>
          <p:nvPr/>
        </p:nvSpPr>
        <p:spPr>
          <a:xfrm>
            <a:off x="512981" y="3905231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贝壳采集</a:t>
            </a:r>
          </a:p>
        </p:txBody>
      </p:sp>
      <p:sp>
        <p:nvSpPr>
          <p:cNvPr id="33" name="圆角矩形 61">
            <a:extLst>
              <a:ext uri="{FF2B5EF4-FFF2-40B4-BE49-F238E27FC236}">
                <a16:creationId xmlns:a16="http://schemas.microsoft.com/office/drawing/2014/main" id="{FEF1EF5F-8745-4A80-A7DB-8249E46907A9}"/>
              </a:ext>
            </a:extLst>
          </p:cNvPr>
          <p:cNvSpPr/>
          <p:nvPr/>
        </p:nvSpPr>
        <p:spPr>
          <a:xfrm>
            <a:off x="512981" y="4902740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信息补录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69A2285-7F53-4441-B134-539B153E2816}"/>
              </a:ext>
            </a:extLst>
          </p:cNvPr>
          <p:cNvCxnSpPr>
            <a:cxnSpLocks/>
          </p:cNvCxnSpPr>
          <p:nvPr/>
        </p:nvCxnSpPr>
        <p:spPr>
          <a:xfrm>
            <a:off x="1452585" y="4113028"/>
            <a:ext cx="65432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A429BB5-A624-4ECC-9310-F430EFC48481}"/>
              </a:ext>
            </a:extLst>
          </p:cNvPr>
          <p:cNvCxnSpPr>
            <a:cxnSpLocks/>
          </p:cNvCxnSpPr>
          <p:nvPr/>
        </p:nvCxnSpPr>
        <p:spPr>
          <a:xfrm>
            <a:off x="1452585" y="5101969"/>
            <a:ext cx="65432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流程图: 磁盘 36">
            <a:extLst>
              <a:ext uri="{FF2B5EF4-FFF2-40B4-BE49-F238E27FC236}">
                <a16:creationId xmlns:a16="http://schemas.microsoft.com/office/drawing/2014/main" id="{A8246E7E-6992-490B-957A-3226EA2CA7E7}"/>
              </a:ext>
            </a:extLst>
          </p:cNvPr>
          <p:cNvSpPr/>
          <p:nvPr/>
        </p:nvSpPr>
        <p:spPr>
          <a:xfrm>
            <a:off x="7308719" y="4437846"/>
            <a:ext cx="1003889" cy="44783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风险区域、电子围栏</a:t>
            </a:r>
          </a:p>
        </p:txBody>
      </p:sp>
      <p:sp>
        <p:nvSpPr>
          <p:cNvPr id="38" name="流程图: 磁盘 37">
            <a:extLst>
              <a:ext uri="{FF2B5EF4-FFF2-40B4-BE49-F238E27FC236}">
                <a16:creationId xmlns:a16="http://schemas.microsoft.com/office/drawing/2014/main" id="{16B53E48-2689-45AA-8335-E6D28EEB2CFD}"/>
              </a:ext>
            </a:extLst>
          </p:cNvPr>
          <p:cNvSpPr/>
          <p:nvPr/>
        </p:nvSpPr>
        <p:spPr>
          <a:xfrm>
            <a:off x="8768176" y="3877782"/>
            <a:ext cx="947789" cy="4710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二维地图数据</a:t>
            </a:r>
          </a:p>
        </p:txBody>
      </p:sp>
      <p:sp>
        <p:nvSpPr>
          <p:cNvPr id="39" name="流程图: 磁盘 38">
            <a:extLst>
              <a:ext uri="{FF2B5EF4-FFF2-40B4-BE49-F238E27FC236}">
                <a16:creationId xmlns:a16="http://schemas.microsoft.com/office/drawing/2014/main" id="{4A3B9BB9-A286-4288-896C-9E7AC37A813B}"/>
              </a:ext>
            </a:extLst>
          </p:cNvPr>
          <p:cNvSpPr/>
          <p:nvPr/>
        </p:nvSpPr>
        <p:spPr>
          <a:xfrm>
            <a:off x="7324164" y="3821007"/>
            <a:ext cx="898929" cy="51623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人员定位标签</a:t>
            </a:r>
          </a:p>
        </p:txBody>
      </p:sp>
      <p:sp>
        <p:nvSpPr>
          <p:cNvPr id="40" name="流程图: 磁盘 39">
            <a:extLst>
              <a:ext uri="{FF2B5EF4-FFF2-40B4-BE49-F238E27FC236}">
                <a16:creationId xmlns:a16="http://schemas.microsoft.com/office/drawing/2014/main" id="{6A591ECD-09D2-4A0A-86BC-D9F991ADA437}"/>
              </a:ext>
            </a:extLst>
          </p:cNvPr>
          <p:cNvSpPr/>
          <p:nvPr/>
        </p:nvSpPr>
        <p:spPr>
          <a:xfrm>
            <a:off x="8759146" y="4424051"/>
            <a:ext cx="947789" cy="50818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路网拓扑</a:t>
            </a:r>
          </a:p>
        </p:txBody>
      </p:sp>
      <p:sp>
        <p:nvSpPr>
          <p:cNvPr id="41" name="流程图: 磁盘 40">
            <a:extLst>
              <a:ext uri="{FF2B5EF4-FFF2-40B4-BE49-F238E27FC236}">
                <a16:creationId xmlns:a16="http://schemas.microsoft.com/office/drawing/2014/main" id="{DA6414FA-4241-4A5B-ADFA-00BFA5FD503D}"/>
              </a:ext>
            </a:extLst>
          </p:cNvPr>
          <p:cNvSpPr/>
          <p:nvPr/>
        </p:nvSpPr>
        <p:spPr>
          <a:xfrm>
            <a:off x="10129567" y="3904964"/>
            <a:ext cx="972284" cy="4710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巡检轨迹及统计库</a:t>
            </a:r>
          </a:p>
        </p:txBody>
      </p:sp>
      <p:sp>
        <p:nvSpPr>
          <p:cNvPr id="42" name="流程图: 磁盘 41">
            <a:extLst>
              <a:ext uri="{FF2B5EF4-FFF2-40B4-BE49-F238E27FC236}">
                <a16:creationId xmlns:a16="http://schemas.microsoft.com/office/drawing/2014/main" id="{3D7A42D0-4B07-4573-A193-7E634DF87E81}"/>
              </a:ext>
            </a:extLst>
          </p:cNvPr>
          <p:cNvSpPr/>
          <p:nvPr/>
        </p:nvSpPr>
        <p:spPr>
          <a:xfrm>
            <a:off x="10112396" y="4495983"/>
            <a:ext cx="972284" cy="38969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图例等配置库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652DAD-137F-4D58-99E1-79D15EA6EF23}"/>
              </a:ext>
            </a:extLst>
          </p:cNvPr>
          <p:cNvSpPr txBox="1"/>
          <p:nvPr/>
        </p:nvSpPr>
        <p:spPr>
          <a:xfrm>
            <a:off x="3407345" y="6269891"/>
            <a:ext cx="830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设备等数据的</a:t>
            </a:r>
            <a:r>
              <a:rPr lang="en-US" altLang="zh-CN" dirty="0"/>
              <a:t>XY</a:t>
            </a:r>
            <a:r>
              <a:rPr lang="zh-CN" altLang="en-US" dirty="0"/>
              <a:t>值以贝壳采集的坐标系为准，系统提供相关坐标系转换功能。</a:t>
            </a:r>
          </a:p>
        </p:txBody>
      </p:sp>
      <p:sp>
        <p:nvSpPr>
          <p:cNvPr id="43" name="流程图: 磁盘 42">
            <a:extLst>
              <a:ext uri="{FF2B5EF4-FFF2-40B4-BE49-F238E27FC236}">
                <a16:creationId xmlns:a16="http://schemas.microsoft.com/office/drawing/2014/main" id="{B18463F3-E7A2-4F0B-B3AA-E4F8739D7194}"/>
              </a:ext>
            </a:extLst>
          </p:cNvPr>
          <p:cNvSpPr/>
          <p:nvPr/>
        </p:nvSpPr>
        <p:spPr>
          <a:xfrm>
            <a:off x="2406024" y="4485127"/>
            <a:ext cx="1001321" cy="51025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巡检信息库</a:t>
            </a:r>
          </a:p>
        </p:txBody>
      </p:sp>
      <p:sp>
        <p:nvSpPr>
          <p:cNvPr id="44" name="流程图: 磁盘 43">
            <a:extLst>
              <a:ext uri="{FF2B5EF4-FFF2-40B4-BE49-F238E27FC236}">
                <a16:creationId xmlns:a16="http://schemas.microsoft.com/office/drawing/2014/main" id="{AAFEC39F-8988-49B7-A569-63D7AC2D9E25}"/>
              </a:ext>
            </a:extLst>
          </p:cNvPr>
          <p:cNvSpPr/>
          <p:nvPr/>
        </p:nvSpPr>
        <p:spPr>
          <a:xfrm>
            <a:off x="3600910" y="4495983"/>
            <a:ext cx="1001321" cy="53150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权限及基础库</a:t>
            </a:r>
          </a:p>
        </p:txBody>
      </p:sp>
    </p:spTree>
    <p:extLst>
      <p:ext uri="{BB962C8B-B14F-4D97-AF65-F5344CB8AC3E}">
        <p14:creationId xmlns:p14="http://schemas.microsoft.com/office/powerpoint/2010/main" val="276489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5678684" cy="1569660"/>
            <a:chOff x="3099114" y="2429363"/>
            <a:chExt cx="5678684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387798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主要功能原型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04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3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18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-GIS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展示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E7E7568-3312-4027-981C-2ED10BA647D8}"/>
              </a:ext>
            </a:extLst>
          </p:cNvPr>
          <p:cNvSpPr txBox="1"/>
          <p:nvPr/>
        </p:nvSpPr>
        <p:spPr>
          <a:xfrm>
            <a:off x="4309144" y="2361566"/>
            <a:ext cx="116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罗盘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BAFCDE3-3809-4DDB-8186-8635D75B7FAF}"/>
              </a:ext>
            </a:extLst>
          </p:cNvPr>
          <p:cNvSpPr txBox="1"/>
          <p:nvPr/>
        </p:nvSpPr>
        <p:spPr>
          <a:xfrm>
            <a:off x="4309144" y="5152577"/>
            <a:ext cx="116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楼层切换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E1A3AC8-4BEF-472B-A41B-C47723CAB305}"/>
              </a:ext>
            </a:extLst>
          </p:cNvPr>
          <p:cNvSpPr txBox="1"/>
          <p:nvPr/>
        </p:nvSpPr>
        <p:spPr>
          <a:xfrm>
            <a:off x="4309143" y="5519318"/>
            <a:ext cx="1691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3D</a:t>
            </a:r>
            <a:r>
              <a:rPr kumimoji="1" lang="zh-CN" altLang="en-US" dirty="0"/>
              <a:t>切换</a:t>
            </a:r>
          </a:p>
        </p:txBody>
      </p:sp>
      <p:sp>
        <p:nvSpPr>
          <p:cNvPr id="21" name="箭头: 左 20">
            <a:extLst>
              <a:ext uri="{FF2B5EF4-FFF2-40B4-BE49-F238E27FC236}">
                <a16:creationId xmlns:a16="http://schemas.microsoft.com/office/drawing/2014/main" id="{0D436B29-A4EB-422B-B5D4-5420A115D155}"/>
              </a:ext>
            </a:extLst>
          </p:cNvPr>
          <p:cNvSpPr/>
          <p:nvPr/>
        </p:nvSpPr>
        <p:spPr>
          <a:xfrm>
            <a:off x="3830545" y="2505601"/>
            <a:ext cx="545274" cy="98398"/>
          </a:xfrm>
          <a:prstGeom prst="leftArrow">
            <a:avLst/>
          </a:prstGeom>
          <a:solidFill>
            <a:srgbClr val="2064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箭头: 左 48">
            <a:extLst>
              <a:ext uri="{FF2B5EF4-FFF2-40B4-BE49-F238E27FC236}">
                <a16:creationId xmlns:a16="http://schemas.microsoft.com/office/drawing/2014/main" id="{BBB205DC-8BFF-4B93-B853-8236BDE338DA}"/>
              </a:ext>
            </a:extLst>
          </p:cNvPr>
          <p:cNvSpPr/>
          <p:nvPr/>
        </p:nvSpPr>
        <p:spPr>
          <a:xfrm>
            <a:off x="3830545" y="5288044"/>
            <a:ext cx="545274" cy="98398"/>
          </a:xfrm>
          <a:prstGeom prst="leftArrow">
            <a:avLst/>
          </a:prstGeom>
          <a:solidFill>
            <a:srgbClr val="2064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箭头: 左 49">
            <a:extLst>
              <a:ext uri="{FF2B5EF4-FFF2-40B4-BE49-F238E27FC236}">
                <a16:creationId xmlns:a16="http://schemas.microsoft.com/office/drawing/2014/main" id="{0463800E-2008-4846-9BE7-8D01FB8C3826}"/>
              </a:ext>
            </a:extLst>
          </p:cNvPr>
          <p:cNvSpPr/>
          <p:nvPr/>
        </p:nvSpPr>
        <p:spPr>
          <a:xfrm>
            <a:off x="3843914" y="5656678"/>
            <a:ext cx="545274" cy="98398"/>
          </a:xfrm>
          <a:prstGeom prst="leftArrow">
            <a:avLst/>
          </a:prstGeom>
          <a:solidFill>
            <a:srgbClr val="2064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E75E6C4-5A63-4B8F-BD48-FE6CA4413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04168"/>
            <a:ext cx="2937544" cy="4887132"/>
          </a:xfrm>
          <a:prstGeom prst="rect">
            <a:avLst/>
          </a:prstGeom>
        </p:spPr>
      </p:pic>
      <p:sp>
        <p:nvSpPr>
          <p:cNvPr id="51" name="箭头: 左 50">
            <a:extLst>
              <a:ext uri="{FF2B5EF4-FFF2-40B4-BE49-F238E27FC236}">
                <a16:creationId xmlns:a16="http://schemas.microsoft.com/office/drawing/2014/main" id="{FB3B0154-C1B6-4172-BABA-96CB9F319007}"/>
              </a:ext>
            </a:extLst>
          </p:cNvPr>
          <p:cNvSpPr/>
          <p:nvPr/>
        </p:nvSpPr>
        <p:spPr>
          <a:xfrm rot="10800000">
            <a:off x="1189612" y="5687453"/>
            <a:ext cx="545274" cy="98398"/>
          </a:xfrm>
          <a:prstGeom prst="leftArrow">
            <a:avLst/>
          </a:prstGeom>
          <a:solidFill>
            <a:srgbClr val="2064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1F208A-D0AC-4F1A-8433-031EBF057FFA}"/>
              </a:ext>
            </a:extLst>
          </p:cNvPr>
          <p:cNvSpPr txBox="1"/>
          <p:nvPr/>
        </p:nvSpPr>
        <p:spPr>
          <a:xfrm>
            <a:off x="46868" y="5551360"/>
            <a:ext cx="110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定位原点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A0B9428-5B00-47A0-A175-3F290C9236B8}"/>
              </a:ext>
            </a:extLst>
          </p:cNvPr>
          <p:cNvSpPr txBox="1"/>
          <p:nvPr/>
        </p:nvSpPr>
        <p:spPr>
          <a:xfrm>
            <a:off x="5212276" y="6314199"/>
            <a:ext cx="7074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界面原型的配色、部件样式、地图内容颜色等会再详细设计里确定。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65A4B8D-3B43-413C-B9BC-1E8828E35C79}"/>
              </a:ext>
            </a:extLst>
          </p:cNvPr>
          <p:cNvSpPr txBox="1"/>
          <p:nvPr/>
        </p:nvSpPr>
        <p:spPr>
          <a:xfrm>
            <a:off x="1151512" y="847682"/>
            <a:ext cx="10667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地图展示以组件的方式提供，各个业务系统可以直接嵌入调用。支持罗盘、楼层切换、</a:t>
            </a:r>
            <a:r>
              <a:rPr lang="en-US" altLang="zh-CN" dirty="0"/>
              <a:t>2D3D</a:t>
            </a:r>
            <a:r>
              <a:rPr lang="zh-CN" altLang="en-US" dirty="0"/>
              <a:t>切换等。移动端支持手滑地图拖动、放大缩小等基本操作。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12474A9A-A933-4CBB-89AA-0E7F33365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050" y="1494013"/>
            <a:ext cx="6482011" cy="502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04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dirty="0">
                <a:solidFill>
                  <a:schemeClr val="tx1"/>
                </a:solidFill>
              </a:rPr>
              <a:t>POI</a:t>
            </a:r>
            <a:r>
              <a:rPr lang="zh-CN" altLang="en-US" dirty="0">
                <a:solidFill>
                  <a:schemeClr val="tx1"/>
                </a:solidFill>
              </a:rPr>
              <a:t>搜索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F9307A-3046-4B55-B677-47A88EF733D3}"/>
              </a:ext>
            </a:extLst>
          </p:cNvPr>
          <p:cNvSpPr/>
          <p:nvPr/>
        </p:nvSpPr>
        <p:spPr>
          <a:xfrm>
            <a:off x="745067" y="1693702"/>
            <a:ext cx="2723679" cy="9447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输入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297F55-0AC4-472D-95E3-A4636D716FC1}"/>
              </a:ext>
            </a:extLst>
          </p:cNvPr>
          <p:cNvSpPr/>
          <p:nvPr/>
        </p:nvSpPr>
        <p:spPr>
          <a:xfrm>
            <a:off x="745067" y="3204288"/>
            <a:ext cx="2723679" cy="9447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匹配内容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054C7B-CE3A-4781-9454-4818971BF35A}"/>
              </a:ext>
            </a:extLst>
          </p:cNvPr>
          <p:cNvSpPr/>
          <p:nvPr/>
        </p:nvSpPr>
        <p:spPr>
          <a:xfrm>
            <a:off x="745066" y="4747338"/>
            <a:ext cx="2723679" cy="94472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输出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圆角矩形 61">
            <a:extLst>
              <a:ext uri="{FF2B5EF4-FFF2-40B4-BE49-F238E27FC236}">
                <a16:creationId xmlns:a16="http://schemas.microsoft.com/office/drawing/2014/main" id="{4B6284F9-65AB-460D-8522-26117C9EFAEE}"/>
              </a:ext>
            </a:extLst>
          </p:cNvPr>
          <p:cNvSpPr/>
          <p:nvPr/>
        </p:nvSpPr>
        <p:spPr>
          <a:xfrm>
            <a:off x="1030760" y="212262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文字输入</a:t>
            </a:r>
          </a:p>
        </p:txBody>
      </p:sp>
      <p:sp>
        <p:nvSpPr>
          <p:cNvPr id="17" name="圆角矩形 61">
            <a:extLst>
              <a:ext uri="{FF2B5EF4-FFF2-40B4-BE49-F238E27FC236}">
                <a16:creationId xmlns:a16="http://schemas.microsoft.com/office/drawing/2014/main" id="{BC13C68C-D5F5-4A2C-982B-23027A7E72B4}"/>
              </a:ext>
            </a:extLst>
          </p:cNvPr>
          <p:cNvSpPr/>
          <p:nvPr/>
        </p:nvSpPr>
        <p:spPr>
          <a:xfrm>
            <a:off x="2256056" y="2124110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语音输入</a:t>
            </a:r>
          </a:p>
        </p:txBody>
      </p:sp>
      <p:sp>
        <p:nvSpPr>
          <p:cNvPr id="18" name="圆角矩形 61">
            <a:extLst>
              <a:ext uri="{FF2B5EF4-FFF2-40B4-BE49-F238E27FC236}">
                <a16:creationId xmlns:a16="http://schemas.microsoft.com/office/drawing/2014/main" id="{C8B77AF4-CA3F-4F45-9C7A-797C367A58D0}"/>
              </a:ext>
            </a:extLst>
          </p:cNvPr>
          <p:cNvSpPr/>
          <p:nvPr/>
        </p:nvSpPr>
        <p:spPr>
          <a:xfrm>
            <a:off x="1030760" y="367516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设备名称</a:t>
            </a:r>
          </a:p>
        </p:txBody>
      </p:sp>
      <p:sp>
        <p:nvSpPr>
          <p:cNvPr id="19" name="圆角矩形 61">
            <a:extLst>
              <a:ext uri="{FF2B5EF4-FFF2-40B4-BE49-F238E27FC236}">
                <a16:creationId xmlns:a16="http://schemas.microsoft.com/office/drawing/2014/main" id="{44431FE1-7639-4532-847B-BF97BD85738D}"/>
              </a:ext>
            </a:extLst>
          </p:cNvPr>
          <p:cNvSpPr/>
          <p:nvPr/>
        </p:nvSpPr>
        <p:spPr>
          <a:xfrm>
            <a:off x="2256056" y="3676650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设备编码</a:t>
            </a:r>
          </a:p>
        </p:txBody>
      </p:sp>
      <p:sp>
        <p:nvSpPr>
          <p:cNvPr id="20" name="圆角矩形 61">
            <a:extLst>
              <a:ext uri="{FF2B5EF4-FFF2-40B4-BE49-F238E27FC236}">
                <a16:creationId xmlns:a16="http://schemas.microsoft.com/office/drawing/2014/main" id="{1A798617-D229-47E3-B890-49A8484BB0EE}"/>
              </a:ext>
            </a:extLst>
          </p:cNvPr>
          <p:cNvSpPr/>
          <p:nvPr/>
        </p:nvSpPr>
        <p:spPr>
          <a:xfrm>
            <a:off x="1030760" y="520872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设备列表</a:t>
            </a:r>
          </a:p>
        </p:txBody>
      </p:sp>
      <p:sp>
        <p:nvSpPr>
          <p:cNvPr id="22" name="圆角矩形 61">
            <a:extLst>
              <a:ext uri="{FF2B5EF4-FFF2-40B4-BE49-F238E27FC236}">
                <a16:creationId xmlns:a16="http://schemas.microsoft.com/office/drawing/2014/main" id="{6F171164-E42B-4CB9-A3B7-6F20B955EFBF}"/>
              </a:ext>
            </a:extLst>
          </p:cNvPr>
          <p:cNvSpPr/>
          <p:nvPr/>
        </p:nvSpPr>
        <p:spPr>
          <a:xfrm>
            <a:off x="2256056" y="5210210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地图展示</a:t>
            </a:r>
          </a:p>
        </p:txBody>
      </p:sp>
      <p:sp>
        <p:nvSpPr>
          <p:cNvPr id="4" name="箭头: 下 3">
            <a:extLst>
              <a:ext uri="{FF2B5EF4-FFF2-40B4-BE49-F238E27FC236}">
                <a16:creationId xmlns:a16="http://schemas.microsoft.com/office/drawing/2014/main" id="{D0265852-7CEA-4C80-A67C-23FECEEB83D0}"/>
              </a:ext>
            </a:extLst>
          </p:cNvPr>
          <p:cNvSpPr/>
          <p:nvPr/>
        </p:nvSpPr>
        <p:spPr>
          <a:xfrm>
            <a:off x="2007037" y="2647935"/>
            <a:ext cx="229969" cy="461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2FE779E0-F370-4927-8276-A3FC878802EF}"/>
              </a:ext>
            </a:extLst>
          </p:cNvPr>
          <p:cNvSpPr/>
          <p:nvPr/>
        </p:nvSpPr>
        <p:spPr>
          <a:xfrm>
            <a:off x="1967568" y="4233904"/>
            <a:ext cx="229969" cy="461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57062E7-9DF9-4DD3-AE7A-E74569885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223" y="1693703"/>
            <a:ext cx="2410189" cy="3998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261AABA-6459-405B-985D-B41CA2D82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498" y="1693704"/>
            <a:ext cx="2252598" cy="39983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96D1271-445B-4399-B96C-93C80EE5A64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6978" y="3119621"/>
            <a:ext cx="152401" cy="16933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B3947AF-8266-464E-AC5A-EC51FC451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6060" y="2878486"/>
            <a:ext cx="152400" cy="1524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98CB14E4-AEEE-42F2-B49C-F22B01A6F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890" y="4720625"/>
            <a:ext cx="150752" cy="150752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EF80538E-C405-42F5-B9B4-247FB867F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076" y="3356689"/>
            <a:ext cx="152400" cy="1524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6593E082-F898-4FC7-89B1-228EA8979C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2510917"/>
            <a:ext cx="201943" cy="201943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F8EE440A-408E-4B5E-A95E-D4ADD5074255}"/>
              </a:ext>
            </a:extLst>
          </p:cNvPr>
          <p:cNvSpPr txBox="1"/>
          <p:nvPr/>
        </p:nvSpPr>
        <p:spPr>
          <a:xfrm>
            <a:off x="1114425" y="855666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系统提供通过语音和文字输入两种方式的</a:t>
            </a:r>
            <a:r>
              <a:rPr lang="en-US" altLang="zh-CN" dirty="0"/>
              <a:t>POI</a:t>
            </a:r>
            <a:r>
              <a:rPr lang="zh-CN" altLang="en-US" dirty="0"/>
              <a:t>检索功能，并可列表和地图展示搜索结果。</a:t>
            </a:r>
          </a:p>
        </p:txBody>
      </p:sp>
    </p:spTree>
    <p:extLst>
      <p:ext uri="{BB962C8B-B14F-4D97-AF65-F5344CB8AC3E}">
        <p14:creationId xmlns:p14="http://schemas.microsoft.com/office/powerpoint/2010/main" val="3192121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18F6C66-3C83-4179-B770-88DC1DEBE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836" y="1148068"/>
            <a:ext cx="2457143" cy="4885714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导航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圆角矩形 61">
            <a:extLst>
              <a:ext uri="{FF2B5EF4-FFF2-40B4-BE49-F238E27FC236}">
                <a16:creationId xmlns:a16="http://schemas.microsoft.com/office/drawing/2014/main" id="{B05C5727-55E5-4266-A5A6-40BB88E9C4C1}"/>
              </a:ext>
            </a:extLst>
          </p:cNvPr>
          <p:cNvSpPr/>
          <p:nvPr/>
        </p:nvSpPr>
        <p:spPr>
          <a:xfrm>
            <a:off x="1189256" y="216753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线路规划</a:t>
            </a:r>
          </a:p>
        </p:txBody>
      </p:sp>
      <p:sp>
        <p:nvSpPr>
          <p:cNvPr id="26" name="圆角矩形 61">
            <a:extLst>
              <a:ext uri="{FF2B5EF4-FFF2-40B4-BE49-F238E27FC236}">
                <a16:creationId xmlns:a16="http://schemas.microsoft.com/office/drawing/2014/main" id="{0F138EDF-544C-4353-A11D-D7DB9A8610B5}"/>
              </a:ext>
            </a:extLst>
          </p:cNvPr>
          <p:cNvSpPr/>
          <p:nvPr/>
        </p:nvSpPr>
        <p:spPr>
          <a:xfrm>
            <a:off x="1189256" y="313318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导航</a:t>
            </a:r>
            <a:endParaRPr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圆角矩形 61">
            <a:extLst>
              <a:ext uri="{FF2B5EF4-FFF2-40B4-BE49-F238E27FC236}">
                <a16:creationId xmlns:a16="http://schemas.microsoft.com/office/drawing/2014/main" id="{9D4B8583-0E93-4BC5-A6E3-0D9B9B0543A9}"/>
              </a:ext>
            </a:extLst>
          </p:cNvPr>
          <p:cNvSpPr/>
          <p:nvPr/>
        </p:nvSpPr>
        <p:spPr>
          <a:xfrm>
            <a:off x="2494181" y="2167532"/>
            <a:ext cx="939604" cy="3604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线路详情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75420E3-6AE2-4F7D-B0BA-781FEA9B908F}"/>
              </a:ext>
            </a:extLst>
          </p:cNvPr>
          <p:cNvSpPr/>
          <p:nvPr/>
        </p:nvSpPr>
        <p:spPr bwMode="auto">
          <a:xfrm>
            <a:off x="1894355" y="3994473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模拟导航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A45EFB-D2FB-4AA2-BC58-764893969987}"/>
              </a:ext>
            </a:extLst>
          </p:cNvPr>
          <p:cNvSpPr/>
          <p:nvPr/>
        </p:nvSpPr>
        <p:spPr bwMode="auto">
          <a:xfrm>
            <a:off x="1188318" y="3994473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语音路线实时指引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E9A2799-7B6A-4FAA-8B91-2DC38ECE6EA1}"/>
              </a:ext>
            </a:extLst>
          </p:cNvPr>
          <p:cNvSpPr/>
          <p:nvPr/>
        </p:nvSpPr>
        <p:spPr bwMode="auto">
          <a:xfrm>
            <a:off x="1657951" y="3994473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偏航重新规划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1D14932-5DBC-4E55-8CC0-2E04E26E207A}"/>
              </a:ext>
            </a:extLst>
          </p:cNvPr>
          <p:cNvSpPr/>
          <p:nvPr/>
        </p:nvSpPr>
        <p:spPr bwMode="auto">
          <a:xfrm>
            <a:off x="1423135" y="3994473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跨楼层导航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34" name="肘形连接符 81">
            <a:extLst>
              <a:ext uri="{FF2B5EF4-FFF2-40B4-BE49-F238E27FC236}">
                <a16:creationId xmlns:a16="http://schemas.microsoft.com/office/drawing/2014/main" id="{7F831A38-4AB9-463F-9853-32C6AB3A42C2}"/>
              </a:ext>
            </a:extLst>
          </p:cNvPr>
          <p:cNvCxnSpPr>
            <a:cxnSpLocks/>
            <a:stCxn id="31" idx="0"/>
          </p:cNvCxnSpPr>
          <p:nvPr/>
        </p:nvCxnSpPr>
        <p:spPr>
          <a:xfrm rot="5400000" flipH="1" flipV="1">
            <a:off x="1211236" y="3539261"/>
            <a:ext cx="534792" cy="37563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5" name="肘形连接符 84">
            <a:extLst>
              <a:ext uri="{FF2B5EF4-FFF2-40B4-BE49-F238E27FC236}">
                <a16:creationId xmlns:a16="http://schemas.microsoft.com/office/drawing/2014/main" id="{EADA7CB5-3958-44BD-B779-CEBA936952B2}"/>
              </a:ext>
            </a:extLst>
          </p:cNvPr>
          <p:cNvCxnSpPr>
            <a:cxnSpLocks/>
            <a:stCxn id="33" idx="0"/>
          </p:cNvCxnSpPr>
          <p:nvPr/>
        </p:nvCxnSpPr>
        <p:spPr>
          <a:xfrm rot="5400000" flipH="1" flipV="1">
            <a:off x="1328644" y="3656669"/>
            <a:ext cx="534792" cy="14081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9" name="肘形连接符 87">
            <a:extLst>
              <a:ext uri="{FF2B5EF4-FFF2-40B4-BE49-F238E27FC236}">
                <a16:creationId xmlns:a16="http://schemas.microsoft.com/office/drawing/2014/main" id="{D90450DC-64F1-427E-8258-7C013B2A8C64}"/>
              </a:ext>
            </a:extLst>
          </p:cNvPr>
          <p:cNvCxnSpPr>
            <a:cxnSpLocks/>
            <a:stCxn id="32" idx="0"/>
          </p:cNvCxnSpPr>
          <p:nvPr/>
        </p:nvCxnSpPr>
        <p:spPr>
          <a:xfrm rot="16200000" flipV="1">
            <a:off x="1446053" y="3680076"/>
            <a:ext cx="534792" cy="9400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40" name="肘形连接符 90">
            <a:extLst>
              <a:ext uri="{FF2B5EF4-FFF2-40B4-BE49-F238E27FC236}">
                <a16:creationId xmlns:a16="http://schemas.microsoft.com/office/drawing/2014/main" id="{C068C205-83B5-4591-9961-B604CEFA8EFE}"/>
              </a:ext>
            </a:extLst>
          </p:cNvPr>
          <p:cNvCxnSpPr>
            <a:cxnSpLocks/>
            <a:stCxn id="30" idx="0"/>
          </p:cNvCxnSpPr>
          <p:nvPr/>
        </p:nvCxnSpPr>
        <p:spPr>
          <a:xfrm rot="16200000" flipV="1">
            <a:off x="1564255" y="3561874"/>
            <a:ext cx="534792" cy="33040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" name="箭头: 右 1">
            <a:extLst>
              <a:ext uri="{FF2B5EF4-FFF2-40B4-BE49-F238E27FC236}">
                <a16:creationId xmlns:a16="http://schemas.microsoft.com/office/drawing/2014/main" id="{20DBE897-4EC0-4C1E-844D-6AA6E53D4F93}"/>
              </a:ext>
            </a:extLst>
          </p:cNvPr>
          <p:cNvSpPr/>
          <p:nvPr/>
        </p:nvSpPr>
        <p:spPr>
          <a:xfrm>
            <a:off x="2128860" y="2354611"/>
            <a:ext cx="36532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2E90A03D-BCA4-4A7A-97DC-9706919AE4ED}"/>
              </a:ext>
            </a:extLst>
          </p:cNvPr>
          <p:cNvSpPr/>
          <p:nvPr/>
        </p:nvSpPr>
        <p:spPr>
          <a:xfrm rot="5400000">
            <a:off x="1350981" y="2779616"/>
            <a:ext cx="588767" cy="802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52B10A76-164D-4C05-BE81-7EC2A65BEB29}"/>
              </a:ext>
            </a:extLst>
          </p:cNvPr>
          <p:cNvSpPr/>
          <p:nvPr/>
        </p:nvSpPr>
        <p:spPr>
          <a:xfrm rot="5400000">
            <a:off x="1341789" y="1835663"/>
            <a:ext cx="588767" cy="802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圆角矩形 61">
            <a:extLst>
              <a:ext uri="{FF2B5EF4-FFF2-40B4-BE49-F238E27FC236}">
                <a16:creationId xmlns:a16="http://schemas.microsoft.com/office/drawing/2014/main" id="{0B978B0F-A309-4EBC-B1DD-29C50B701B4C}"/>
              </a:ext>
            </a:extLst>
          </p:cNvPr>
          <p:cNvSpPr/>
          <p:nvPr/>
        </p:nvSpPr>
        <p:spPr>
          <a:xfrm>
            <a:off x="1188149" y="1211406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目的地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66DAA3-BEE5-4CCE-A78D-D77043FB4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027" y="1646462"/>
            <a:ext cx="2373423" cy="3024285"/>
          </a:xfrm>
          <a:prstGeom prst="rect">
            <a:avLst/>
          </a:prstGeom>
          <a:ln>
            <a:noFill/>
          </a:ln>
        </p:spPr>
      </p:pic>
      <p:cxnSp>
        <p:nvCxnSpPr>
          <p:cNvPr id="44" name="Straight Arrow Connector 19">
            <a:extLst>
              <a:ext uri="{FF2B5EF4-FFF2-40B4-BE49-F238E27FC236}">
                <a16:creationId xmlns:a16="http://schemas.microsoft.com/office/drawing/2014/main" id="{8F32E4C1-2FCC-4924-807E-4D84B4C9D811}"/>
              </a:ext>
            </a:extLst>
          </p:cNvPr>
          <p:cNvCxnSpPr>
            <a:cxnSpLocks/>
          </p:cNvCxnSpPr>
          <p:nvPr/>
        </p:nvCxnSpPr>
        <p:spPr>
          <a:xfrm>
            <a:off x="5681550" y="1830530"/>
            <a:ext cx="958578" cy="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98211F53-88E1-40E8-9022-08CDF11D5F4B}"/>
              </a:ext>
            </a:extLst>
          </p:cNvPr>
          <p:cNvSpPr txBox="1"/>
          <p:nvPr/>
        </p:nvSpPr>
        <p:spPr>
          <a:xfrm>
            <a:off x="6562609" y="1550227"/>
            <a:ext cx="114311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楼层标识</a:t>
            </a:r>
          </a:p>
        </p:txBody>
      </p:sp>
      <p:cxnSp>
        <p:nvCxnSpPr>
          <p:cNvPr id="46" name="Straight Arrow Connector 19">
            <a:extLst>
              <a:ext uri="{FF2B5EF4-FFF2-40B4-BE49-F238E27FC236}">
                <a16:creationId xmlns:a16="http://schemas.microsoft.com/office/drawing/2014/main" id="{F96154E7-F5FF-47EA-8F27-E64818A336A8}"/>
              </a:ext>
            </a:extLst>
          </p:cNvPr>
          <p:cNvCxnSpPr>
            <a:cxnSpLocks/>
          </p:cNvCxnSpPr>
          <p:nvPr/>
        </p:nvCxnSpPr>
        <p:spPr>
          <a:xfrm>
            <a:off x="5700600" y="2754455"/>
            <a:ext cx="958578" cy="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BEB5E59-0021-44C2-8DD3-08117F59ACA0}"/>
              </a:ext>
            </a:extLst>
          </p:cNvPr>
          <p:cNvSpPr txBox="1"/>
          <p:nvPr/>
        </p:nvSpPr>
        <p:spPr>
          <a:xfrm>
            <a:off x="6581659" y="2474152"/>
            <a:ext cx="114311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路线详情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1AA8AEF4-3C23-4B87-B1C4-4CE4CF353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5709" y="1148069"/>
            <a:ext cx="2552017" cy="4885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947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巡检导航应用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468B969-ACA2-4767-B72E-44045D1F5CF8}"/>
              </a:ext>
            </a:extLst>
          </p:cNvPr>
          <p:cNvSpPr/>
          <p:nvPr/>
        </p:nvSpPr>
        <p:spPr>
          <a:xfrm>
            <a:off x="640292" y="969802"/>
            <a:ext cx="2723679" cy="13161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输入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圆角矩形 61">
            <a:extLst>
              <a:ext uri="{FF2B5EF4-FFF2-40B4-BE49-F238E27FC236}">
                <a16:creationId xmlns:a16="http://schemas.microsoft.com/office/drawing/2014/main" id="{769E006D-8193-4BFA-B1FE-6D88900E6CE8}"/>
              </a:ext>
            </a:extLst>
          </p:cNvPr>
          <p:cNvSpPr/>
          <p:nvPr/>
        </p:nvSpPr>
        <p:spPr>
          <a:xfrm>
            <a:off x="721220" y="1398722"/>
            <a:ext cx="1180603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目的地点</a:t>
            </a:r>
          </a:p>
        </p:txBody>
      </p:sp>
      <p:sp>
        <p:nvSpPr>
          <p:cNvPr id="36" name="圆角矩形 61">
            <a:extLst>
              <a:ext uri="{FF2B5EF4-FFF2-40B4-BE49-F238E27FC236}">
                <a16:creationId xmlns:a16="http://schemas.microsoft.com/office/drawing/2014/main" id="{BB09869E-3B91-4CDE-B67C-88EB0C0592F8}"/>
              </a:ext>
            </a:extLst>
          </p:cNvPr>
          <p:cNvSpPr/>
          <p:nvPr/>
        </p:nvSpPr>
        <p:spPr>
          <a:xfrm>
            <a:off x="1996576" y="1400210"/>
            <a:ext cx="129907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巡检人员信息</a:t>
            </a:r>
          </a:p>
        </p:txBody>
      </p:sp>
      <p:sp>
        <p:nvSpPr>
          <p:cNvPr id="37" name="圆角矩形 26">
            <a:extLst>
              <a:ext uri="{FF2B5EF4-FFF2-40B4-BE49-F238E27FC236}">
                <a16:creationId xmlns:a16="http://schemas.microsoft.com/office/drawing/2014/main" id="{E7133231-1EE4-4C91-B2BB-725277273525}"/>
              </a:ext>
            </a:extLst>
          </p:cNvPr>
          <p:cNvSpPr/>
          <p:nvPr/>
        </p:nvSpPr>
        <p:spPr>
          <a:xfrm>
            <a:off x="4309159" y="1029742"/>
            <a:ext cx="2099306" cy="1726376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76E2CEB-7422-459E-BCEE-8AE46F3BAD8F}"/>
              </a:ext>
            </a:extLst>
          </p:cNvPr>
          <p:cNvSpPr/>
          <p:nvPr/>
        </p:nvSpPr>
        <p:spPr>
          <a:xfrm>
            <a:off x="4309158" y="1076808"/>
            <a:ext cx="1800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设备基本信息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B0DDD09-DF42-4EC4-A4C6-4D7641D8A23C}"/>
              </a:ext>
            </a:extLst>
          </p:cNvPr>
          <p:cNvSpPr/>
          <p:nvPr/>
        </p:nvSpPr>
        <p:spPr>
          <a:xfrm>
            <a:off x="4440145" y="1396703"/>
            <a:ext cx="17881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楼层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状态（缺陷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正常）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圆角矩形 26">
            <a:extLst>
              <a:ext uri="{FF2B5EF4-FFF2-40B4-BE49-F238E27FC236}">
                <a16:creationId xmlns:a16="http://schemas.microsoft.com/office/drawing/2014/main" id="{2472311A-851B-4D69-AE38-81B0636E108C}"/>
              </a:ext>
            </a:extLst>
          </p:cNvPr>
          <p:cNvSpPr/>
          <p:nvPr/>
        </p:nvSpPr>
        <p:spPr>
          <a:xfrm>
            <a:off x="6671457" y="1049842"/>
            <a:ext cx="1800493" cy="1706275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AE69D3C-7665-4C36-B4A5-A1625FFF74E6}"/>
              </a:ext>
            </a:extLst>
          </p:cNvPr>
          <p:cNvSpPr/>
          <p:nvPr/>
        </p:nvSpPr>
        <p:spPr>
          <a:xfrm>
            <a:off x="6671457" y="1096909"/>
            <a:ext cx="1800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人员信息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9DE1D92-EAC3-4712-885F-2F66C6B1C870}"/>
              </a:ext>
            </a:extLst>
          </p:cNvPr>
          <p:cNvSpPr/>
          <p:nvPr/>
        </p:nvSpPr>
        <p:spPr>
          <a:xfrm>
            <a:off x="6802443" y="1416804"/>
            <a:ext cx="15747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定位标签编码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姓名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圆角矩形 26">
            <a:extLst>
              <a:ext uri="{FF2B5EF4-FFF2-40B4-BE49-F238E27FC236}">
                <a16:creationId xmlns:a16="http://schemas.microsoft.com/office/drawing/2014/main" id="{FC4BDB5D-E859-4276-B5D3-4A718386465E}"/>
              </a:ext>
            </a:extLst>
          </p:cNvPr>
          <p:cNvSpPr/>
          <p:nvPr/>
        </p:nvSpPr>
        <p:spPr>
          <a:xfrm>
            <a:off x="8724846" y="1069900"/>
            <a:ext cx="2634467" cy="1686218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A84F65A-7D0E-495C-B153-B7DF75A76AA4}"/>
              </a:ext>
            </a:extLst>
          </p:cNvPr>
          <p:cNvSpPr/>
          <p:nvPr/>
        </p:nvSpPr>
        <p:spPr>
          <a:xfrm>
            <a:off x="8855832" y="1436861"/>
            <a:ext cx="23951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任务单号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目标点基本信息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巡检人员信息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附带关注设备信息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4B53530-A0DF-4387-91C8-259BD9CA1E70}"/>
              </a:ext>
            </a:extLst>
          </p:cNvPr>
          <p:cNvSpPr/>
          <p:nvPr/>
        </p:nvSpPr>
        <p:spPr>
          <a:xfrm>
            <a:off x="8724845" y="1080809"/>
            <a:ext cx="1831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巡检信息</a:t>
            </a:r>
          </a:p>
        </p:txBody>
      </p:sp>
      <p:sp>
        <p:nvSpPr>
          <p:cNvPr id="58" name="圆角矩形 61">
            <a:extLst>
              <a:ext uri="{FF2B5EF4-FFF2-40B4-BE49-F238E27FC236}">
                <a16:creationId xmlns:a16="http://schemas.microsoft.com/office/drawing/2014/main" id="{72F09A36-6996-4FA4-9E51-A38AE884A758}"/>
              </a:ext>
            </a:extLst>
          </p:cNvPr>
          <p:cNvSpPr/>
          <p:nvPr/>
        </p:nvSpPr>
        <p:spPr>
          <a:xfrm>
            <a:off x="727912" y="1867491"/>
            <a:ext cx="1180603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关注的信息</a:t>
            </a:r>
          </a:p>
        </p:txBody>
      </p:sp>
      <p:sp>
        <p:nvSpPr>
          <p:cNvPr id="59" name="圆角矩形 61">
            <a:extLst>
              <a:ext uri="{FF2B5EF4-FFF2-40B4-BE49-F238E27FC236}">
                <a16:creationId xmlns:a16="http://schemas.microsoft.com/office/drawing/2014/main" id="{5BE4A840-B16A-4FC8-92EE-35C3D2DABCB0}"/>
              </a:ext>
            </a:extLst>
          </p:cNvPr>
          <p:cNvSpPr/>
          <p:nvPr/>
        </p:nvSpPr>
        <p:spPr>
          <a:xfrm>
            <a:off x="1982396" y="1852303"/>
            <a:ext cx="129907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任务单等信息</a:t>
            </a:r>
          </a:p>
        </p:txBody>
      </p:sp>
      <p:sp>
        <p:nvSpPr>
          <p:cNvPr id="60" name="圆角矩形 61">
            <a:extLst>
              <a:ext uri="{FF2B5EF4-FFF2-40B4-BE49-F238E27FC236}">
                <a16:creationId xmlns:a16="http://schemas.microsoft.com/office/drawing/2014/main" id="{F81FCE74-DDDE-42A5-809B-016FF065359A}"/>
              </a:ext>
            </a:extLst>
          </p:cNvPr>
          <p:cNvSpPr/>
          <p:nvPr/>
        </p:nvSpPr>
        <p:spPr>
          <a:xfrm>
            <a:off x="1436906" y="264378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线路规划</a:t>
            </a:r>
          </a:p>
        </p:txBody>
      </p:sp>
      <p:sp>
        <p:nvSpPr>
          <p:cNvPr id="61" name="圆角矩形 61">
            <a:extLst>
              <a:ext uri="{FF2B5EF4-FFF2-40B4-BE49-F238E27FC236}">
                <a16:creationId xmlns:a16="http://schemas.microsoft.com/office/drawing/2014/main" id="{0A5F04C0-68FF-43BF-9A79-AFB134A3596F}"/>
              </a:ext>
            </a:extLst>
          </p:cNvPr>
          <p:cNvSpPr/>
          <p:nvPr/>
        </p:nvSpPr>
        <p:spPr>
          <a:xfrm>
            <a:off x="1436906" y="360943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巡检导航</a:t>
            </a:r>
            <a:endParaRPr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4D7D6ED3-958E-4AFB-9D92-8630974A2301}"/>
              </a:ext>
            </a:extLst>
          </p:cNvPr>
          <p:cNvSpPr/>
          <p:nvPr/>
        </p:nvSpPr>
        <p:spPr>
          <a:xfrm>
            <a:off x="2741831" y="2643782"/>
            <a:ext cx="939604" cy="3604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线路详情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AA884C7-250D-43E8-89A5-B504E20D2AB6}"/>
              </a:ext>
            </a:extLst>
          </p:cNvPr>
          <p:cNvSpPr/>
          <p:nvPr/>
        </p:nvSpPr>
        <p:spPr bwMode="auto">
          <a:xfrm>
            <a:off x="1199030" y="51279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模拟导航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83DDCAB-EEB7-406C-97D3-413158E3BD50}"/>
              </a:ext>
            </a:extLst>
          </p:cNvPr>
          <p:cNvSpPr/>
          <p:nvPr/>
        </p:nvSpPr>
        <p:spPr bwMode="auto">
          <a:xfrm>
            <a:off x="492993" y="51279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语音路线实时指引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014404C-56B9-4A03-AE14-E05FC4F56E9A}"/>
              </a:ext>
            </a:extLst>
          </p:cNvPr>
          <p:cNvSpPr/>
          <p:nvPr/>
        </p:nvSpPr>
        <p:spPr bwMode="auto">
          <a:xfrm>
            <a:off x="962626" y="51279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偏航重新规划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BB24ABE-8D13-4E4C-9910-9E99828CE622}"/>
              </a:ext>
            </a:extLst>
          </p:cNvPr>
          <p:cNvSpPr/>
          <p:nvPr/>
        </p:nvSpPr>
        <p:spPr bwMode="auto">
          <a:xfrm>
            <a:off x="727810" y="5127948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跨楼层导航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67" name="肘形连接符 81">
            <a:extLst>
              <a:ext uri="{FF2B5EF4-FFF2-40B4-BE49-F238E27FC236}">
                <a16:creationId xmlns:a16="http://schemas.microsoft.com/office/drawing/2014/main" id="{6192BB33-BB63-4884-BD3F-97F7DCB6DFF5}"/>
              </a:ext>
            </a:extLst>
          </p:cNvPr>
          <p:cNvCxnSpPr>
            <a:cxnSpLocks/>
            <a:stCxn id="64" idx="0"/>
          </p:cNvCxnSpPr>
          <p:nvPr/>
        </p:nvCxnSpPr>
        <p:spPr>
          <a:xfrm rot="5400000" flipH="1" flipV="1">
            <a:off x="515911" y="4672736"/>
            <a:ext cx="534792" cy="37563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68" name="肘形连接符 84">
            <a:extLst>
              <a:ext uri="{FF2B5EF4-FFF2-40B4-BE49-F238E27FC236}">
                <a16:creationId xmlns:a16="http://schemas.microsoft.com/office/drawing/2014/main" id="{CB9919F4-23BC-46DA-9632-1178CABA39CE}"/>
              </a:ext>
            </a:extLst>
          </p:cNvPr>
          <p:cNvCxnSpPr>
            <a:cxnSpLocks/>
            <a:stCxn id="66" idx="0"/>
          </p:cNvCxnSpPr>
          <p:nvPr/>
        </p:nvCxnSpPr>
        <p:spPr>
          <a:xfrm rot="5400000" flipH="1" flipV="1">
            <a:off x="633319" y="4790144"/>
            <a:ext cx="534792" cy="14081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69" name="肘形连接符 87">
            <a:extLst>
              <a:ext uri="{FF2B5EF4-FFF2-40B4-BE49-F238E27FC236}">
                <a16:creationId xmlns:a16="http://schemas.microsoft.com/office/drawing/2014/main" id="{8D92ABD8-9354-478E-AF0C-7BA7B8FED081}"/>
              </a:ext>
            </a:extLst>
          </p:cNvPr>
          <p:cNvCxnSpPr>
            <a:cxnSpLocks/>
            <a:stCxn id="65" idx="0"/>
          </p:cNvCxnSpPr>
          <p:nvPr/>
        </p:nvCxnSpPr>
        <p:spPr>
          <a:xfrm rot="16200000" flipV="1">
            <a:off x="750728" y="4813551"/>
            <a:ext cx="534792" cy="9400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0" name="肘形连接符 90">
            <a:extLst>
              <a:ext uri="{FF2B5EF4-FFF2-40B4-BE49-F238E27FC236}">
                <a16:creationId xmlns:a16="http://schemas.microsoft.com/office/drawing/2014/main" id="{65731866-D9CD-4596-9D06-FE08D5AF6BA4}"/>
              </a:ext>
            </a:extLst>
          </p:cNvPr>
          <p:cNvCxnSpPr>
            <a:cxnSpLocks/>
            <a:stCxn id="63" idx="0"/>
          </p:cNvCxnSpPr>
          <p:nvPr/>
        </p:nvCxnSpPr>
        <p:spPr>
          <a:xfrm rot="16200000" flipV="1">
            <a:off x="868930" y="4695349"/>
            <a:ext cx="534792" cy="33040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71" name="箭头: 右 70">
            <a:extLst>
              <a:ext uri="{FF2B5EF4-FFF2-40B4-BE49-F238E27FC236}">
                <a16:creationId xmlns:a16="http://schemas.microsoft.com/office/drawing/2014/main" id="{370B8174-6E11-4AC1-A2D6-BCE61FB6810E}"/>
              </a:ext>
            </a:extLst>
          </p:cNvPr>
          <p:cNvSpPr/>
          <p:nvPr/>
        </p:nvSpPr>
        <p:spPr>
          <a:xfrm>
            <a:off x="2376510" y="2830861"/>
            <a:ext cx="36532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箭头: 右 71">
            <a:extLst>
              <a:ext uri="{FF2B5EF4-FFF2-40B4-BE49-F238E27FC236}">
                <a16:creationId xmlns:a16="http://schemas.microsoft.com/office/drawing/2014/main" id="{4A549518-4508-4803-B1FA-A14FFB6F6422}"/>
              </a:ext>
            </a:extLst>
          </p:cNvPr>
          <p:cNvSpPr/>
          <p:nvPr/>
        </p:nvSpPr>
        <p:spPr>
          <a:xfrm rot="5400000">
            <a:off x="1598631" y="3255866"/>
            <a:ext cx="588767" cy="802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箭头: 右 72">
            <a:extLst>
              <a:ext uri="{FF2B5EF4-FFF2-40B4-BE49-F238E27FC236}">
                <a16:creationId xmlns:a16="http://schemas.microsoft.com/office/drawing/2014/main" id="{0C022D33-7144-487F-8961-033F592A700C}"/>
              </a:ext>
            </a:extLst>
          </p:cNvPr>
          <p:cNvSpPr/>
          <p:nvPr/>
        </p:nvSpPr>
        <p:spPr>
          <a:xfrm rot="5400000">
            <a:off x="1751551" y="2396761"/>
            <a:ext cx="348259" cy="1457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8DAB058-649F-4E2C-8D3A-E757B66ED3D6}"/>
              </a:ext>
            </a:extLst>
          </p:cNvPr>
          <p:cNvSpPr/>
          <p:nvPr/>
        </p:nvSpPr>
        <p:spPr bwMode="auto">
          <a:xfrm>
            <a:off x="2246946" y="5127949"/>
            <a:ext cx="206290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未关闭缺陷提示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BA225EE-BA98-43AF-80AB-0DA51EC9714F}"/>
              </a:ext>
            </a:extLst>
          </p:cNvPr>
          <p:cNvSpPr/>
          <p:nvPr/>
        </p:nvSpPr>
        <p:spPr bwMode="auto">
          <a:xfrm>
            <a:off x="2747346" y="5127949"/>
            <a:ext cx="229497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途径风险点提示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0228A02-325C-4ABD-B19B-607C7CCAC6E3}"/>
              </a:ext>
            </a:extLst>
          </p:cNvPr>
          <p:cNvSpPr/>
          <p:nvPr/>
        </p:nvSpPr>
        <p:spPr bwMode="auto">
          <a:xfrm>
            <a:off x="2495113" y="5127949"/>
            <a:ext cx="212034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关注的缺陷提示</a:t>
            </a:r>
          </a:p>
        </p:txBody>
      </p:sp>
      <p:cxnSp>
        <p:nvCxnSpPr>
          <p:cNvPr id="77" name="肘形连接符 81">
            <a:extLst>
              <a:ext uri="{FF2B5EF4-FFF2-40B4-BE49-F238E27FC236}">
                <a16:creationId xmlns:a16="http://schemas.microsoft.com/office/drawing/2014/main" id="{8E05C9C7-ACEB-4C6A-8DBD-6EFC0EADC192}"/>
              </a:ext>
            </a:extLst>
          </p:cNvPr>
          <p:cNvCxnSpPr>
            <a:cxnSpLocks/>
            <a:stCxn id="74" idx="0"/>
          </p:cNvCxnSpPr>
          <p:nvPr/>
        </p:nvCxnSpPr>
        <p:spPr>
          <a:xfrm rot="5400000" flipH="1" flipV="1">
            <a:off x="2256908" y="4688044"/>
            <a:ext cx="533089" cy="34672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8" name="肘形连接符 84">
            <a:extLst>
              <a:ext uri="{FF2B5EF4-FFF2-40B4-BE49-F238E27FC236}">
                <a16:creationId xmlns:a16="http://schemas.microsoft.com/office/drawing/2014/main" id="{95A77CAE-3036-4D10-980F-40398FB43A85}"/>
              </a:ext>
            </a:extLst>
          </p:cNvPr>
          <p:cNvCxnSpPr>
            <a:cxnSpLocks/>
            <a:stCxn id="76" idx="0"/>
          </p:cNvCxnSpPr>
          <p:nvPr/>
        </p:nvCxnSpPr>
        <p:spPr>
          <a:xfrm rot="5400000" flipH="1" flipV="1">
            <a:off x="2382428" y="4813563"/>
            <a:ext cx="533089" cy="9568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9" name="肘形连接符 87">
            <a:extLst>
              <a:ext uri="{FF2B5EF4-FFF2-40B4-BE49-F238E27FC236}">
                <a16:creationId xmlns:a16="http://schemas.microsoft.com/office/drawing/2014/main" id="{2026468B-2ABD-4EB0-88A6-B77BCF0B1525}"/>
              </a:ext>
            </a:extLst>
          </p:cNvPr>
          <p:cNvCxnSpPr>
            <a:cxnSpLocks/>
            <a:stCxn id="75" idx="0"/>
            <a:endCxn id="81" idx="2"/>
          </p:cNvCxnSpPr>
          <p:nvPr/>
        </p:nvCxnSpPr>
        <p:spPr>
          <a:xfrm rot="16200000" flipV="1">
            <a:off x="2510755" y="4776608"/>
            <a:ext cx="548336" cy="15434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80" name="圆角矩形 61">
            <a:extLst>
              <a:ext uri="{FF2B5EF4-FFF2-40B4-BE49-F238E27FC236}">
                <a16:creationId xmlns:a16="http://schemas.microsoft.com/office/drawing/2014/main" id="{5945696C-7818-49B2-9411-8DD384FD3BE5}"/>
              </a:ext>
            </a:extLst>
          </p:cNvPr>
          <p:cNvSpPr/>
          <p:nvPr/>
        </p:nvSpPr>
        <p:spPr>
          <a:xfrm>
            <a:off x="512950" y="4331970"/>
            <a:ext cx="939604" cy="27847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基本功能</a:t>
            </a:r>
            <a:endParaRPr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圆角矩形 61">
            <a:extLst>
              <a:ext uri="{FF2B5EF4-FFF2-40B4-BE49-F238E27FC236}">
                <a16:creationId xmlns:a16="http://schemas.microsoft.com/office/drawing/2014/main" id="{13AD07D4-B109-4E7C-AB5E-5E81B78B09D0}"/>
              </a:ext>
            </a:extLst>
          </p:cNvPr>
          <p:cNvSpPr/>
          <p:nvPr/>
        </p:nvSpPr>
        <p:spPr>
          <a:xfrm>
            <a:off x="2237948" y="4326456"/>
            <a:ext cx="939604" cy="253157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巡检功能</a:t>
            </a:r>
            <a:endParaRPr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2" name="肘形连接符 90">
            <a:extLst>
              <a:ext uri="{FF2B5EF4-FFF2-40B4-BE49-F238E27FC236}">
                <a16:creationId xmlns:a16="http://schemas.microsoft.com/office/drawing/2014/main" id="{2E67BE5B-342E-48B3-A380-96F9982E9947}"/>
              </a:ext>
            </a:extLst>
          </p:cNvPr>
          <p:cNvCxnSpPr>
            <a:cxnSpLocks/>
            <a:stCxn id="80" idx="0"/>
            <a:endCxn id="61" idx="2"/>
          </p:cNvCxnSpPr>
          <p:nvPr/>
        </p:nvCxnSpPr>
        <p:spPr>
          <a:xfrm rot="5400000" flipH="1" flipV="1">
            <a:off x="1263702" y="3688964"/>
            <a:ext cx="362057" cy="92395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83" name="肘形连接符 90">
            <a:extLst>
              <a:ext uri="{FF2B5EF4-FFF2-40B4-BE49-F238E27FC236}">
                <a16:creationId xmlns:a16="http://schemas.microsoft.com/office/drawing/2014/main" id="{3667F608-F96D-40B7-A987-2B3A49D414DA}"/>
              </a:ext>
            </a:extLst>
          </p:cNvPr>
          <p:cNvCxnSpPr>
            <a:cxnSpLocks/>
            <a:stCxn id="81" idx="0"/>
            <a:endCxn id="61" idx="2"/>
          </p:cNvCxnSpPr>
          <p:nvPr/>
        </p:nvCxnSpPr>
        <p:spPr>
          <a:xfrm rot="16200000" flipV="1">
            <a:off x="2128958" y="3747664"/>
            <a:ext cx="356543" cy="80104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A1E27A0F-CF09-4E2F-9061-E1B12EACA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714" y="2946353"/>
            <a:ext cx="2213989" cy="3743688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4A9EFBB0-E5DD-4580-8E03-4F4BF6DCE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581" y="5596442"/>
            <a:ext cx="152400" cy="152400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E24F2965-65B4-486D-8052-860FFC261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639" y="5051748"/>
            <a:ext cx="152400" cy="152400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A1F60D0A-553B-48EC-8C65-88E18D4E5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522" y="3764325"/>
            <a:ext cx="201943" cy="201943"/>
          </a:xfrm>
          <a:prstGeom prst="rect">
            <a:avLst/>
          </a:prstGeom>
        </p:spPr>
      </p:pic>
      <p:sp>
        <p:nvSpPr>
          <p:cNvPr id="87" name="圆角矩形 26">
            <a:extLst>
              <a:ext uri="{FF2B5EF4-FFF2-40B4-BE49-F238E27FC236}">
                <a16:creationId xmlns:a16="http://schemas.microsoft.com/office/drawing/2014/main" id="{33CAA85B-9CDE-4C06-BB3E-1C64491E8BFD}"/>
              </a:ext>
            </a:extLst>
          </p:cNvPr>
          <p:cNvSpPr/>
          <p:nvPr/>
        </p:nvSpPr>
        <p:spPr>
          <a:xfrm>
            <a:off x="7933653" y="3809859"/>
            <a:ext cx="2634467" cy="11056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9FFB73A-8A25-429B-AFC2-33992A266662}"/>
              </a:ext>
            </a:extLst>
          </p:cNvPr>
          <p:cNvSpPr/>
          <p:nvPr/>
        </p:nvSpPr>
        <p:spPr>
          <a:xfrm>
            <a:off x="8064639" y="4176820"/>
            <a:ext cx="23951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地图高亮显示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靠近语音提醒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4786CCA-70C8-44D2-B764-31586890500F}"/>
              </a:ext>
            </a:extLst>
          </p:cNvPr>
          <p:cNvSpPr/>
          <p:nvPr/>
        </p:nvSpPr>
        <p:spPr>
          <a:xfrm>
            <a:off x="8085285" y="3868725"/>
            <a:ext cx="1288165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途径关注点</a:t>
            </a:r>
          </a:p>
        </p:txBody>
      </p:sp>
    </p:spTree>
    <p:extLst>
      <p:ext uri="{BB962C8B-B14F-4D97-AF65-F5344CB8AC3E}">
        <p14:creationId xmlns:p14="http://schemas.microsoft.com/office/powerpoint/2010/main" val="891468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电子围栏维护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5DABE8-3528-45CD-B344-7EC6A388A8F2}"/>
              </a:ext>
            </a:extLst>
          </p:cNvPr>
          <p:cNvSpPr txBox="1"/>
          <p:nvPr/>
        </p:nvSpPr>
        <p:spPr>
          <a:xfrm>
            <a:off x="681254" y="924545"/>
            <a:ext cx="838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围栏绘制</a:t>
            </a:r>
            <a:r>
              <a:rPr lang="zh-CN" altLang="en-US" dirty="0"/>
              <a:t>：通过鼠标可视化的在地图上进行</a:t>
            </a:r>
            <a:r>
              <a:rPr lang="zh-CN" altLang="zh-CN" dirty="0"/>
              <a:t>绘制多边形，</a:t>
            </a:r>
            <a:r>
              <a:rPr lang="zh-CN" altLang="en-US" dirty="0"/>
              <a:t>并输入围栏基本信息。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BB42A9-3BCA-4E70-9945-FB4893A20FD8}"/>
              </a:ext>
            </a:extLst>
          </p:cNvPr>
          <p:cNvSpPr txBox="1"/>
          <p:nvPr/>
        </p:nvSpPr>
        <p:spPr>
          <a:xfrm>
            <a:off x="681254" y="1476995"/>
            <a:ext cx="838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删除围栏</a:t>
            </a:r>
            <a:r>
              <a:rPr lang="zh-CN" altLang="en-US" dirty="0"/>
              <a:t>：可通过鼠标在地图上选择围栏进行删除，也可以在列表中删除。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CB2067-DC1E-4037-AFEE-0B2543B69769}"/>
              </a:ext>
            </a:extLst>
          </p:cNvPr>
          <p:cNvSpPr txBox="1"/>
          <p:nvPr/>
        </p:nvSpPr>
        <p:spPr>
          <a:xfrm>
            <a:off x="652679" y="1991345"/>
            <a:ext cx="838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添加点</a:t>
            </a:r>
            <a:r>
              <a:rPr lang="zh-CN" altLang="en-US" dirty="0"/>
              <a:t>：通过鼠标在地图上选择围栏，激活编辑，通过左键进行点的添加。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780D165-2235-4CD0-8F78-11A7CA9AECB0}"/>
              </a:ext>
            </a:extLst>
          </p:cNvPr>
          <p:cNvSpPr txBox="1"/>
          <p:nvPr/>
        </p:nvSpPr>
        <p:spPr>
          <a:xfrm>
            <a:off x="652679" y="2567310"/>
            <a:ext cx="838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删除点</a:t>
            </a:r>
            <a:r>
              <a:rPr lang="zh-CN" altLang="en-US" dirty="0"/>
              <a:t>：</a:t>
            </a:r>
            <a:r>
              <a:rPr lang="zh-CN" altLang="zh-CN" dirty="0"/>
              <a:t>围栏编辑激活状态下，将鼠标移至已有点上点击左键删除。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78E6FAD-F361-4140-8F38-A31EFACFE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54" y="3272111"/>
            <a:ext cx="2520260" cy="321673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77EBEE6-81AF-4CC4-BCAE-051978FB9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600" y="3272111"/>
            <a:ext cx="8681475" cy="356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49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电子围栏类型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AA5F60-C780-4C1A-8344-AC0C0BAF5C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217" y="2550065"/>
            <a:ext cx="1770130" cy="3402148"/>
          </a:xfrm>
          <a:prstGeom prst="rect">
            <a:avLst/>
          </a:prstGeom>
        </p:spPr>
      </p:pic>
      <p:pic>
        <p:nvPicPr>
          <p:cNvPr id="4" name="图片 3" descr="图片包含 图形用户界面&#10;&#10;描述已自动生成">
            <a:extLst>
              <a:ext uri="{FF2B5EF4-FFF2-40B4-BE49-F238E27FC236}">
                <a16:creationId xmlns:a16="http://schemas.microsoft.com/office/drawing/2014/main" id="{EED36684-50A7-43CE-9F9F-20879D1A1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9117" y="2319135"/>
            <a:ext cx="4215215" cy="3662262"/>
          </a:xfrm>
          <a:prstGeom prst="rect">
            <a:avLst/>
          </a:prstGeom>
        </p:spPr>
      </p:pic>
      <p:sp>
        <p:nvSpPr>
          <p:cNvPr id="5" name="圆角矩形 61">
            <a:extLst>
              <a:ext uri="{FF2B5EF4-FFF2-40B4-BE49-F238E27FC236}">
                <a16:creationId xmlns:a16="http://schemas.microsoft.com/office/drawing/2014/main" id="{360DCB04-818E-47E1-98A6-9327B3577233}"/>
              </a:ext>
            </a:extLst>
          </p:cNvPr>
          <p:cNvSpPr/>
          <p:nvPr/>
        </p:nvSpPr>
        <p:spPr>
          <a:xfrm>
            <a:off x="3308245" y="2065675"/>
            <a:ext cx="2899215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电子围栏类型</a:t>
            </a:r>
          </a:p>
        </p:txBody>
      </p:sp>
      <p:sp>
        <p:nvSpPr>
          <p:cNvPr id="6" name="圆角矩形 61">
            <a:extLst>
              <a:ext uri="{FF2B5EF4-FFF2-40B4-BE49-F238E27FC236}">
                <a16:creationId xmlns:a16="http://schemas.microsoft.com/office/drawing/2014/main" id="{B5E1BB72-F1FB-4A6B-AEA9-0BBCABFECADF}"/>
              </a:ext>
            </a:extLst>
          </p:cNvPr>
          <p:cNvSpPr/>
          <p:nvPr/>
        </p:nvSpPr>
        <p:spPr>
          <a:xfrm>
            <a:off x="7699038" y="2109710"/>
            <a:ext cx="1757309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电子围栏图例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7D12E5-7203-4A15-AB2F-73845135225F}"/>
              </a:ext>
            </a:extLst>
          </p:cNvPr>
          <p:cNvSpPr txBox="1"/>
          <p:nvPr/>
        </p:nvSpPr>
        <p:spPr>
          <a:xfrm>
            <a:off x="1181100" y="1105047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系统提供提供多种类型的电子围栏，也可以根据业务需求进行类型等其它属性的定义</a:t>
            </a:r>
          </a:p>
        </p:txBody>
      </p:sp>
    </p:spTree>
    <p:extLst>
      <p:ext uri="{BB962C8B-B14F-4D97-AF65-F5344CB8AC3E}">
        <p14:creationId xmlns:p14="http://schemas.microsoft.com/office/powerpoint/2010/main" val="1230183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告警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7D12E5-7203-4A15-AB2F-73845135225F}"/>
              </a:ext>
            </a:extLst>
          </p:cNvPr>
          <p:cNvSpPr txBox="1"/>
          <p:nvPr/>
        </p:nvSpPr>
        <p:spPr>
          <a:xfrm>
            <a:off x="1028700" y="920381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系统提供根据设置实时显示告警信息。</a:t>
            </a:r>
            <a:r>
              <a:rPr lang="en-US" altLang="zh-CN" dirty="0"/>
              <a:t>UWB</a:t>
            </a:r>
            <a:r>
              <a:rPr lang="zh-CN" altLang="en-US" dirty="0"/>
              <a:t>工卡提供震动和声音告警，后台地图提供实时弹窗等提示。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3E7D8E4-DE2F-4648-9165-94D70546D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209675"/>
            <a:ext cx="10344150" cy="58694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477CE4-DF24-4FCC-8249-FFDCDD7DF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80" y="1965306"/>
            <a:ext cx="233463" cy="2334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1402B9E-BAB7-4E8F-B897-A55AEDF74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942" y="2198769"/>
            <a:ext cx="2323809" cy="3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42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</a:rPr>
              <a:t>统计分析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45FE59-B66F-4262-A4D4-6A0C43D7BFB4}"/>
              </a:ext>
            </a:extLst>
          </p:cNvPr>
          <p:cNvSpPr/>
          <p:nvPr/>
        </p:nvSpPr>
        <p:spPr bwMode="auto">
          <a:xfrm>
            <a:off x="1140292" y="2016124"/>
            <a:ext cx="238125" cy="1253053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人员轨迹统计</a:t>
            </a:r>
            <a:endParaRPr lang="en-US" altLang="zh-CN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" name="肘形连接符 41">
            <a:extLst>
              <a:ext uri="{FF2B5EF4-FFF2-40B4-BE49-F238E27FC236}">
                <a16:creationId xmlns:a16="http://schemas.microsoft.com/office/drawing/2014/main" id="{DC25840E-54A5-4EDE-93ED-69CDB3D33CA0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rot="5400000" flipH="1" flipV="1">
            <a:off x="1116761" y="1447520"/>
            <a:ext cx="711199" cy="42601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6747378A-A4C8-49E9-B67E-BB66311FB93A}"/>
              </a:ext>
            </a:extLst>
          </p:cNvPr>
          <p:cNvSpPr/>
          <p:nvPr/>
        </p:nvSpPr>
        <p:spPr bwMode="auto">
          <a:xfrm>
            <a:off x="2016592" y="2016125"/>
            <a:ext cx="238125" cy="1253052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告警统计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6" name="肘形连接符 264">
            <a:extLst>
              <a:ext uri="{FF2B5EF4-FFF2-40B4-BE49-F238E27FC236}">
                <a16:creationId xmlns:a16="http://schemas.microsoft.com/office/drawing/2014/main" id="{9DBAA3FA-E387-4076-B62F-ED05814F1BD3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rot="16200000" flipV="1">
            <a:off x="1554910" y="1435380"/>
            <a:ext cx="711200" cy="45029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BDB6A519-651E-4738-B877-FCA621D5E9D7}"/>
              </a:ext>
            </a:extLst>
          </p:cNvPr>
          <p:cNvSpPr/>
          <p:nvPr/>
        </p:nvSpPr>
        <p:spPr>
          <a:xfrm>
            <a:off x="865655" y="836613"/>
            <a:ext cx="1639420" cy="468312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主要统计分析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E51187-1F87-4167-8178-1050E555B3D8}"/>
              </a:ext>
            </a:extLst>
          </p:cNvPr>
          <p:cNvSpPr/>
          <p:nvPr/>
        </p:nvSpPr>
        <p:spPr bwMode="auto">
          <a:xfrm>
            <a:off x="1564837" y="2016124"/>
            <a:ext cx="238125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巡检统计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9" name="肘形连接符 41">
            <a:extLst>
              <a:ext uri="{FF2B5EF4-FFF2-40B4-BE49-F238E27FC236}">
                <a16:creationId xmlns:a16="http://schemas.microsoft.com/office/drawing/2014/main" id="{B74AD7FF-6FB4-4383-9601-FD7C6FE663E6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rot="5400000" flipH="1" flipV="1">
            <a:off x="1329033" y="1659793"/>
            <a:ext cx="711199" cy="146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BF56AC9D-23A5-4B34-91D8-D3FB94DDF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535" y="5097293"/>
            <a:ext cx="7822173" cy="1592747"/>
          </a:xfrm>
          <a:prstGeom prst="rect">
            <a:avLst/>
          </a:prstGeom>
        </p:spPr>
      </p:pic>
      <p:pic>
        <p:nvPicPr>
          <p:cNvPr id="11" name="图片 10" descr="图形用户界面, 应用程序&#10;&#10;描述已自动生成">
            <a:extLst>
              <a:ext uri="{FF2B5EF4-FFF2-40B4-BE49-F238E27FC236}">
                <a16:creationId xmlns:a16="http://schemas.microsoft.com/office/drawing/2014/main" id="{B1A29415-6AD9-417A-A212-211260A474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983" t="9378"/>
          <a:stretch/>
        </p:blipFill>
        <p:spPr>
          <a:xfrm>
            <a:off x="3284658" y="817124"/>
            <a:ext cx="7767050" cy="19844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39D8FB5-3E52-4E1D-BB33-48D68CC66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658" y="2905895"/>
            <a:ext cx="7767050" cy="2101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1579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4447577" cy="1569660"/>
            <a:chOff x="3099114" y="2429363"/>
            <a:chExt cx="4447577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26468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接口说明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05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3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77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8380049-B862-41DD-BBF3-7315EDCFCDF9}"/>
              </a:ext>
            </a:extLst>
          </p:cNvPr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接口说明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6F82CF4-076A-4283-992C-93EBD26E8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37716"/>
              </p:ext>
            </p:extLst>
          </p:nvPr>
        </p:nvGraphicFramePr>
        <p:xfrm>
          <a:off x="1634246" y="1658167"/>
          <a:ext cx="9085635" cy="4419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303">
                  <a:extLst>
                    <a:ext uri="{9D8B030D-6E8A-4147-A177-3AD203B41FA5}">
                      <a16:colId xmlns:a16="http://schemas.microsoft.com/office/drawing/2014/main" val="3293462427"/>
                    </a:ext>
                  </a:extLst>
                </a:gridCol>
                <a:gridCol w="1179278">
                  <a:extLst>
                    <a:ext uri="{9D8B030D-6E8A-4147-A177-3AD203B41FA5}">
                      <a16:colId xmlns:a16="http://schemas.microsoft.com/office/drawing/2014/main" val="2550433784"/>
                    </a:ext>
                  </a:extLst>
                </a:gridCol>
                <a:gridCol w="7167054">
                  <a:extLst>
                    <a:ext uri="{9D8B030D-6E8A-4147-A177-3AD203B41FA5}">
                      <a16:colId xmlns:a16="http://schemas.microsoft.com/office/drawing/2014/main" val="216095954"/>
                    </a:ext>
                  </a:extLst>
                </a:gridCol>
              </a:tblGrid>
              <a:tr h="217278">
                <a:tc>
                  <a:txBody>
                    <a:bodyPr/>
                    <a:lstStyle/>
                    <a:p>
                      <a:pPr indent="145415" algn="ctr">
                        <a:spcBef>
                          <a:spcPts val="600"/>
                        </a:spcBef>
                      </a:pPr>
                      <a:r>
                        <a:rPr lang="zh-CN" sz="1200" kern="100">
                          <a:effectLst/>
                        </a:rPr>
                        <a:t>序号</a:t>
                      </a:r>
                      <a:endParaRPr lang="zh-CN" sz="12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indent="266700" algn="just">
                        <a:spcBef>
                          <a:spcPts val="600"/>
                        </a:spcBef>
                      </a:pPr>
                      <a:r>
                        <a:rPr lang="zh-CN" sz="1200" kern="100" dirty="0">
                          <a:effectLst/>
                        </a:rPr>
                        <a:t>功能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indent="266700" algn="just">
                        <a:spcBef>
                          <a:spcPts val="600"/>
                        </a:spcBef>
                      </a:pPr>
                      <a:r>
                        <a:rPr lang="zh-CN" sz="1200" kern="100" dirty="0">
                          <a:effectLst/>
                        </a:rPr>
                        <a:t>描述及接口方式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771191179"/>
                  </a:ext>
                </a:extLst>
              </a:tr>
              <a:tr h="277892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altLang="zh-CN" sz="1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1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UWB</a:t>
                      </a:r>
                      <a:r>
                        <a:rPr lang="zh-CN" sz="1000" kern="100" dirty="0">
                          <a:effectLst/>
                        </a:rPr>
                        <a:t>实时定位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给系统提供实时定位的数据接口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1155308232"/>
                  </a:ext>
                </a:extLst>
              </a:tr>
              <a:tr h="512042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2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GIS</a:t>
                      </a:r>
                      <a:r>
                        <a:rPr lang="zh-CN" sz="1000" kern="100" dirty="0">
                          <a:effectLst/>
                        </a:rPr>
                        <a:t>地图展示及基本功能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altLang="en-US" sz="1000" kern="0" dirty="0">
                          <a:effectLst/>
                        </a:rPr>
                        <a:t>除了二维地图整体展示，还包括</a:t>
                      </a:r>
                      <a:r>
                        <a:rPr lang="zh-CN" sz="1000" kern="0" dirty="0">
                          <a:effectLst/>
                        </a:rPr>
                        <a:t>楼层切换、放大缩小、平移、全屏、旋转、指北针等。</a:t>
                      </a:r>
                      <a:r>
                        <a:rPr lang="en-US" sz="1000" kern="0" dirty="0">
                          <a:effectLst/>
                        </a:rPr>
                        <a:t>JS-SDK</a:t>
                      </a:r>
                      <a:r>
                        <a:rPr lang="zh-CN" sz="1000" kern="0" dirty="0">
                          <a:effectLst/>
                        </a:rPr>
                        <a:t>库支持，可以通过</a:t>
                      </a:r>
                      <a:r>
                        <a:rPr lang="en-US" sz="1000" kern="0" dirty="0">
                          <a:effectLst/>
                        </a:rPr>
                        <a:t>JS</a:t>
                      </a:r>
                      <a:r>
                        <a:rPr lang="zh-CN" sz="1000" kern="0" dirty="0">
                          <a:effectLst/>
                        </a:rPr>
                        <a:t>库获得</a:t>
                      </a:r>
                      <a:r>
                        <a:rPr lang="en-US" sz="1000" kern="0" dirty="0" err="1">
                          <a:effectLst/>
                        </a:rPr>
                        <a:t>gis</a:t>
                      </a:r>
                      <a:r>
                        <a:rPr lang="zh-CN" sz="1000" kern="0" dirty="0">
                          <a:effectLst/>
                        </a:rPr>
                        <a:t>地图页面。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1053195099"/>
                  </a:ext>
                </a:extLst>
              </a:tr>
              <a:tr h="286856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3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kern="100">
                          <a:effectLst/>
                        </a:rPr>
                        <a:t>POI</a:t>
                      </a:r>
                      <a:r>
                        <a:rPr lang="zh-CN" sz="1000" kern="100">
                          <a:effectLst/>
                        </a:rPr>
                        <a:t>数据采集维护及兴趣点搜索</a:t>
                      </a:r>
                      <a:endParaRPr lang="zh-CN" sz="1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系统提供</a:t>
                      </a:r>
                      <a:r>
                        <a:rPr lang="en-US" sz="1000" kern="0" dirty="0">
                          <a:effectLst/>
                        </a:rPr>
                        <a:t>poi</a:t>
                      </a:r>
                      <a:r>
                        <a:rPr lang="zh-CN" sz="1000" kern="0" dirty="0">
                          <a:effectLst/>
                        </a:rPr>
                        <a:t>数据的搜索及添加、删除、维护。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2438351077"/>
                  </a:ext>
                </a:extLst>
              </a:tr>
              <a:tr h="611810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4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zh-CN" sz="1000" kern="100" dirty="0">
                          <a:effectLst/>
                        </a:rPr>
                        <a:t>电子围栏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altLang="en-US" sz="1000" kern="0" dirty="0">
                          <a:effectLst/>
                        </a:rPr>
                        <a:t>以页面嵌入的方式提供，包括</a:t>
                      </a:r>
                      <a:r>
                        <a:rPr lang="zh-CN" sz="1000" kern="0" dirty="0">
                          <a:effectLst/>
                        </a:rPr>
                        <a:t>限制离开，限制进入，区域数量统计，限制数额，限时进入，限时离开等类型。也可以根据实际需求进行定制。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1559561251"/>
                  </a:ext>
                </a:extLst>
              </a:tr>
              <a:tr h="399795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5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100">
                          <a:effectLst/>
                        </a:rPr>
                        <a:t>告警提示</a:t>
                      </a:r>
                      <a:endParaRPr lang="zh-CN" sz="1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结合电子围栏设置进行告警，还包括标签电量等状态的告警。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3019310834"/>
                  </a:ext>
                </a:extLst>
              </a:tr>
              <a:tr h="422354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6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100">
                          <a:effectLst/>
                        </a:rPr>
                        <a:t>路径规划</a:t>
                      </a:r>
                      <a:endParaRPr lang="zh-CN" sz="1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搜索目标兴趣点，支持从当前位置到兴趣点的最短路径。也支持两个任意兴趣点的最短路径。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2742793038"/>
                  </a:ext>
                </a:extLst>
              </a:tr>
              <a:tr h="484660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7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100">
                          <a:effectLst/>
                        </a:rPr>
                        <a:t>导航</a:t>
                      </a:r>
                      <a:endParaRPr lang="zh-CN" sz="1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</a:pPr>
                      <a:r>
                        <a:rPr lang="zh-CN" sz="1000" kern="0" dirty="0">
                          <a:effectLst/>
                        </a:rPr>
                        <a:t>通过导航</a:t>
                      </a:r>
                      <a:r>
                        <a:rPr lang="en-US" sz="1000" kern="0" dirty="0">
                          <a:effectLst/>
                        </a:rPr>
                        <a:t>SDK</a:t>
                      </a:r>
                      <a:r>
                        <a:rPr lang="zh-CN" sz="1000" kern="0" dirty="0">
                          <a:effectLst/>
                        </a:rPr>
                        <a:t>直接调取导航页面，支持语音。语音可以根据场景进行定制更新。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771807751"/>
                  </a:ext>
                </a:extLst>
              </a:tr>
              <a:tr h="369651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0" dirty="0">
                          <a:effectLst/>
                        </a:rPr>
                        <a:t>8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0">
                          <a:effectLst/>
                        </a:rPr>
                        <a:t>热力图</a:t>
                      </a:r>
                      <a:endParaRPr lang="zh-CN" sz="1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地图</a:t>
                      </a:r>
                      <a:r>
                        <a:rPr lang="en-US" sz="1000" kern="0" dirty="0">
                          <a:effectLst/>
                        </a:rPr>
                        <a:t>SDK</a:t>
                      </a:r>
                      <a:r>
                        <a:rPr lang="zh-CN" sz="1000" kern="0" dirty="0">
                          <a:effectLst/>
                        </a:rPr>
                        <a:t>加</a:t>
                      </a:r>
                      <a:r>
                        <a:rPr lang="en-US" sz="1000" kern="0" dirty="0">
                          <a:effectLst/>
                        </a:rPr>
                        <a:t>Restful</a:t>
                      </a:r>
                      <a:r>
                        <a:rPr lang="zh-CN" sz="1000" kern="0" dirty="0">
                          <a:effectLst/>
                        </a:rPr>
                        <a:t>接口获取。通过时间、设备或者人的</a:t>
                      </a:r>
                      <a:r>
                        <a:rPr lang="en-US" sz="1000" kern="0" dirty="0">
                          <a:effectLst/>
                        </a:rPr>
                        <a:t>id</a:t>
                      </a:r>
                      <a:r>
                        <a:rPr lang="zh-CN" sz="1000" kern="0" dirty="0">
                          <a:effectLst/>
                        </a:rPr>
                        <a:t>等作为参数来获取热力图。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2834288513"/>
                  </a:ext>
                </a:extLst>
              </a:tr>
              <a:tr h="336657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0" dirty="0">
                          <a:effectLst/>
                        </a:rPr>
                        <a:t>9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0">
                          <a:effectLst/>
                        </a:rPr>
                        <a:t>轨迹回放</a:t>
                      </a:r>
                      <a:endParaRPr lang="zh-CN" sz="1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</a:pPr>
                      <a:r>
                        <a:rPr lang="zh-CN" sz="1000" kern="0" dirty="0">
                          <a:effectLst/>
                        </a:rPr>
                        <a:t>可以按设备、人员进行历史轨迹回放。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2499363680"/>
                  </a:ext>
                </a:extLst>
              </a:tr>
              <a:tr h="482576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0" dirty="0">
                          <a:effectLst/>
                        </a:rPr>
                        <a:t>10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0" dirty="0">
                          <a:effectLst/>
                        </a:rPr>
                        <a:t>坐标系转换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系统提供米制坐标转换到北京</a:t>
                      </a:r>
                      <a:r>
                        <a:rPr lang="en-US" sz="1000" kern="0" dirty="0">
                          <a:effectLst/>
                        </a:rPr>
                        <a:t>2000</a:t>
                      </a:r>
                      <a:r>
                        <a:rPr lang="zh-CN" sz="1000" kern="0" dirty="0">
                          <a:effectLst/>
                        </a:rPr>
                        <a:t>、</a:t>
                      </a:r>
                      <a:r>
                        <a:rPr lang="en-US" sz="1000" kern="0" dirty="0">
                          <a:effectLst/>
                        </a:rPr>
                        <a:t>wgs84</a:t>
                      </a:r>
                      <a:r>
                        <a:rPr lang="zh-CN" sz="1000" kern="0" dirty="0">
                          <a:effectLst/>
                        </a:rPr>
                        <a:t>等坐标系的转换。</a:t>
                      </a:r>
                      <a:endParaRPr lang="zh-CN" sz="10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430" marR="46430" marT="0" marB="0"/>
                </a:tc>
                <a:extLst>
                  <a:ext uri="{0D108BD9-81ED-4DB2-BD59-A6C34878D82A}">
                    <a16:rowId xmlns:a16="http://schemas.microsoft.com/office/drawing/2014/main" val="2115412495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7B9806A9-02AF-4EF4-8B0E-395593F19843}"/>
              </a:ext>
            </a:extLst>
          </p:cNvPr>
          <p:cNvSpPr txBox="1"/>
          <p:nvPr/>
        </p:nvSpPr>
        <p:spPr>
          <a:xfrm>
            <a:off x="1181100" y="1105047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系统主要提供如下的</a:t>
            </a:r>
            <a:r>
              <a:rPr lang="en-US" altLang="zh-CN" dirty="0"/>
              <a:t>API</a:t>
            </a:r>
            <a:r>
              <a:rPr lang="zh-CN" altLang="en-US" dirty="0"/>
              <a:t>接口。调用方式主要分为页面组件式、功能服务、数据格式转换等。</a:t>
            </a:r>
          </a:p>
        </p:txBody>
      </p:sp>
    </p:spTree>
    <p:extLst>
      <p:ext uri="{BB962C8B-B14F-4D97-AF65-F5344CB8AC3E}">
        <p14:creationId xmlns:p14="http://schemas.microsoft.com/office/powerpoint/2010/main" val="3653254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-18844"/>
            <a:ext cx="12192000" cy="6876844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723139" y="3302862"/>
            <a:ext cx="474572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6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THANK</a:t>
            </a:r>
            <a:r>
              <a:rPr kumimoji="1" lang="zh-CN" altLang="en-US" sz="6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kumimoji="1" lang="en-US" altLang="zh-CN" sz="6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YOU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206240" y="1514856"/>
            <a:ext cx="3779520" cy="3779520"/>
          </a:xfrm>
          <a:prstGeom prst="ellipse">
            <a:avLst/>
          </a:prstGeom>
          <a:noFill/>
          <a:ln w="38100" cap="rnd">
            <a:solidFill>
              <a:schemeClr val="bg1">
                <a:alpha val="2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97536" y="3215640"/>
            <a:ext cx="11980164" cy="426720"/>
            <a:chOff x="97536" y="3280907"/>
            <a:chExt cx="11980164" cy="426720"/>
          </a:xfrm>
        </p:grpSpPr>
        <p:grpSp>
          <p:nvGrpSpPr>
            <p:cNvPr id="10" name="组合 9"/>
            <p:cNvGrpSpPr/>
            <p:nvPr/>
          </p:nvGrpSpPr>
          <p:grpSpPr>
            <a:xfrm>
              <a:off x="9651492" y="3280907"/>
              <a:ext cx="2426208" cy="426720"/>
              <a:chOff x="9614916" y="3238235"/>
              <a:chExt cx="2426208" cy="426720"/>
            </a:xfrm>
          </p:grpSpPr>
          <p:cxnSp>
            <p:nvCxnSpPr>
              <p:cNvPr id="6" name="直线连接符 5"/>
              <p:cNvCxnSpPr/>
              <p:nvPr/>
            </p:nvCxnSpPr>
            <p:spPr>
              <a:xfrm>
                <a:off x="9614916" y="3238235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/>
              <p:cNvCxnSpPr/>
              <p:nvPr/>
            </p:nvCxnSpPr>
            <p:spPr>
              <a:xfrm>
                <a:off x="9614916" y="3390357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/>
              <p:cNvCxnSpPr/>
              <p:nvPr/>
            </p:nvCxnSpPr>
            <p:spPr>
              <a:xfrm>
                <a:off x="9614916" y="3530843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/>
              <p:cNvCxnSpPr/>
              <p:nvPr/>
            </p:nvCxnSpPr>
            <p:spPr>
              <a:xfrm>
                <a:off x="9614916" y="3664955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/>
            <p:cNvGrpSpPr/>
            <p:nvPr/>
          </p:nvGrpSpPr>
          <p:grpSpPr>
            <a:xfrm>
              <a:off x="97536" y="3280907"/>
              <a:ext cx="2426208" cy="426720"/>
              <a:chOff x="9729216" y="3238235"/>
              <a:chExt cx="2426208" cy="426720"/>
            </a:xfrm>
          </p:grpSpPr>
          <p:cxnSp>
            <p:nvCxnSpPr>
              <p:cNvPr id="20" name="直线连接符 19"/>
              <p:cNvCxnSpPr/>
              <p:nvPr/>
            </p:nvCxnSpPr>
            <p:spPr>
              <a:xfrm>
                <a:off x="9729216" y="3238235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线连接符 20"/>
              <p:cNvCxnSpPr/>
              <p:nvPr/>
            </p:nvCxnSpPr>
            <p:spPr>
              <a:xfrm>
                <a:off x="9729216" y="3390357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线连接符 22"/>
              <p:cNvCxnSpPr/>
              <p:nvPr/>
            </p:nvCxnSpPr>
            <p:spPr>
              <a:xfrm>
                <a:off x="9729216" y="3530843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线连接符 23"/>
              <p:cNvCxnSpPr/>
              <p:nvPr/>
            </p:nvCxnSpPr>
            <p:spPr>
              <a:xfrm>
                <a:off x="9729216" y="3664955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" name="图片 15" descr="资源 2@4x-8">
            <a:extLst>
              <a:ext uri="{FF2B5EF4-FFF2-40B4-BE49-F238E27FC236}">
                <a16:creationId xmlns:a16="http://schemas.microsoft.com/office/drawing/2014/main" id="{14D2822E-A184-491B-9A42-E2E7D3325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13694</TotalTime>
  <Words>1745</Words>
  <Application>Microsoft Office PowerPoint</Application>
  <PresentationFormat>宽屏</PresentationFormat>
  <Paragraphs>342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Helvetica Bold Oblique</vt:lpstr>
      <vt:lpstr>Helvetica Neue Regular</vt:lpstr>
      <vt:lpstr>Microsoft YaHei Semibold</vt:lpstr>
      <vt:lpstr>等线</vt:lpstr>
      <vt:lpstr>等线</vt:lpstr>
      <vt:lpstr>DengXian Light</vt:lpstr>
      <vt:lpstr>宋体</vt:lpstr>
      <vt:lpstr>Microsoft YaHei</vt:lpstr>
      <vt:lpstr>Microsoft YaHei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语音及导航智能化资询与研发试点项目-一张图可视化管理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Wu Zheng</cp:lastModifiedBy>
  <cp:revision>1195</cp:revision>
  <dcterms:created xsi:type="dcterms:W3CDTF">2016-08-09T03:42:00Z</dcterms:created>
  <dcterms:modified xsi:type="dcterms:W3CDTF">2022-07-01T03:29:05Z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9A536A4A3123424E937B72ED97653F7B</vt:lpwstr>
  </property>
</Properties>
</file>