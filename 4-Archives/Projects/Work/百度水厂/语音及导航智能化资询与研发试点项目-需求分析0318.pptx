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313" r:id="rId3"/>
    <p:sldId id="9167" r:id="rId5"/>
    <p:sldId id="9168" r:id="rId6"/>
    <p:sldId id="9176" r:id="rId7"/>
    <p:sldId id="365" r:id="rId8"/>
    <p:sldId id="9160" r:id="rId9"/>
    <p:sldId id="9184" r:id="rId10"/>
    <p:sldId id="9182" r:id="rId11"/>
    <p:sldId id="9134" r:id="rId12"/>
    <p:sldId id="9183" r:id="rId13"/>
    <p:sldId id="9185" r:id="rId14"/>
    <p:sldId id="9186" r:id="rId15"/>
    <p:sldId id="9188" r:id="rId16"/>
    <p:sldId id="9189" r:id="rId17"/>
    <p:sldId id="9190" r:id="rId18"/>
    <p:sldId id="9193" r:id="rId19"/>
    <p:sldId id="9191" r:id="rId20"/>
    <p:sldId id="9194" r:id="rId21"/>
    <p:sldId id="9196" r:id="rId22"/>
    <p:sldId id="9195" r:id="rId23"/>
    <p:sldId id="9197" r:id="rId24"/>
    <p:sldId id="28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19" clrIdx="0"/>
  <p:cmAuthor id="1" name="georgefan" initials="g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3B3B"/>
    <a:srgbClr val="5B9BD5"/>
    <a:srgbClr val="00B0F0"/>
    <a:srgbClr val="2164ED"/>
    <a:srgbClr val="417AED"/>
    <a:srgbClr val="21C9ED"/>
    <a:srgbClr val="6E9AF4"/>
    <a:srgbClr val="D6E4FF"/>
    <a:srgbClr val="AF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1" autoAdjust="0"/>
    <p:restoredTop sz="87755" autoAdjust="0"/>
  </p:normalViewPr>
  <p:slideViewPr>
    <p:cSldViewPr snapToGrid="0" snapToObjects="1">
      <p:cViewPr varScale="1">
        <p:scale>
          <a:sx n="81" d="100"/>
          <a:sy n="81" d="100"/>
        </p:scale>
        <p:origin x="216" y="8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DB5A31-DD98-4C64-9340-8288E43D84A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65EDFCC-CCCD-40BB-930F-5910F327F352}">
      <dgm:prSet phldrT="[文本]"/>
      <dgm:spPr/>
      <dgm:t>
        <a:bodyPr/>
        <a:lstStyle/>
        <a:p>
          <a:r>
            <a:rPr lang="zh-CN" altLang="en-US" dirty="0"/>
            <a:t>水厂</a:t>
          </a:r>
          <a:r>
            <a:rPr lang="en-US" altLang="zh-CN" dirty="0"/>
            <a:t>1</a:t>
          </a:r>
          <a:r>
            <a:rPr lang="zh-CN" altLang="en-US" dirty="0"/>
            <a:t>、</a:t>
          </a:r>
          <a:r>
            <a:rPr lang="en-US" altLang="zh-CN" dirty="0"/>
            <a:t>2</a:t>
          </a:r>
          <a:r>
            <a:rPr lang="zh-CN" altLang="en-US" dirty="0"/>
            <a:t>层部署全覆盖的</a:t>
          </a:r>
          <a:r>
            <a:rPr lang="en-US" altLang="zh-CN" dirty="0"/>
            <a:t>UWB</a:t>
          </a:r>
          <a:r>
            <a:rPr lang="zh-CN" altLang="en-US" dirty="0"/>
            <a:t>室内定位系统</a:t>
          </a:r>
        </a:p>
      </dgm:t>
    </dgm:pt>
    <dgm:pt modelId="{8E227C81-0338-4847-B428-7C469C8FE5D7}" cxnId="{92476FEF-5D7C-4EFA-8CD0-E61468C58687}" type="parTrans">
      <dgm:prSet/>
      <dgm:spPr/>
      <dgm:t>
        <a:bodyPr/>
        <a:lstStyle/>
        <a:p>
          <a:endParaRPr lang="zh-CN" altLang="en-US"/>
        </a:p>
      </dgm:t>
    </dgm:pt>
    <dgm:pt modelId="{6359A6A4-2527-471B-8E68-302C498B1A43}" cxnId="{92476FEF-5D7C-4EFA-8CD0-E61468C58687}" type="sibTrans">
      <dgm:prSet/>
      <dgm:spPr/>
      <dgm:t>
        <a:bodyPr/>
        <a:lstStyle/>
        <a:p>
          <a:endParaRPr lang="zh-CN" altLang="en-US"/>
        </a:p>
      </dgm:t>
    </dgm:pt>
    <dgm:pt modelId="{D8E268B7-8521-44F0-85B8-5CE3A5AE715F}">
      <dgm:prSet phldrT="[文本]"/>
      <dgm:spPr/>
      <dgm:t>
        <a:bodyPr/>
        <a:lstStyle/>
        <a:p>
          <a:r>
            <a:rPr lang="zh-CN" altLang="en-US" dirty="0"/>
            <a:t>搭建基于</a:t>
          </a:r>
          <a:r>
            <a:rPr lang="en-US" altLang="zh-CN" dirty="0"/>
            <a:t>GIS</a:t>
          </a:r>
          <a:r>
            <a:rPr lang="zh-CN" altLang="en-US" dirty="0"/>
            <a:t>的可视化导航服务平台</a:t>
          </a:r>
        </a:p>
      </dgm:t>
    </dgm:pt>
    <dgm:pt modelId="{9F4EE22D-D95E-4DF1-BC9B-16CD66FB1F2C}" cxnId="{5C1DA012-40E7-4763-964D-3BAD6998649D}" type="parTrans">
      <dgm:prSet/>
      <dgm:spPr/>
      <dgm:t>
        <a:bodyPr/>
        <a:lstStyle/>
        <a:p>
          <a:endParaRPr lang="zh-CN" altLang="en-US"/>
        </a:p>
      </dgm:t>
    </dgm:pt>
    <dgm:pt modelId="{0AFEA718-D033-496A-8671-299CAF157498}" cxnId="{5C1DA012-40E7-4763-964D-3BAD6998649D}" type="sibTrans">
      <dgm:prSet/>
      <dgm:spPr/>
      <dgm:t>
        <a:bodyPr/>
        <a:lstStyle/>
        <a:p>
          <a:endParaRPr lang="zh-CN" altLang="en-US"/>
        </a:p>
      </dgm:t>
    </dgm:pt>
    <dgm:pt modelId="{C6831ADC-C660-4DE0-8718-7ED61645795F}">
      <dgm:prSet phldrT="[文本]"/>
      <dgm:spPr/>
      <dgm:t>
        <a:bodyPr/>
        <a:lstStyle/>
        <a:p>
          <a:r>
            <a:rPr lang="zh-CN" altLang="en-US" dirty="0"/>
            <a:t>构建厂区、人员、设备、危险区域等二维空间地理数据库</a:t>
          </a:r>
        </a:p>
      </dgm:t>
    </dgm:pt>
    <dgm:pt modelId="{34B093F6-3E62-4CE5-A957-63BD64ABA469}" cxnId="{20A4AF3E-F4A1-4112-A55C-896C86EC8FE8}" type="parTrans">
      <dgm:prSet/>
      <dgm:spPr/>
      <dgm:t>
        <a:bodyPr/>
        <a:lstStyle/>
        <a:p>
          <a:endParaRPr lang="zh-CN" altLang="en-US"/>
        </a:p>
      </dgm:t>
    </dgm:pt>
    <dgm:pt modelId="{AB8E56D2-9B4F-4CE4-B900-6465E0753F2B}" cxnId="{20A4AF3E-F4A1-4112-A55C-896C86EC8FE8}" type="sibTrans">
      <dgm:prSet/>
      <dgm:spPr/>
      <dgm:t>
        <a:bodyPr/>
        <a:lstStyle/>
        <a:p>
          <a:endParaRPr lang="zh-CN" altLang="en-US"/>
        </a:p>
      </dgm:t>
    </dgm:pt>
    <dgm:pt modelId="{AA2B9CDF-A29D-4C4A-905E-FE2C2FAEBBB1}">
      <dgm:prSet/>
      <dgm:spPr/>
      <dgm:t>
        <a:bodyPr/>
        <a:lstStyle/>
        <a:p>
          <a:r>
            <a:rPr lang="zh-CN" altLang="en-US" dirty="0"/>
            <a:t>配合巡检进行导航、安全提醒等工作过程透明管理 </a:t>
          </a:r>
        </a:p>
      </dgm:t>
    </dgm:pt>
    <dgm:pt modelId="{7E6B79EF-AFA2-4F3D-AF35-02CE138A981E}" cxnId="{82B590EC-BCA9-4217-A633-653FFCF04DAA}" type="parTrans">
      <dgm:prSet/>
      <dgm:spPr/>
      <dgm:t>
        <a:bodyPr/>
        <a:lstStyle/>
        <a:p>
          <a:endParaRPr lang="zh-CN" altLang="en-US"/>
        </a:p>
      </dgm:t>
    </dgm:pt>
    <dgm:pt modelId="{B3A6F7D5-F96B-4963-B8CF-B841F40541E5}" cxnId="{82B590EC-BCA9-4217-A633-653FFCF04DAA}" type="sibTrans">
      <dgm:prSet/>
      <dgm:spPr/>
      <dgm:t>
        <a:bodyPr/>
        <a:lstStyle/>
        <a:p>
          <a:endParaRPr lang="zh-CN" altLang="en-US"/>
        </a:p>
      </dgm:t>
    </dgm:pt>
    <dgm:pt modelId="{5740A417-4369-42B1-9613-D75EDDFADF09}">
      <dgm:prSet/>
      <dgm:spPr/>
      <dgm:t>
        <a:bodyPr/>
        <a:lstStyle/>
        <a:p>
          <a:r>
            <a:rPr lang="zh-CN" altLang="en-US" dirty="0"/>
            <a:t>提升效率、降低安全风险、提升工作透明度</a:t>
          </a:r>
        </a:p>
      </dgm:t>
    </dgm:pt>
    <dgm:pt modelId="{302F9A37-FEE7-42B2-AEAE-E2B745BAC439}" cxnId="{7C2427E9-276F-40A2-B1D2-7A6746AFD8FC}" type="parTrans">
      <dgm:prSet/>
      <dgm:spPr/>
      <dgm:t>
        <a:bodyPr/>
        <a:lstStyle/>
        <a:p>
          <a:endParaRPr lang="zh-CN" altLang="en-US"/>
        </a:p>
      </dgm:t>
    </dgm:pt>
    <dgm:pt modelId="{606D9657-E6BE-4AED-8BB1-8450734300C2}" cxnId="{7C2427E9-276F-40A2-B1D2-7A6746AFD8FC}" type="sibTrans">
      <dgm:prSet/>
      <dgm:spPr/>
      <dgm:t>
        <a:bodyPr/>
        <a:lstStyle/>
        <a:p>
          <a:endParaRPr lang="zh-CN" altLang="en-US"/>
        </a:p>
      </dgm:t>
    </dgm:pt>
    <dgm:pt modelId="{988B2B59-C907-4821-8523-F977841A51D4}" type="pres">
      <dgm:prSet presAssocID="{71DB5A31-DD98-4C64-9340-8288E43D84AA}" presName="linear" presStyleCnt="0">
        <dgm:presLayoutVars>
          <dgm:dir/>
          <dgm:animLvl val="lvl"/>
          <dgm:resizeHandles val="exact"/>
        </dgm:presLayoutVars>
      </dgm:prSet>
      <dgm:spPr/>
    </dgm:pt>
    <dgm:pt modelId="{8D18E350-2A55-42FF-9562-F62C1B4BE1DF}" type="pres">
      <dgm:prSet presAssocID="{765EDFCC-CCCD-40BB-930F-5910F327F352}" presName="parentLin" presStyleCnt="0"/>
      <dgm:spPr/>
    </dgm:pt>
    <dgm:pt modelId="{1019426F-5507-43A3-8386-3FDB8E87E709}" type="pres">
      <dgm:prSet presAssocID="{765EDFCC-CCCD-40BB-930F-5910F327F352}" presName="parentLeftMargin" presStyleLbl="node1" presStyleIdx="0" presStyleCnt="5"/>
      <dgm:spPr/>
    </dgm:pt>
    <dgm:pt modelId="{B252B87E-3DE1-4EAC-A2F6-FA43085412D6}" type="pres">
      <dgm:prSet presAssocID="{765EDFCC-CCCD-40BB-930F-5910F327F35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2B8C651-2A39-4515-880B-768070DD0FAF}" type="pres">
      <dgm:prSet presAssocID="{765EDFCC-CCCD-40BB-930F-5910F327F352}" presName="negativeSpace" presStyleCnt="0"/>
      <dgm:spPr/>
    </dgm:pt>
    <dgm:pt modelId="{55F53D84-0AF4-4B34-8705-87406BF18DB4}" type="pres">
      <dgm:prSet presAssocID="{765EDFCC-CCCD-40BB-930F-5910F327F352}" presName="childText" presStyleLbl="conFgAcc1" presStyleIdx="0" presStyleCnt="5">
        <dgm:presLayoutVars>
          <dgm:bulletEnabled val="1"/>
        </dgm:presLayoutVars>
      </dgm:prSet>
      <dgm:spPr/>
    </dgm:pt>
    <dgm:pt modelId="{13437C05-3522-44CE-BF53-AD5E2BBC2536}" type="pres">
      <dgm:prSet presAssocID="{6359A6A4-2527-471B-8E68-302C498B1A43}" presName="spaceBetweenRectangles" presStyleCnt="0"/>
      <dgm:spPr/>
    </dgm:pt>
    <dgm:pt modelId="{3507602E-7A5C-48DB-ACCA-CA990A18507A}" type="pres">
      <dgm:prSet presAssocID="{D8E268B7-8521-44F0-85B8-5CE3A5AE715F}" presName="parentLin" presStyleCnt="0"/>
      <dgm:spPr/>
    </dgm:pt>
    <dgm:pt modelId="{1082570F-F110-4F6B-86F0-33E059099CBF}" type="pres">
      <dgm:prSet presAssocID="{D8E268B7-8521-44F0-85B8-5CE3A5AE715F}" presName="parentLeftMargin" presStyleLbl="node1" presStyleIdx="0" presStyleCnt="5"/>
      <dgm:spPr/>
    </dgm:pt>
    <dgm:pt modelId="{1E7FF513-DCE8-4B83-90CF-4B29E42C99B0}" type="pres">
      <dgm:prSet presAssocID="{D8E268B7-8521-44F0-85B8-5CE3A5AE715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945C310-2696-44F8-BADC-53A42291EEBD}" type="pres">
      <dgm:prSet presAssocID="{D8E268B7-8521-44F0-85B8-5CE3A5AE715F}" presName="negativeSpace" presStyleCnt="0"/>
      <dgm:spPr/>
    </dgm:pt>
    <dgm:pt modelId="{2E098356-A62E-4F1A-81C0-3B8E39CAF2E1}" type="pres">
      <dgm:prSet presAssocID="{D8E268B7-8521-44F0-85B8-5CE3A5AE715F}" presName="childText" presStyleLbl="conFgAcc1" presStyleIdx="1" presStyleCnt="5">
        <dgm:presLayoutVars>
          <dgm:bulletEnabled val="1"/>
        </dgm:presLayoutVars>
      </dgm:prSet>
      <dgm:spPr/>
    </dgm:pt>
    <dgm:pt modelId="{94C0D131-A366-436B-924F-C23456F3F910}" type="pres">
      <dgm:prSet presAssocID="{0AFEA718-D033-496A-8671-299CAF157498}" presName="spaceBetweenRectangles" presStyleCnt="0"/>
      <dgm:spPr/>
    </dgm:pt>
    <dgm:pt modelId="{18BA76CB-4916-4647-817A-0A1BE2505EC2}" type="pres">
      <dgm:prSet presAssocID="{C6831ADC-C660-4DE0-8718-7ED61645795F}" presName="parentLin" presStyleCnt="0"/>
      <dgm:spPr/>
    </dgm:pt>
    <dgm:pt modelId="{53306EDD-2A12-4A36-BA70-B2C77C8B70FD}" type="pres">
      <dgm:prSet presAssocID="{C6831ADC-C660-4DE0-8718-7ED61645795F}" presName="parentLeftMargin" presStyleLbl="node1" presStyleIdx="1" presStyleCnt="5"/>
      <dgm:spPr/>
    </dgm:pt>
    <dgm:pt modelId="{A02283C4-EFED-4B89-9D74-BD4A2DA241C2}" type="pres">
      <dgm:prSet presAssocID="{C6831ADC-C660-4DE0-8718-7ED61645795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E8632C6-F5B8-4180-BDE6-F1DCB4A2AAB6}" type="pres">
      <dgm:prSet presAssocID="{C6831ADC-C660-4DE0-8718-7ED61645795F}" presName="negativeSpace" presStyleCnt="0"/>
      <dgm:spPr/>
    </dgm:pt>
    <dgm:pt modelId="{2A873864-AA28-46E7-932A-2EAE4975731C}" type="pres">
      <dgm:prSet presAssocID="{C6831ADC-C660-4DE0-8718-7ED61645795F}" presName="childText" presStyleLbl="conFgAcc1" presStyleIdx="2" presStyleCnt="5">
        <dgm:presLayoutVars>
          <dgm:bulletEnabled val="1"/>
        </dgm:presLayoutVars>
      </dgm:prSet>
      <dgm:spPr/>
    </dgm:pt>
    <dgm:pt modelId="{DFDD01B9-18AD-4634-B0DF-20BDE2D5DAB3}" type="pres">
      <dgm:prSet presAssocID="{AB8E56D2-9B4F-4CE4-B900-6465E0753F2B}" presName="spaceBetweenRectangles" presStyleCnt="0"/>
      <dgm:spPr/>
    </dgm:pt>
    <dgm:pt modelId="{99B52AC6-AAF5-4D11-8AC4-512CEED3BE3D}" type="pres">
      <dgm:prSet presAssocID="{AA2B9CDF-A29D-4C4A-905E-FE2C2FAEBBB1}" presName="parentLin" presStyleCnt="0"/>
      <dgm:spPr/>
    </dgm:pt>
    <dgm:pt modelId="{0ED1CF79-84E2-4708-9189-3E5C844D5FA5}" type="pres">
      <dgm:prSet presAssocID="{AA2B9CDF-A29D-4C4A-905E-FE2C2FAEBBB1}" presName="parentLeftMargin" presStyleLbl="node1" presStyleIdx="2" presStyleCnt="5"/>
      <dgm:spPr/>
    </dgm:pt>
    <dgm:pt modelId="{3565BA77-9351-4B7C-9028-D104D3256F8F}" type="pres">
      <dgm:prSet presAssocID="{AA2B9CDF-A29D-4C4A-905E-FE2C2FAEBB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53657E7-1862-4D9E-99DA-04CA92F27B84}" type="pres">
      <dgm:prSet presAssocID="{AA2B9CDF-A29D-4C4A-905E-FE2C2FAEBBB1}" presName="negativeSpace" presStyleCnt="0"/>
      <dgm:spPr/>
    </dgm:pt>
    <dgm:pt modelId="{40356762-23CC-4495-8FEB-77D5A6FC505F}" type="pres">
      <dgm:prSet presAssocID="{AA2B9CDF-A29D-4C4A-905E-FE2C2FAEBBB1}" presName="childText" presStyleLbl="conFgAcc1" presStyleIdx="3" presStyleCnt="5">
        <dgm:presLayoutVars>
          <dgm:bulletEnabled val="1"/>
        </dgm:presLayoutVars>
      </dgm:prSet>
      <dgm:spPr/>
    </dgm:pt>
    <dgm:pt modelId="{21200FC4-2DCB-46D5-9988-28E0921C09C9}" type="pres">
      <dgm:prSet presAssocID="{B3A6F7D5-F96B-4963-B8CF-B841F40541E5}" presName="spaceBetweenRectangles" presStyleCnt="0"/>
      <dgm:spPr/>
    </dgm:pt>
    <dgm:pt modelId="{058D2540-C3A3-4408-B089-9E8E633B6F4D}" type="pres">
      <dgm:prSet presAssocID="{5740A417-4369-42B1-9613-D75EDDFADF09}" presName="parentLin" presStyleCnt="0"/>
      <dgm:spPr/>
    </dgm:pt>
    <dgm:pt modelId="{2AEE1B38-EDC4-490E-8A47-3B69FBD2A54C}" type="pres">
      <dgm:prSet presAssocID="{5740A417-4369-42B1-9613-D75EDDFADF09}" presName="parentLeftMargin" presStyleLbl="node1" presStyleIdx="3" presStyleCnt="5"/>
      <dgm:spPr/>
    </dgm:pt>
    <dgm:pt modelId="{32CEF726-A6EB-4E25-9166-0710FD64FC71}" type="pres">
      <dgm:prSet presAssocID="{5740A417-4369-42B1-9613-D75EDDFADF0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235DA49-E549-470D-AEE0-A8C88C76B7C9}" type="pres">
      <dgm:prSet presAssocID="{5740A417-4369-42B1-9613-D75EDDFADF09}" presName="negativeSpace" presStyleCnt="0"/>
      <dgm:spPr/>
    </dgm:pt>
    <dgm:pt modelId="{80260E1C-F5CB-43D2-9231-5161ACFD6905}" type="pres">
      <dgm:prSet presAssocID="{5740A417-4369-42B1-9613-D75EDDFADF0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8F21812-5D92-4F8A-9D26-F1CC80B09F33}" type="presOf" srcId="{765EDFCC-CCCD-40BB-930F-5910F327F352}" destId="{1019426F-5507-43A3-8386-3FDB8E87E709}" srcOrd="0" destOrd="0" presId="urn:microsoft.com/office/officeart/2005/8/layout/list1"/>
    <dgm:cxn modelId="{5C1DA012-40E7-4763-964D-3BAD6998649D}" srcId="{71DB5A31-DD98-4C64-9340-8288E43D84AA}" destId="{D8E268B7-8521-44F0-85B8-5CE3A5AE715F}" srcOrd="1" destOrd="0" parTransId="{9F4EE22D-D95E-4DF1-BC9B-16CD66FB1F2C}" sibTransId="{0AFEA718-D033-496A-8671-299CAF157498}"/>
    <dgm:cxn modelId="{8BFD1C27-31C4-4E0F-830A-E9B1078D2DB2}" type="presOf" srcId="{C6831ADC-C660-4DE0-8718-7ED61645795F}" destId="{A02283C4-EFED-4B89-9D74-BD4A2DA241C2}" srcOrd="1" destOrd="0" presId="urn:microsoft.com/office/officeart/2005/8/layout/list1"/>
    <dgm:cxn modelId="{20A4AF3E-F4A1-4112-A55C-896C86EC8FE8}" srcId="{71DB5A31-DD98-4C64-9340-8288E43D84AA}" destId="{C6831ADC-C660-4DE0-8718-7ED61645795F}" srcOrd="2" destOrd="0" parTransId="{34B093F6-3E62-4CE5-A957-63BD64ABA469}" sibTransId="{AB8E56D2-9B4F-4CE4-B900-6465E0753F2B}"/>
    <dgm:cxn modelId="{54258D54-A2A4-4264-BAE3-1E7C7D099C40}" type="presOf" srcId="{5740A417-4369-42B1-9613-D75EDDFADF09}" destId="{2AEE1B38-EDC4-490E-8A47-3B69FBD2A54C}" srcOrd="0" destOrd="0" presId="urn:microsoft.com/office/officeart/2005/8/layout/list1"/>
    <dgm:cxn modelId="{94AD4D5C-BD18-4EE6-AB1E-4E96749FF394}" type="presOf" srcId="{5740A417-4369-42B1-9613-D75EDDFADF09}" destId="{32CEF726-A6EB-4E25-9166-0710FD64FC71}" srcOrd="1" destOrd="0" presId="urn:microsoft.com/office/officeart/2005/8/layout/list1"/>
    <dgm:cxn modelId="{7250936F-1C74-4338-A609-92DD6616A705}" type="presOf" srcId="{D8E268B7-8521-44F0-85B8-5CE3A5AE715F}" destId="{1E7FF513-DCE8-4B83-90CF-4B29E42C99B0}" srcOrd="1" destOrd="0" presId="urn:microsoft.com/office/officeart/2005/8/layout/list1"/>
    <dgm:cxn modelId="{CF69B780-E510-4E9D-B30F-4A9B1E214D5A}" type="presOf" srcId="{AA2B9CDF-A29D-4C4A-905E-FE2C2FAEBBB1}" destId="{3565BA77-9351-4B7C-9028-D104D3256F8F}" srcOrd="1" destOrd="0" presId="urn:microsoft.com/office/officeart/2005/8/layout/list1"/>
    <dgm:cxn modelId="{6E39CC8F-0334-40AE-A261-FD9FEA807CC0}" type="presOf" srcId="{AA2B9CDF-A29D-4C4A-905E-FE2C2FAEBBB1}" destId="{0ED1CF79-84E2-4708-9189-3E5C844D5FA5}" srcOrd="0" destOrd="0" presId="urn:microsoft.com/office/officeart/2005/8/layout/list1"/>
    <dgm:cxn modelId="{6EB2F599-0C3A-48DE-8A09-4681E33C1067}" type="presOf" srcId="{D8E268B7-8521-44F0-85B8-5CE3A5AE715F}" destId="{1082570F-F110-4F6B-86F0-33E059099CBF}" srcOrd="0" destOrd="0" presId="urn:microsoft.com/office/officeart/2005/8/layout/list1"/>
    <dgm:cxn modelId="{23C194D0-0C6F-4CED-ABAA-DE6EA4F30281}" type="presOf" srcId="{71DB5A31-DD98-4C64-9340-8288E43D84AA}" destId="{988B2B59-C907-4821-8523-F977841A51D4}" srcOrd="0" destOrd="0" presId="urn:microsoft.com/office/officeart/2005/8/layout/list1"/>
    <dgm:cxn modelId="{6AFC2EDC-C167-4A3C-BFCA-6181A6BE596A}" type="presOf" srcId="{765EDFCC-CCCD-40BB-930F-5910F327F352}" destId="{B252B87E-3DE1-4EAC-A2F6-FA43085412D6}" srcOrd="1" destOrd="0" presId="urn:microsoft.com/office/officeart/2005/8/layout/list1"/>
    <dgm:cxn modelId="{7C2427E9-276F-40A2-B1D2-7A6746AFD8FC}" srcId="{71DB5A31-DD98-4C64-9340-8288E43D84AA}" destId="{5740A417-4369-42B1-9613-D75EDDFADF09}" srcOrd="4" destOrd="0" parTransId="{302F9A37-FEE7-42B2-AEAE-E2B745BAC439}" sibTransId="{606D9657-E6BE-4AED-8BB1-8450734300C2}"/>
    <dgm:cxn modelId="{82B590EC-BCA9-4217-A633-653FFCF04DAA}" srcId="{71DB5A31-DD98-4C64-9340-8288E43D84AA}" destId="{AA2B9CDF-A29D-4C4A-905E-FE2C2FAEBBB1}" srcOrd="3" destOrd="0" parTransId="{7E6B79EF-AFA2-4F3D-AF35-02CE138A981E}" sibTransId="{B3A6F7D5-F96B-4963-B8CF-B841F40541E5}"/>
    <dgm:cxn modelId="{92476FEF-5D7C-4EFA-8CD0-E61468C58687}" srcId="{71DB5A31-DD98-4C64-9340-8288E43D84AA}" destId="{765EDFCC-CCCD-40BB-930F-5910F327F352}" srcOrd="0" destOrd="0" parTransId="{8E227C81-0338-4847-B428-7C469C8FE5D7}" sibTransId="{6359A6A4-2527-471B-8E68-302C498B1A43}"/>
    <dgm:cxn modelId="{811E05FE-7491-4E2E-B0FC-488C30B81165}" type="presOf" srcId="{C6831ADC-C660-4DE0-8718-7ED61645795F}" destId="{53306EDD-2A12-4A36-BA70-B2C77C8B70FD}" srcOrd="0" destOrd="0" presId="urn:microsoft.com/office/officeart/2005/8/layout/list1"/>
    <dgm:cxn modelId="{A6887223-CA63-49A4-89D7-D16ED620536F}" type="presParOf" srcId="{988B2B59-C907-4821-8523-F977841A51D4}" destId="{8D18E350-2A55-42FF-9562-F62C1B4BE1DF}" srcOrd="0" destOrd="0" presId="urn:microsoft.com/office/officeart/2005/8/layout/list1"/>
    <dgm:cxn modelId="{DA183176-CF03-4DCD-BF17-3760158ACA84}" type="presParOf" srcId="{8D18E350-2A55-42FF-9562-F62C1B4BE1DF}" destId="{1019426F-5507-43A3-8386-3FDB8E87E709}" srcOrd="0" destOrd="0" presId="urn:microsoft.com/office/officeart/2005/8/layout/list1"/>
    <dgm:cxn modelId="{BCF17E0C-E69C-4A51-861E-A483267B57C2}" type="presParOf" srcId="{8D18E350-2A55-42FF-9562-F62C1B4BE1DF}" destId="{B252B87E-3DE1-4EAC-A2F6-FA43085412D6}" srcOrd="1" destOrd="0" presId="urn:microsoft.com/office/officeart/2005/8/layout/list1"/>
    <dgm:cxn modelId="{75585EC3-15B1-47C4-B14C-08ED6DFD335F}" type="presParOf" srcId="{988B2B59-C907-4821-8523-F977841A51D4}" destId="{42B8C651-2A39-4515-880B-768070DD0FAF}" srcOrd="1" destOrd="0" presId="urn:microsoft.com/office/officeart/2005/8/layout/list1"/>
    <dgm:cxn modelId="{8B81BEC7-16F0-4D13-B699-E2E3F47CE0ED}" type="presParOf" srcId="{988B2B59-C907-4821-8523-F977841A51D4}" destId="{55F53D84-0AF4-4B34-8705-87406BF18DB4}" srcOrd="2" destOrd="0" presId="urn:microsoft.com/office/officeart/2005/8/layout/list1"/>
    <dgm:cxn modelId="{090E7896-68F6-44FC-85B3-0766275559A3}" type="presParOf" srcId="{988B2B59-C907-4821-8523-F977841A51D4}" destId="{13437C05-3522-44CE-BF53-AD5E2BBC2536}" srcOrd="3" destOrd="0" presId="urn:microsoft.com/office/officeart/2005/8/layout/list1"/>
    <dgm:cxn modelId="{5C2B7435-9047-45DB-898F-86CD89D406D5}" type="presParOf" srcId="{988B2B59-C907-4821-8523-F977841A51D4}" destId="{3507602E-7A5C-48DB-ACCA-CA990A18507A}" srcOrd="4" destOrd="0" presId="urn:microsoft.com/office/officeart/2005/8/layout/list1"/>
    <dgm:cxn modelId="{A63859A5-E300-4697-8B41-5F8818E5FA13}" type="presParOf" srcId="{3507602E-7A5C-48DB-ACCA-CA990A18507A}" destId="{1082570F-F110-4F6B-86F0-33E059099CBF}" srcOrd="0" destOrd="0" presId="urn:microsoft.com/office/officeart/2005/8/layout/list1"/>
    <dgm:cxn modelId="{63947C1F-2244-4739-9E8C-F6145DD8A6B6}" type="presParOf" srcId="{3507602E-7A5C-48DB-ACCA-CA990A18507A}" destId="{1E7FF513-DCE8-4B83-90CF-4B29E42C99B0}" srcOrd="1" destOrd="0" presId="urn:microsoft.com/office/officeart/2005/8/layout/list1"/>
    <dgm:cxn modelId="{E446B852-0FCE-43AB-A495-01FA56878D0E}" type="presParOf" srcId="{988B2B59-C907-4821-8523-F977841A51D4}" destId="{2945C310-2696-44F8-BADC-53A42291EEBD}" srcOrd="5" destOrd="0" presId="urn:microsoft.com/office/officeart/2005/8/layout/list1"/>
    <dgm:cxn modelId="{B520AFC0-789E-4DAF-AB98-54CD83541891}" type="presParOf" srcId="{988B2B59-C907-4821-8523-F977841A51D4}" destId="{2E098356-A62E-4F1A-81C0-3B8E39CAF2E1}" srcOrd="6" destOrd="0" presId="urn:microsoft.com/office/officeart/2005/8/layout/list1"/>
    <dgm:cxn modelId="{34773BC6-67A5-49EA-8582-EB626DA9D98B}" type="presParOf" srcId="{988B2B59-C907-4821-8523-F977841A51D4}" destId="{94C0D131-A366-436B-924F-C23456F3F910}" srcOrd="7" destOrd="0" presId="urn:microsoft.com/office/officeart/2005/8/layout/list1"/>
    <dgm:cxn modelId="{8EACFA09-2D1B-4BF0-9438-6EEB35C7ECF7}" type="presParOf" srcId="{988B2B59-C907-4821-8523-F977841A51D4}" destId="{18BA76CB-4916-4647-817A-0A1BE2505EC2}" srcOrd="8" destOrd="0" presId="urn:microsoft.com/office/officeart/2005/8/layout/list1"/>
    <dgm:cxn modelId="{642F0098-EBC3-4F6B-885E-1A96F6C83204}" type="presParOf" srcId="{18BA76CB-4916-4647-817A-0A1BE2505EC2}" destId="{53306EDD-2A12-4A36-BA70-B2C77C8B70FD}" srcOrd="0" destOrd="0" presId="urn:microsoft.com/office/officeart/2005/8/layout/list1"/>
    <dgm:cxn modelId="{29ADC3D0-DD6D-4C5D-9CC1-729F4BF3BAD6}" type="presParOf" srcId="{18BA76CB-4916-4647-817A-0A1BE2505EC2}" destId="{A02283C4-EFED-4B89-9D74-BD4A2DA241C2}" srcOrd="1" destOrd="0" presId="urn:microsoft.com/office/officeart/2005/8/layout/list1"/>
    <dgm:cxn modelId="{CD1C12C9-E032-4799-A720-5B37F8BED7D8}" type="presParOf" srcId="{988B2B59-C907-4821-8523-F977841A51D4}" destId="{DE8632C6-F5B8-4180-BDE6-F1DCB4A2AAB6}" srcOrd="9" destOrd="0" presId="urn:microsoft.com/office/officeart/2005/8/layout/list1"/>
    <dgm:cxn modelId="{4267A2DE-DE7D-4F6D-9062-E9BE9DE721C8}" type="presParOf" srcId="{988B2B59-C907-4821-8523-F977841A51D4}" destId="{2A873864-AA28-46E7-932A-2EAE4975731C}" srcOrd="10" destOrd="0" presId="urn:microsoft.com/office/officeart/2005/8/layout/list1"/>
    <dgm:cxn modelId="{26A24367-AB42-46A1-9245-890E9F7A5E6D}" type="presParOf" srcId="{988B2B59-C907-4821-8523-F977841A51D4}" destId="{DFDD01B9-18AD-4634-B0DF-20BDE2D5DAB3}" srcOrd="11" destOrd="0" presId="urn:microsoft.com/office/officeart/2005/8/layout/list1"/>
    <dgm:cxn modelId="{C0EC02AC-F366-424A-B714-CA98D31EFA21}" type="presParOf" srcId="{988B2B59-C907-4821-8523-F977841A51D4}" destId="{99B52AC6-AAF5-4D11-8AC4-512CEED3BE3D}" srcOrd="12" destOrd="0" presId="urn:microsoft.com/office/officeart/2005/8/layout/list1"/>
    <dgm:cxn modelId="{1DF11C49-FFA9-46DC-BF82-3ACED50AB9B7}" type="presParOf" srcId="{99B52AC6-AAF5-4D11-8AC4-512CEED3BE3D}" destId="{0ED1CF79-84E2-4708-9189-3E5C844D5FA5}" srcOrd="0" destOrd="0" presId="urn:microsoft.com/office/officeart/2005/8/layout/list1"/>
    <dgm:cxn modelId="{8C724BB9-E633-4AC9-8537-F29CAB2D5B98}" type="presParOf" srcId="{99B52AC6-AAF5-4D11-8AC4-512CEED3BE3D}" destId="{3565BA77-9351-4B7C-9028-D104D3256F8F}" srcOrd="1" destOrd="0" presId="urn:microsoft.com/office/officeart/2005/8/layout/list1"/>
    <dgm:cxn modelId="{23B05EE2-11DA-49E7-968A-E52BB6CD0C3F}" type="presParOf" srcId="{988B2B59-C907-4821-8523-F977841A51D4}" destId="{953657E7-1862-4D9E-99DA-04CA92F27B84}" srcOrd="13" destOrd="0" presId="urn:microsoft.com/office/officeart/2005/8/layout/list1"/>
    <dgm:cxn modelId="{0D5CBAD1-A8B0-4554-A26B-A728357C46DF}" type="presParOf" srcId="{988B2B59-C907-4821-8523-F977841A51D4}" destId="{40356762-23CC-4495-8FEB-77D5A6FC505F}" srcOrd="14" destOrd="0" presId="urn:microsoft.com/office/officeart/2005/8/layout/list1"/>
    <dgm:cxn modelId="{B9C0E10B-F11E-4D91-83BA-AD94A1FB9F8A}" type="presParOf" srcId="{988B2B59-C907-4821-8523-F977841A51D4}" destId="{21200FC4-2DCB-46D5-9988-28E0921C09C9}" srcOrd="15" destOrd="0" presId="urn:microsoft.com/office/officeart/2005/8/layout/list1"/>
    <dgm:cxn modelId="{DDAFF130-0E23-48B3-A49F-43B84F78C3B5}" type="presParOf" srcId="{988B2B59-C907-4821-8523-F977841A51D4}" destId="{058D2540-C3A3-4408-B089-9E8E633B6F4D}" srcOrd="16" destOrd="0" presId="urn:microsoft.com/office/officeart/2005/8/layout/list1"/>
    <dgm:cxn modelId="{382FAD95-B1FD-4AFE-ADA7-9BFC28D6CB6A}" type="presParOf" srcId="{058D2540-C3A3-4408-B089-9E8E633B6F4D}" destId="{2AEE1B38-EDC4-490E-8A47-3B69FBD2A54C}" srcOrd="0" destOrd="0" presId="urn:microsoft.com/office/officeart/2005/8/layout/list1"/>
    <dgm:cxn modelId="{3F54B04D-8E67-42D6-B546-FBE2DBF67834}" type="presParOf" srcId="{058D2540-C3A3-4408-B089-9E8E633B6F4D}" destId="{32CEF726-A6EB-4E25-9166-0710FD64FC71}" srcOrd="1" destOrd="0" presId="urn:microsoft.com/office/officeart/2005/8/layout/list1"/>
    <dgm:cxn modelId="{AA63D1CA-6D83-49DF-B530-B822B5D594C9}" type="presParOf" srcId="{988B2B59-C907-4821-8523-F977841A51D4}" destId="{5235DA49-E549-470D-AEE0-A8C88C76B7C9}" srcOrd="17" destOrd="0" presId="urn:microsoft.com/office/officeart/2005/8/layout/list1"/>
    <dgm:cxn modelId="{3B2414BC-DE4E-4354-A907-E91B8A6361F7}" type="presParOf" srcId="{988B2B59-C907-4821-8523-F977841A51D4}" destId="{80260E1C-F5CB-43D2-9231-5161ACFD690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53D84-0AF4-4B34-8705-87406BF18DB4}">
      <dsp:nvSpPr>
        <dsp:cNvPr id="0" name=""/>
        <dsp:cNvSpPr/>
      </dsp:nvSpPr>
      <dsp:spPr>
        <a:xfrm>
          <a:off x="0" y="24242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52B87E-3DE1-4EAC-A2F6-FA43085412D6}">
      <dsp:nvSpPr>
        <dsp:cNvPr id="0" name=""/>
        <dsp:cNvSpPr/>
      </dsp:nvSpPr>
      <dsp:spPr>
        <a:xfrm>
          <a:off x="442305" y="626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水厂</a:t>
          </a:r>
          <a:r>
            <a:rPr lang="en-US" altLang="zh-CN" sz="1600" kern="1200" dirty="0"/>
            <a:t>1</a:t>
          </a:r>
          <a:r>
            <a:rPr lang="zh-CN" altLang="en-US" sz="1600" kern="1200" dirty="0"/>
            <a:t>、</a:t>
          </a:r>
          <a:r>
            <a:rPr lang="en-US" altLang="zh-CN" sz="1600" kern="1200" dirty="0"/>
            <a:t>2</a:t>
          </a:r>
          <a:r>
            <a:rPr lang="zh-CN" altLang="en-US" sz="1600" kern="1200" dirty="0"/>
            <a:t>层部署全覆盖的</a:t>
          </a:r>
          <a:r>
            <a:rPr lang="en-US" altLang="zh-CN" sz="1600" kern="1200" dirty="0"/>
            <a:t>UWB</a:t>
          </a:r>
          <a:r>
            <a:rPr lang="zh-CN" altLang="en-US" sz="1600" kern="1200" dirty="0"/>
            <a:t>室内定位系统</a:t>
          </a:r>
        </a:p>
      </dsp:txBody>
      <dsp:txXfrm>
        <a:off x="465362" y="29322"/>
        <a:ext cx="6146159" cy="426206"/>
      </dsp:txXfrm>
    </dsp:sp>
    <dsp:sp modelId="{2E098356-A62E-4F1A-81C0-3B8E39CAF2E1}">
      <dsp:nvSpPr>
        <dsp:cNvPr id="0" name=""/>
        <dsp:cNvSpPr/>
      </dsp:nvSpPr>
      <dsp:spPr>
        <a:xfrm>
          <a:off x="0" y="96818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FF513-DCE8-4B83-90CF-4B29E42C99B0}">
      <dsp:nvSpPr>
        <dsp:cNvPr id="0" name=""/>
        <dsp:cNvSpPr/>
      </dsp:nvSpPr>
      <dsp:spPr>
        <a:xfrm>
          <a:off x="442305" y="73202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搭建基于</a:t>
          </a:r>
          <a:r>
            <a:rPr lang="en-US" altLang="zh-CN" sz="1600" kern="1200" dirty="0"/>
            <a:t>GIS</a:t>
          </a:r>
          <a:r>
            <a:rPr lang="zh-CN" altLang="en-US" sz="1600" kern="1200" dirty="0"/>
            <a:t>的可视化导航服务平台</a:t>
          </a:r>
        </a:p>
      </dsp:txBody>
      <dsp:txXfrm>
        <a:off x="465362" y="755082"/>
        <a:ext cx="6146159" cy="426206"/>
      </dsp:txXfrm>
    </dsp:sp>
    <dsp:sp modelId="{2A873864-AA28-46E7-932A-2EAE4975731C}">
      <dsp:nvSpPr>
        <dsp:cNvPr id="0" name=""/>
        <dsp:cNvSpPr/>
      </dsp:nvSpPr>
      <dsp:spPr>
        <a:xfrm>
          <a:off x="0" y="169394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283C4-EFED-4B89-9D74-BD4A2DA241C2}">
      <dsp:nvSpPr>
        <dsp:cNvPr id="0" name=""/>
        <dsp:cNvSpPr/>
      </dsp:nvSpPr>
      <dsp:spPr>
        <a:xfrm>
          <a:off x="442305" y="145778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构建厂区、人员、设备、危险区域等二维空间地理数据库</a:t>
          </a:r>
        </a:p>
      </dsp:txBody>
      <dsp:txXfrm>
        <a:off x="465362" y="1480842"/>
        <a:ext cx="6146159" cy="426206"/>
      </dsp:txXfrm>
    </dsp:sp>
    <dsp:sp modelId="{40356762-23CC-4495-8FEB-77D5A6FC505F}">
      <dsp:nvSpPr>
        <dsp:cNvPr id="0" name=""/>
        <dsp:cNvSpPr/>
      </dsp:nvSpPr>
      <dsp:spPr>
        <a:xfrm>
          <a:off x="0" y="241970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5BA77-9351-4B7C-9028-D104D3256F8F}">
      <dsp:nvSpPr>
        <dsp:cNvPr id="0" name=""/>
        <dsp:cNvSpPr/>
      </dsp:nvSpPr>
      <dsp:spPr>
        <a:xfrm>
          <a:off x="442305" y="218354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配合巡检进行导航、安全提醒等工作过程透明管理 </a:t>
          </a:r>
        </a:p>
      </dsp:txBody>
      <dsp:txXfrm>
        <a:off x="465362" y="2206602"/>
        <a:ext cx="6146159" cy="426206"/>
      </dsp:txXfrm>
    </dsp:sp>
    <dsp:sp modelId="{80260E1C-F5CB-43D2-9231-5161ACFD6905}">
      <dsp:nvSpPr>
        <dsp:cNvPr id="0" name=""/>
        <dsp:cNvSpPr/>
      </dsp:nvSpPr>
      <dsp:spPr>
        <a:xfrm>
          <a:off x="0" y="3145465"/>
          <a:ext cx="884610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EF726-A6EB-4E25-9166-0710FD64FC71}">
      <dsp:nvSpPr>
        <dsp:cNvPr id="0" name=""/>
        <dsp:cNvSpPr/>
      </dsp:nvSpPr>
      <dsp:spPr>
        <a:xfrm>
          <a:off x="442305" y="2909305"/>
          <a:ext cx="619227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053" tIns="0" rIns="2340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提升效率、降低安全风险、提升工作透明度</a:t>
          </a:r>
        </a:p>
      </dsp:txBody>
      <dsp:txXfrm>
        <a:off x="465362" y="2932362"/>
        <a:ext cx="6146159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92823-5FB1-431E-B988-4D34920BF2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CAE35-9DE4-4F6E-B7AA-1B9D5F307C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F9E5A-4D62-6B40-86D0-D009507B26B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DC527-CB41-BB48-A3BC-C51F9475406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F4268-AEAE-D24C-A82F-384FB85B091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 4"/>
          <p:cNvSpPr>
            <a:spLocks noChangeAspect="1"/>
          </p:cNvSpPr>
          <p:nvPr userDrawn="1"/>
        </p:nvSpPr>
        <p:spPr>
          <a:xfrm>
            <a:off x="-958601" y="-635045"/>
            <a:ext cx="1639508" cy="1639508"/>
          </a:xfrm>
          <a:prstGeom prst="arc">
            <a:avLst>
              <a:gd name="adj1" fmla="val 20771918"/>
              <a:gd name="adj2" fmla="val 4859837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>
            <a:spLocks noChangeAspect="1"/>
          </p:cNvSpPr>
          <p:nvPr userDrawn="1"/>
        </p:nvSpPr>
        <p:spPr>
          <a:xfrm>
            <a:off x="182735" y="331547"/>
            <a:ext cx="471967" cy="471967"/>
          </a:xfrm>
          <a:prstGeom prst="ellipse">
            <a:avLst/>
          </a:prstGeom>
          <a:solidFill>
            <a:srgbClr val="2164ED"/>
          </a:solidFill>
          <a:ln>
            <a:solidFill>
              <a:srgbClr val="216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>
            <a:spLocks noChangeAspect="1"/>
          </p:cNvSpPr>
          <p:nvPr userDrawn="1"/>
        </p:nvSpPr>
        <p:spPr>
          <a:xfrm>
            <a:off x="680907" y="397387"/>
            <a:ext cx="118800" cy="118800"/>
          </a:xfrm>
          <a:prstGeom prst="ellipse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2175" y="94149"/>
            <a:ext cx="181120" cy="181120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F6A613-38E4-A948-A6C1-95356A15AFF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193687-9016-8D44-9871-D556A962274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 4"/>
          <p:cNvSpPr>
            <a:spLocks noChangeAspect="1"/>
          </p:cNvSpPr>
          <p:nvPr userDrawn="1"/>
        </p:nvSpPr>
        <p:spPr>
          <a:xfrm>
            <a:off x="-958601" y="-635045"/>
            <a:ext cx="1639508" cy="1639508"/>
          </a:xfrm>
          <a:prstGeom prst="arc">
            <a:avLst>
              <a:gd name="adj1" fmla="val 20771918"/>
              <a:gd name="adj2" fmla="val 4859837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>
            <a:spLocks noChangeAspect="1"/>
          </p:cNvSpPr>
          <p:nvPr userDrawn="1"/>
        </p:nvSpPr>
        <p:spPr>
          <a:xfrm>
            <a:off x="182735" y="331547"/>
            <a:ext cx="471967" cy="471967"/>
          </a:xfrm>
          <a:prstGeom prst="ellipse">
            <a:avLst/>
          </a:prstGeom>
          <a:solidFill>
            <a:srgbClr val="2164ED"/>
          </a:solidFill>
          <a:ln>
            <a:solidFill>
              <a:srgbClr val="216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>
            <a:spLocks noChangeAspect="1"/>
          </p:cNvSpPr>
          <p:nvPr userDrawn="1"/>
        </p:nvSpPr>
        <p:spPr>
          <a:xfrm>
            <a:off x="680907" y="397387"/>
            <a:ext cx="118800" cy="118800"/>
          </a:xfrm>
          <a:prstGeom prst="ellipse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2175" y="94149"/>
            <a:ext cx="181120" cy="181120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6066" y="378004"/>
            <a:ext cx="9580218" cy="438389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94763" y="411258"/>
            <a:ext cx="1286310" cy="2734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png"/><Relationship Id="rId7" Type="http://schemas.openxmlformats.org/officeDocument/2006/relationships/image" Target="../media/image3.svg"/><Relationship Id="rId6" Type="http://schemas.openxmlformats.org/officeDocument/2006/relationships/image" Target="../media/image15.png"/><Relationship Id="rId5" Type="http://schemas.openxmlformats.org/officeDocument/2006/relationships/image" Target="../media/image2.svg"/><Relationship Id="rId4" Type="http://schemas.openxmlformats.org/officeDocument/2006/relationships/image" Target="../media/image14.png"/><Relationship Id="rId3" Type="http://schemas.openxmlformats.org/officeDocument/2006/relationships/image" Target="../media/image1.sv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7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-91105" y="-64980"/>
            <a:ext cx="12192000" cy="245893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连接符 23"/>
          <p:cNvCxnSpPr/>
          <p:nvPr/>
        </p:nvCxnSpPr>
        <p:spPr>
          <a:xfrm flipH="1">
            <a:off x="9595420" y="2491975"/>
            <a:ext cx="1384521" cy="1216084"/>
          </a:xfrm>
          <a:prstGeom prst="line">
            <a:avLst/>
          </a:prstGeom>
          <a:ln w="12700" cap="rnd">
            <a:solidFill>
              <a:schemeClr val="bg1">
                <a:alpha val="2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24206" y="1363195"/>
            <a:ext cx="11180190" cy="310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54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导航智能化资询与研</a:t>
            </a:r>
            <a:endParaRPr kumimoji="1" lang="en-US" altLang="zh-CN" sz="5400" b="1" dirty="0">
              <a:solidFill>
                <a:srgbClr val="2164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54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kumimoji="1" lang="zh-CN" altLang="en-US" sz="54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发试点项目</a:t>
            </a:r>
            <a:endParaRPr kumimoji="1" lang="en-US" altLang="zh-CN" sz="5400" b="1" dirty="0">
              <a:solidFill>
                <a:srgbClr val="2164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60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	        </a:t>
            </a:r>
            <a:r>
              <a:rPr kumimoji="1" lang="zh-CN" altLang="en-US" sz="4800" b="1" dirty="0">
                <a:solidFill>
                  <a:srgbClr val="2164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endParaRPr kumimoji="1" lang="zh-CN" altLang="en-US" sz="4800" b="1" dirty="0">
              <a:solidFill>
                <a:srgbClr val="2164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079365" y="4733925"/>
            <a:ext cx="1564640" cy="824230"/>
            <a:chOff x="1860" y="5569"/>
            <a:chExt cx="2464" cy="1298"/>
          </a:xfrm>
        </p:grpSpPr>
        <p:sp>
          <p:nvSpPr>
            <p:cNvPr id="13" name="文本框 12"/>
            <p:cNvSpPr txBox="1"/>
            <p:nvPr/>
          </p:nvSpPr>
          <p:spPr>
            <a:xfrm>
              <a:off x="1860" y="5569"/>
              <a:ext cx="2182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 Semibold" panose="020B0503020204020204" charset="-122"/>
                  <a:ea typeface="Microsoft YaHei Semibold" panose="020B0503020204020204" charset="-122"/>
                  <a:cs typeface="微软雅黑" panose="020B0503020204020204" charset="-122"/>
                </a:rPr>
                <a:t>   百度水厂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Semibold" panose="020B0503020204020204" charset="-122"/>
                <a:ea typeface="Microsoft YaHei Semibold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216" y="6285"/>
              <a:ext cx="2108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Regular" panose="02000503000000020004" charset="0"/>
                  <a:cs typeface="Helvetica Neue Regular" panose="02000503000000020004" charset="0"/>
                </a:rPr>
                <a:t>2022.03.18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Regular" panose="02000503000000020004" charset="0"/>
                <a:cs typeface="Helvetica Neue Regular" panose="02000503000000020004" charset="0"/>
              </a:endParaRPr>
            </a:p>
          </p:txBody>
        </p:sp>
      </p:grpSp>
      <p:cxnSp>
        <p:nvCxnSpPr>
          <p:cNvPr id="43" name="直线连接符 42"/>
          <p:cNvCxnSpPr/>
          <p:nvPr/>
        </p:nvCxnSpPr>
        <p:spPr>
          <a:xfrm flipH="1">
            <a:off x="3426460" y="0"/>
            <a:ext cx="2669540" cy="1367155"/>
          </a:xfrm>
          <a:prstGeom prst="line">
            <a:avLst/>
          </a:prstGeom>
          <a:ln w="25400" cap="rnd">
            <a:solidFill>
              <a:schemeClr val="bg1">
                <a:lumMod val="75000"/>
                <a:alpha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H="1">
            <a:off x="9436100" y="1070610"/>
            <a:ext cx="3415030" cy="232029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/>
          <p:cNvCxnSpPr/>
          <p:nvPr/>
        </p:nvCxnSpPr>
        <p:spPr>
          <a:xfrm flipH="1">
            <a:off x="3426460" y="5987415"/>
            <a:ext cx="1418590" cy="649605"/>
          </a:xfrm>
          <a:prstGeom prst="line">
            <a:avLst/>
          </a:prstGeom>
          <a:ln w="254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568305" y="4984750"/>
            <a:ext cx="1586230" cy="121094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-1283" r="2"/>
          <a:stretch>
            <a:fillRect/>
          </a:stretch>
        </p:blipFill>
        <p:spPr>
          <a:xfrm>
            <a:off x="9807575" y="794385"/>
            <a:ext cx="2319655" cy="412750"/>
          </a:xfrm>
          <a:prstGeom prst="rect">
            <a:avLst/>
          </a:prstGeom>
        </p:spPr>
      </p:pic>
      <p:pic>
        <p:nvPicPr>
          <p:cNvPr id="29" name="图片 28" descr="资源 58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-1603375"/>
            <a:ext cx="3002280" cy="333883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5063601" y="4376297"/>
            <a:ext cx="1882588" cy="45719"/>
          </a:xfrm>
          <a:prstGeom prst="rect">
            <a:avLst/>
          </a:prstGeom>
          <a:solidFill>
            <a:srgbClr val="22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690088" y="-178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17" name="图片 16" descr="资源 58@4x-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88060" y="-1397000"/>
            <a:ext cx="4123690" cy="4585970"/>
          </a:xfrm>
          <a:prstGeom prst="rect">
            <a:avLst/>
          </a:prstGeom>
        </p:spPr>
      </p:pic>
      <p:cxnSp>
        <p:nvCxnSpPr>
          <p:cNvPr id="24" name="直线连接符 20"/>
          <p:cNvCxnSpPr/>
          <p:nvPr/>
        </p:nvCxnSpPr>
        <p:spPr>
          <a:xfrm flipH="1">
            <a:off x="3703955" y="465455"/>
            <a:ext cx="2155825" cy="1205865"/>
          </a:xfrm>
          <a:prstGeom prst="line">
            <a:avLst/>
          </a:prstGeom>
          <a:ln w="25400" cap="rnd">
            <a:solidFill>
              <a:schemeClr val="bg1">
                <a:lumMod val="75000"/>
                <a:alpha val="2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1"/>
          <p:cNvCxnSpPr/>
          <p:nvPr/>
        </p:nvCxnSpPr>
        <p:spPr>
          <a:xfrm flipH="1">
            <a:off x="4641850" y="-58420"/>
            <a:ext cx="2945130" cy="1729740"/>
          </a:xfrm>
          <a:prstGeom prst="line">
            <a:avLst/>
          </a:prstGeom>
          <a:ln w="12700" cap="rnd">
            <a:solidFill>
              <a:schemeClr val="bg1">
                <a:lumMod val="75000"/>
                <a:alpha val="3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4"/>
          <p:cNvCxnSpPr/>
          <p:nvPr/>
        </p:nvCxnSpPr>
        <p:spPr>
          <a:xfrm flipH="1">
            <a:off x="3135630" y="6021705"/>
            <a:ext cx="2082800" cy="1134745"/>
          </a:xfrm>
          <a:prstGeom prst="line">
            <a:avLst/>
          </a:prstGeom>
          <a:ln w="12700" cap="rnd">
            <a:solidFill>
              <a:srgbClr val="AFC9FF">
                <a:alpha val="2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编组-2 (28)@4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910" y="4943475"/>
            <a:ext cx="2635885" cy="293370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060" y="4816475"/>
            <a:ext cx="2635885" cy="2933700"/>
          </a:xfrm>
          <a:prstGeom prst="rect">
            <a:avLst/>
          </a:prstGeom>
        </p:spPr>
      </p:pic>
      <p:cxnSp>
        <p:nvCxnSpPr>
          <p:cNvPr id="30" name="直线连接符 24"/>
          <p:cNvCxnSpPr/>
          <p:nvPr/>
        </p:nvCxnSpPr>
        <p:spPr>
          <a:xfrm flipH="1">
            <a:off x="-528955" y="2105025"/>
            <a:ext cx="4232910" cy="2392045"/>
          </a:xfrm>
          <a:prstGeom prst="line">
            <a:avLst/>
          </a:prstGeom>
          <a:ln w="12700" cap="rnd">
            <a:solidFill>
              <a:srgbClr val="2164ED">
                <a:alpha val="2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080337" y="16406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业务分析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518573" y="1659877"/>
            <a:ext cx="585417" cy="523220"/>
            <a:chOff x="6255775" y="1564126"/>
            <a:chExt cx="636883" cy="611679"/>
          </a:xfrm>
        </p:grpSpPr>
        <p:sp>
          <p:nvSpPr>
            <p:cNvPr id="74" name="矩形 73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255775" y="1564126"/>
              <a:ext cx="636883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01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5080337" y="225466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主要功能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518573" y="2273942"/>
            <a:ext cx="585418" cy="523220"/>
            <a:chOff x="6230041" y="1564126"/>
            <a:chExt cx="636884" cy="611679"/>
          </a:xfrm>
        </p:grpSpPr>
        <p:sp>
          <p:nvSpPr>
            <p:cNvPr id="72" name="矩形 71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02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5080337" y="286479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数据关系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518573" y="2884071"/>
            <a:ext cx="585418" cy="523220"/>
            <a:chOff x="6230041" y="1564126"/>
            <a:chExt cx="636884" cy="611679"/>
          </a:xfrm>
        </p:grpSpPr>
        <p:sp>
          <p:nvSpPr>
            <p:cNvPr id="70" name="矩形 69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03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5080337" y="34222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主要功能原型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518573" y="3441551"/>
            <a:ext cx="585418" cy="523220"/>
            <a:chOff x="6230041" y="1564126"/>
            <a:chExt cx="636884" cy="611679"/>
          </a:xfrm>
        </p:grpSpPr>
        <p:sp>
          <p:nvSpPr>
            <p:cNvPr id="68" name="矩形 67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04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5080337" y="40298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接口说明</a:t>
            </a:r>
            <a:endParaRPr kumimoji="1"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518573" y="4049143"/>
            <a:ext cx="585418" cy="523220"/>
            <a:chOff x="6230041" y="1564126"/>
            <a:chExt cx="636884" cy="611679"/>
          </a:xfrm>
        </p:grpSpPr>
        <p:sp>
          <p:nvSpPr>
            <p:cNvPr id="66" name="矩形 65"/>
            <p:cNvSpPr>
              <a:spLocks noChangeAspect="1"/>
            </p:cNvSpPr>
            <p:nvPr/>
          </p:nvSpPr>
          <p:spPr>
            <a:xfrm>
              <a:off x="6416469" y="1565150"/>
              <a:ext cx="377416" cy="377416"/>
            </a:xfrm>
            <a:prstGeom prst="rect">
              <a:avLst/>
            </a:prstGeom>
            <a:solidFill>
              <a:srgbClr val="F1E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6230041" y="1564126"/>
              <a:ext cx="636884" cy="611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 dirty="0">
                  <a:solidFill>
                    <a:srgbClr val="2164ED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05</a:t>
              </a:r>
              <a:endParaRPr kumimoji="1" lang="en-US" altLang="zh-CN" sz="2800" b="1" i="1" dirty="0">
                <a:solidFill>
                  <a:srgbClr val="2164ED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业务分析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01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4" name="图片 3" descr="资源 58@4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740" y="3326130"/>
            <a:ext cx="4123690" cy="458597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3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业务</a:t>
            </a:r>
            <a:r>
              <a:rPr lang="zh-CN" altLang="en-US" dirty="0">
                <a:solidFill>
                  <a:schemeClr val="tx1"/>
                </a:solidFill>
              </a:rPr>
              <a:t>分析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018613" y="3088604"/>
            <a:ext cx="8975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539750" y="584200"/>
            <a:ext cx="8064500" cy="4641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lvl="1" indent="-342900" algn="just" eaLnBrk="0" hangingPunct="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latin typeface="微软雅黑" panose="020B0503020204020204" charset="-122"/>
              </a:rPr>
              <a:t>业务需求</a:t>
            </a:r>
            <a:endParaRPr lang="en-US" altLang="zh-CN" b="1" dirty="0">
              <a:latin typeface="微软雅黑" panose="020B0503020204020204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22807" y="1025748"/>
            <a:ext cx="8550275" cy="326576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88950" lvl="0" indent="-268605">
              <a:lnSpc>
                <a:spcPct val="135000"/>
              </a:lnSpc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实现厂区</a:t>
            </a:r>
            <a:r>
              <a:rPr lang="en-US" altLang="zh-CN" sz="1400" dirty="0">
                <a:effectLst/>
              </a:rPr>
              <a:t>UWB</a:t>
            </a:r>
            <a:r>
              <a:rPr lang="zh-CN" altLang="en-US" sz="1400" dirty="0">
                <a:effectLst/>
              </a:rPr>
              <a:t>定位全覆盖</a:t>
            </a:r>
            <a:endParaRPr lang="en-US" altLang="zh-CN" sz="1400" dirty="0">
              <a:effectLst/>
            </a:endParaRPr>
          </a:p>
          <a:p>
            <a:pPr marL="488950" lvl="0" indent="-268605">
              <a:lnSpc>
                <a:spcPct val="135000"/>
              </a:lnSpc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建立示范区室内二维地图，地图需模拟 厂区内部基本轮廓形状，完整展示建筑整体室内地图，及各设备等具体 </a:t>
            </a:r>
            <a:r>
              <a:rPr lang="en-US" altLang="zh-CN" sz="1400" dirty="0">
                <a:effectLst/>
              </a:rPr>
              <a:t>POI </a:t>
            </a:r>
            <a:r>
              <a:rPr lang="zh-CN" altLang="en-US" sz="1400" dirty="0">
                <a:effectLst/>
              </a:rPr>
              <a:t>信息</a:t>
            </a:r>
            <a:endParaRPr lang="zh-CN" altLang="zh-CN" sz="14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/>
              <a:t>对于不同楼层，以层为单位进行多栋多层展现</a:t>
            </a:r>
            <a:endParaRPr lang="en-US" altLang="zh-CN" sz="1400" dirty="0"/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实现基于任何位置 的厂区内导航</a:t>
            </a:r>
            <a:endParaRPr lang="en-US" altLang="zh-CN" sz="1400" dirty="0">
              <a:effectLst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提供通用地图平台及接口，预留地理围栏接口，能支持业务开发，可调用位置信 息、地图数据、路线计算等</a:t>
            </a:r>
            <a:endParaRPr lang="en-US" altLang="zh-CN" sz="1400" dirty="0">
              <a:effectLst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地图基本操作，实现地图缩放、平移、旋转和俯仰操作</a:t>
            </a:r>
            <a:endParaRPr lang="en-US" altLang="zh-CN" sz="1400" dirty="0">
              <a:effectLst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charset="-122"/>
                <a:cs typeface="Times New Roman" panose="02020603050405020304" charset="0"/>
              </a:rPr>
              <a:t>地图部件</a:t>
            </a:r>
            <a:r>
              <a:rPr lang="zh-CN" altLang="en-US" sz="1400" dirty="0"/>
              <a:t>提供比例尺、罗盘按钮、定位按钮、方向指示、设施按钮 等 </a:t>
            </a:r>
            <a:endParaRPr lang="en-US" altLang="zh-CN" sz="1400" dirty="0"/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charset="-122"/>
                <a:cs typeface="Times New Roman" panose="02020603050405020304" charset="0"/>
              </a:rPr>
              <a:t>POI</a:t>
            </a:r>
            <a:r>
              <a:rPr lang="zh-CN" altLang="en-US" sz="1400" dirty="0">
                <a:latin typeface="微软雅黑" panose="020B0503020204020204" charset="-122"/>
                <a:cs typeface="Times New Roman" panose="02020603050405020304" charset="0"/>
              </a:rPr>
              <a:t>搜索，按设备编号搜索等；支持历史记录搜索、关键词搜索、 语音搜索 </a:t>
            </a:r>
            <a:endParaRPr lang="zh-CN" altLang="zh-CN" sz="14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charset="-122"/>
                <a:cs typeface="Times New Roman" panose="02020603050405020304" charset="0"/>
              </a:rPr>
              <a:t>导航，路线规划、路线详情展示、实时动态导航、定位吸附、偏航重新规划、语音导航、跨楼层导航 </a:t>
            </a:r>
            <a:endParaRPr lang="zh-CN" altLang="zh-CN" sz="1400" dirty="0">
              <a:latin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右箭头 4"/>
          <p:cNvSpPr/>
          <p:nvPr/>
        </p:nvSpPr>
        <p:spPr bwMode="auto">
          <a:xfrm>
            <a:off x="8773083" y="2069463"/>
            <a:ext cx="612068" cy="136815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rtlCol="0" anchor="ctr"/>
          <a:lstStyle/>
          <a:p>
            <a:pPr algn="ctr">
              <a:tabLst>
                <a:tab pos="292100" algn="l"/>
              </a:tabLst>
            </a:pPr>
            <a:endParaRPr lang="zh-CN" altLang="en-US" sz="1800">
              <a:latin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9385151" y="1616962"/>
            <a:ext cx="2556792" cy="45879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62255" lvl="0" indent="-262255">
              <a:lnSpc>
                <a:spcPct val="135000"/>
              </a:lnSpc>
              <a:buSzPct val="120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charset="-122"/>
                <a:cs typeface="Times New Roman" panose="02020603050405020304" charset="0"/>
              </a:rPr>
              <a:t>主要需求</a:t>
            </a:r>
            <a:endParaRPr lang="en-US" altLang="zh-CN" sz="2000" b="1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indent="-268605" eaLnBrk="0" hangingPunct="0">
              <a:lnSpc>
                <a:spcPct val="135000"/>
              </a:lnSpc>
              <a:buSzPct val="120000"/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charset="-122"/>
                <a:cs typeface="Times New Roman" panose="02020603050405020304" charset="0"/>
              </a:rPr>
              <a:t>UWB</a:t>
            </a: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实时定位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indent="-268605" eaLnBrk="0" hangingPunct="0">
              <a:lnSpc>
                <a:spcPct val="135000"/>
              </a:lnSpc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二维地图制作</a:t>
            </a:r>
            <a:endParaRPr lang="en-US" altLang="zh-CN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indent="-268605" eaLnBrk="0" hangingPunct="0">
              <a:lnSpc>
                <a:spcPct val="135000"/>
              </a:lnSpc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坐标系转换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indent="-268605" eaLnBrk="0" hangingPunct="0">
              <a:lnSpc>
                <a:spcPct val="135000"/>
              </a:lnSpc>
              <a:buSzPct val="12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charset="-122"/>
                <a:cs typeface="Times New Roman" panose="02020603050405020304" charset="0"/>
              </a:rPr>
              <a:t>设备</a:t>
            </a:r>
            <a:r>
              <a:rPr lang="en-US" altLang="zh-CN" sz="1800" dirty="0">
                <a:latin typeface="微软雅黑" panose="020B0503020204020204" charset="-122"/>
                <a:cs typeface="Times New Roman" panose="02020603050405020304" charset="0"/>
              </a:rPr>
              <a:t>POI</a:t>
            </a:r>
            <a:r>
              <a:rPr lang="zh-CN" altLang="en-US" sz="1800" dirty="0">
                <a:latin typeface="微软雅黑" panose="020B0503020204020204" charset="-122"/>
                <a:cs typeface="Times New Roman" panose="02020603050405020304" charset="0"/>
              </a:rPr>
              <a:t>展示</a:t>
            </a:r>
            <a:endParaRPr lang="zh-CN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微软雅黑" panose="020B0503020204020204" charset="-122"/>
                <a:cs typeface="Times New Roman" panose="02020603050405020304" charset="0"/>
              </a:rPr>
              <a:t>GIS</a:t>
            </a:r>
            <a:r>
              <a:rPr lang="zh-CN" altLang="en-US" sz="1800" dirty="0">
                <a:latin typeface="微软雅黑" panose="020B0503020204020204" charset="-122"/>
                <a:cs typeface="Times New Roman" panose="02020603050405020304" charset="0"/>
              </a:rPr>
              <a:t>地图服务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导航服务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电子围栏</a:t>
            </a:r>
            <a:endParaRPr lang="en-US" altLang="zh-CN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巡检应用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charset="-122"/>
                <a:cs typeface="Times New Roman" panose="02020603050405020304" charset="0"/>
              </a:rPr>
              <a:t>设备信息补录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基本数据管理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  <a:p>
            <a:pPr marL="488950" marR="0" lvl="0" indent="-268605" defTabSz="914400" eaLnBrk="0" latinLnBrk="0" hangingPunct="0">
              <a:lnSpc>
                <a:spcPct val="135000"/>
              </a:lnSpc>
              <a:buClrTx/>
              <a:buSzPct val="12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charset="-122"/>
                <a:cs typeface="Times New Roman" panose="02020603050405020304" charset="0"/>
              </a:rPr>
              <a:t>权限管理</a:t>
            </a:r>
            <a:endParaRPr lang="en-US" altLang="zh-CN" sz="1800" dirty="0">
              <a:latin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22806" y="4872862"/>
            <a:ext cx="8550275" cy="181152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88950" lvl="0" indent="-268605">
              <a:lnSpc>
                <a:spcPct val="135000"/>
              </a:lnSpc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巡检场景：巡检前自动搜索该巡检路线上还未关闭的缺陷工单或关注 缺陷（</a:t>
            </a:r>
            <a:r>
              <a:rPr lang="en-US" altLang="zh-CN" sz="1400" dirty="0">
                <a:effectLst/>
              </a:rPr>
              <a:t>CM</a:t>
            </a:r>
            <a:r>
              <a:rPr lang="zh-CN" altLang="en-US" sz="1400" dirty="0">
                <a:effectLst/>
              </a:rPr>
              <a:t>、</a:t>
            </a:r>
            <a:r>
              <a:rPr lang="en-US" altLang="zh-CN" sz="1400" dirty="0">
                <a:effectLst/>
              </a:rPr>
              <a:t>DM</a:t>
            </a:r>
            <a:r>
              <a:rPr lang="zh-CN" altLang="en-US" sz="1400" dirty="0">
                <a:effectLst/>
              </a:rPr>
              <a:t>），到该区域扫码后自动语音提醒； </a:t>
            </a:r>
            <a:endParaRPr lang="en-US" altLang="zh-CN" sz="1400" dirty="0">
              <a:effectLst/>
            </a:endParaRPr>
          </a:p>
          <a:p>
            <a:pPr marL="488950" lvl="0" indent="-268605">
              <a:lnSpc>
                <a:spcPct val="135000"/>
              </a:lnSpc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>
                <a:effectLst/>
              </a:rPr>
              <a:t>巡检路径预计耗时计算统计，存在工业安全风险时（如上下楼梯请握 扶手，小心绊倒、佩戴安全带、测氧、防酸碱）进行语音提示； </a:t>
            </a:r>
            <a:endParaRPr lang="en-US" altLang="zh-CN" sz="1400" dirty="0">
              <a:effectLst/>
            </a:endParaRPr>
          </a:p>
          <a:p>
            <a:pPr marL="488950" lvl="0" indent="-268605">
              <a:lnSpc>
                <a:spcPct val="135000"/>
              </a:lnSpc>
              <a:buSzPct val="120000"/>
              <a:buFont typeface="Wingdings" panose="05000000000000000000" pitchFamily="2" charset="2"/>
              <a:buChar char="Ø"/>
            </a:pPr>
            <a:r>
              <a:rPr lang="zh-CN" altLang="en-US" sz="1400" dirty="0"/>
              <a:t>语音申报工作申请，自动推送该设备或该型号设备最相近的故障缺陷 和原因以及处理过程，查找该工作申请后同一时间日志记录 </a:t>
            </a:r>
            <a:endParaRPr lang="zh-CN" altLang="zh-CN" sz="1400" dirty="0"/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387350" y="4394200"/>
            <a:ext cx="8064500" cy="4641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lvl="1" indent="-342900" algn="just" eaLnBrk="0" hangingPunct="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latin typeface="微软雅黑" panose="020B0503020204020204" charset="-122"/>
              </a:rPr>
              <a:t>配合支持系统的业务开发</a:t>
            </a:r>
            <a:endParaRPr lang="en-US" altLang="zh-CN" b="1" dirty="0">
              <a:latin typeface="微软雅黑" panose="020B0503020204020204" charset="-122"/>
            </a:endParaRPr>
          </a:p>
        </p:txBody>
      </p:sp>
      <p:sp>
        <p:nvSpPr>
          <p:cNvPr id="15" name="右箭头 4"/>
          <p:cNvSpPr/>
          <p:nvPr/>
        </p:nvSpPr>
        <p:spPr bwMode="auto">
          <a:xfrm>
            <a:off x="8773083" y="4531032"/>
            <a:ext cx="612068" cy="136815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rtlCol="0" anchor="ctr"/>
          <a:lstStyle/>
          <a:p>
            <a:pPr algn="ctr">
              <a:tabLst>
                <a:tab pos="292100" algn="l"/>
              </a:tabLst>
            </a:pPr>
            <a:endParaRPr lang="zh-CN" altLang="en-US" sz="1800">
              <a:latin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</a:rPr>
              <a:t>整体目标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" name="幻灯片编号"/>
          <p:cNvSpPr txBox="1"/>
          <p:nvPr/>
        </p:nvSpPr>
        <p:spPr>
          <a:xfrm>
            <a:off x="11415526" y="6467622"/>
            <a:ext cx="729255" cy="390378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zh-CN" alt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879" y="6628766"/>
            <a:ext cx="480982" cy="72000"/>
            <a:chOff x="143879" y="6628766"/>
            <a:chExt cx="480982" cy="72000"/>
          </a:xfrm>
        </p:grpSpPr>
        <p:sp>
          <p:nvSpPr>
            <p:cNvPr id="37" name="椭圆 36"/>
            <p:cNvSpPr>
              <a:spLocks noChangeAspect="1"/>
            </p:cNvSpPr>
            <p:nvPr/>
          </p:nvSpPr>
          <p:spPr>
            <a:xfrm>
              <a:off x="143879" y="6628766"/>
              <a:ext cx="72000" cy="72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80206" y="6628766"/>
              <a:ext cx="72000" cy="72000"/>
            </a:xfrm>
            <a:prstGeom prst="ellipse">
              <a:avLst/>
            </a:prstGeom>
            <a:solidFill>
              <a:srgbClr val="2164ED"/>
            </a:solidFill>
            <a:ln>
              <a:solidFill>
                <a:srgbClr val="2164E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39"/>
            <p:cNvSpPr>
              <a:spLocks noChangeAspect="1"/>
            </p:cNvSpPr>
            <p:nvPr/>
          </p:nvSpPr>
          <p:spPr>
            <a:xfrm>
              <a:off x="416533" y="6628766"/>
              <a:ext cx="72000" cy="72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椭圆 41"/>
            <p:cNvSpPr>
              <a:spLocks noChangeAspect="1"/>
            </p:cNvSpPr>
            <p:nvPr/>
          </p:nvSpPr>
          <p:spPr>
            <a:xfrm>
              <a:off x="552861" y="6628766"/>
              <a:ext cx="72000" cy="7200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1178" y="784861"/>
            <a:ext cx="10829087" cy="5417820"/>
            <a:chOff x="1122700" y="1900011"/>
            <a:chExt cx="7677053" cy="2534567"/>
          </a:xfrm>
        </p:grpSpPr>
        <p:sp>
          <p:nvSpPr>
            <p:cNvPr id="18" name="矩形 17"/>
            <p:cNvSpPr/>
            <p:nvPr/>
          </p:nvSpPr>
          <p:spPr>
            <a:xfrm>
              <a:off x="1122700" y="1900011"/>
              <a:ext cx="7677053" cy="253456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endParaRPr lang="zh-CN" altLang="en-US" sz="105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552497" y="2270681"/>
              <a:ext cx="5988268" cy="187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zh-CN" sz="1200" kern="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732201" y="1063258"/>
            <a:ext cx="10607040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      依托二维、三维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GIS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等相关技术，构建室内人员、设备、物资等公司资源统一展示的“一张图”，并结合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UWB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、导航等技术，对人员、设备资源进行实时定位及导航，对工作任务全程进行可视化管理。主要实现以下目标：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821253" y="2450019"/>
          <a:ext cx="8846105" cy="3554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16066" y="316501"/>
            <a:ext cx="9580218" cy="438389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语音及导航智能化资询与研发试点项目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一张图可视化管理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72138" y="816393"/>
            <a:ext cx="11566071" cy="5910978"/>
          </a:xfrm>
          <a:prstGeom prst="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圆角矩形 26"/>
          <p:cNvSpPr/>
          <p:nvPr/>
        </p:nvSpPr>
        <p:spPr>
          <a:xfrm>
            <a:off x="404363" y="1001310"/>
            <a:ext cx="3411480" cy="1169551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84190" y="1048376"/>
            <a:ext cx="2764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整体资源全图展示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35349" y="1368271"/>
            <a:ext cx="28273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厂区整体二维地图展示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UWB</a:t>
            </a: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人员实时位置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设备位置、状态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电子围栏等风险区域展示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圆角矩形 29"/>
          <p:cNvSpPr/>
          <p:nvPr/>
        </p:nvSpPr>
        <p:spPr>
          <a:xfrm>
            <a:off x="4011319" y="935029"/>
            <a:ext cx="3710660" cy="1235454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934828" y="959404"/>
            <a:ext cx="2086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可视化精准管控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136472" y="1282607"/>
            <a:ext cx="31515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人员实时位置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巡检路径实时化、可视化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风险点风险区域实时监控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语音、可视化的导航指引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圆角矩形 35"/>
          <p:cNvSpPr/>
          <p:nvPr/>
        </p:nvSpPr>
        <p:spPr>
          <a:xfrm>
            <a:off x="8033943" y="969680"/>
            <a:ext cx="3660936" cy="1229146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7737066" y="993216"/>
            <a:ext cx="2086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时空统计分析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984219" y="1308709"/>
            <a:ext cx="290262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通过历史轨迹进行巡检等工作过程回放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电子围栏等管控区域统计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设备、物资缺陷实时统计展示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告警信息时间、地点统计回放</a:t>
            </a:r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792" y="2313543"/>
            <a:ext cx="7123334" cy="4441188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84184" y="3763660"/>
          <a:ext cx="23693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49"/>
                <a:gridCol w="708454"/>
                <a:gridCol w="790833"/>
              </a:tblGrid>
              <a:tr h="264029">
                <a:tc grid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实时定位人员分布情况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总量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作业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空闲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264029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7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75350" y="2762628"/>
          <a:ext cx="23693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954"/>
                <a:gridCol w="561549"/>
                <a:gridCol w="790833"/>
              </a:tblGrid>
              <a:tr h="264029">
                <a:tc grid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告警信息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电子围栏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闯入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任务调度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7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超时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782584" y="4782330"/>
          <a:ext cx="23693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49"/>
                <a:gridCol w="708454"/>
                <a:gridCol w="790833"/>
              </a:tblGrid>
              <a:tr h="264029">
                <a:tc grid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风险点分布统计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264029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总量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时间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描述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264029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12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形 4" descr="男人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220" y="3583012"/>
            <a:ext cx="338488" cy="377739"/>
          </a:xfrm>
          <a:prstGeom prst="rect">
            <a:avLst/>
          </a:prstGeom>
        </p:spPr>
      </p:pic>
      <p:pic>
        <p:nvPicPr>
          <p:cNvPr id="21" name="图形 20" descr="男人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536" y="4103433"/>
            <a:ext cx="338488" cy="377739"/>
          </a:xfrm>
          <a:prstGeom prst="rect">
            <a:avLst/>
          </a:prstGeom>
        </p:spPr>
      </p:pic>
      <p:pic>
        <p:nvPicPr>
          <p:cNvPr id="22" name="图形 21" descr="男人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1319" y="5534979"/>
            <a:ext cx="338488" cy="377739"/>
          </a:xfrm>
          <a:prstGeom prst="rect">
            <a:avLst/>
          </a:prstGeom>
        </p:spPr>
      </p:pic>
      <p:pic>
        <p:nvPicPr>
          <p:cNvPr id="23" name="图形 22" descr="骷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0673" y="5587866"/>
            <a:ext cx="409692" cy="32485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724834" y="3211609"/>
            <a:ext cx="792541" cy="82169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85066" y="33146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禁止入内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25" name="图片 24" descr="空/最短路径-2.png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323" y="1914004"/>
            <a:ext cx="6294440" cy="5096395"/>
          </a:xfrm>
          <a:prstGeom prst="rect">
            <a:avLst/>
          </a:prstGeom>
          <a:noFill/>
          <a:ln>
            <a:noFill/>
          </a:ln>
          <a:effectLst>
            <a:outerShdw blurRad="127000" dist="50800" dir="7440000" algn="ctr" rotWithShape="0">
              <a:srgbClr val="000000">
                <a:alpha val="49000"/>
              </a:srgb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9916984" y="5123960"/>
            <a:ext cx="217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导航信息简短描述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904390" y="4386591"/>
            <a:ext cx="119474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最优</a:t>
            </a:r>
            <a:r>
              <a:rPr lang="zh-CN" altLang="zh-CN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路径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972559" y="3037631"/>
            <a:ext cx="188564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搜索人员、设备、物资等</a:t>
            </a: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POI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点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29" name="Straight Arrow Connector 19"/>
          <p:cNvCxnSpPr/>
          <p:nvPr/>
        </p:nvCxnSpPr>
        <p:spPr>
          <a:xfrm>
            <a:off x="8863123" y="3419710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0"/>
          <p:cNvCxnSpPr/>
          <p:nvPr/>
        </p:nvCxnSpPr>
        <p:spPr>
          <a:xfrm>
            <a:off x="8863123" y="4675349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21"/>
          <p:cNvCxnSpPr/>
          <p:nvPr/>
        </p:nvCxnSpPr>
        <p:spPr>
          <a:xfrm flipV="1">
            <a:off x="8886420" y="5327746"/>
            <a:ext cx="1010115" cy="11416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主要功能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02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4" name="图片 3" descr="资源 58@4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740" y="3326130"/>
            <a:ext cx="4123690" cy="458597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3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sz="2400" kern="1200" dirty="0">
                <a:solidFill>
                  <a:schemeClr val="tx1"/>
                </a:solidFill>
              </a:rPr>
              <a:t>主要</a:t>
            </a:r>
            <a:r>
              <a:rPr lang="zh-CN" altLang="en-US" dirty="0">
                <a:solidFill>
                  <a:schemeClr val="tx1"/>
                </a:solidFill>
              </a:rPr>
              <a:t>功能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018613" y="3088604"/>
            <a:ext cx="89758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04164" y="1016000"/>
            <a:ext cx="2930525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6414" y="1895475"/>
            <a:ext cx="102235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UWB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29526" y="1895475"/>
            <a:ext cx="1058863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GIS</a:t>
            </a:r>
            <a:r>
              <a:rPr lang="zh-CN" altLang="en-US" sz="16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94847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导航服务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62227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巡检应用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43488" y="3054350"/>
            <a:ext cx="266308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定位接口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7574" y="3054350"/>
            <a:ext cx="246062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实时定位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50662" y="3054350"/>
            <a:ext cx="250826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声音报警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77612" y="3054350"/>
            <a:ext cx="231775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震动报警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8" name="肘形连接符 18"/>
          <p:cNvCxnSpPr>
            <a:stCxn id="15" idx="0"/>
            <a:endCxn id="9" idx="2"/>
          </p:cNvCxnSpPr>
          <p:nvPr/>
        </p:nvCxnSpPr>
        <p:spPr>
          <a:xfrm rot="5400000" flipH="1" flipV="1">
            <a:off x="118816" y="2445577"/>
            <a:ext cx="690562" cy="5269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9" name="肘形连接符 21"/>
          <p:cNvCxnSpPr>
            <a:stCxn id="17" idx="0"/>
            <a:endCxn id="9" idx="2"/>
          </p:cNvCxnSpPr>
          <p:nvPr/>
        </p:nvCxnSpPr>
        <p:spPr>
          <a:xfrm rot="5400000" flipH="1" flipV="1">
            <a:off x="265263" y="2592025"/>
            <a:ext cx="690562" cy="23408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0" name="肘形连接符 24"/>
          <p:cNvCxnSpPr>
            <a:stCxn id="16" idx="0"/>
            <a:endCxn id="9" idx="2"/>
          </p:cNvCxnSpPr>
          <p:nvPr/>
        </p:nvCxnSpPr>
        <p:spPr>
          <a:xfrm rot="16200000" flipV="1">
            <a:off x="406551" y="2684826"/>
            <a:ext cx="690562" cy="4848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1" name="肘形连接符 27"/>
          <p:cNvCxnSpPr>
            <a:stCxn id="14" idx="0"/>
            <a:endCxn id="9" idx="2"/>
          </p:cNvCxnSpPr>
          <p:nvPr/>
        </p:nvCxnSpPr>
        <p:spPr>
          <a:xfrm rot="16200000" flipV="1">
            <a:off x="556835" y="2534542"/>
            <a:ext cx="690562" cy="34905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9051487" y="3054350"/>
            <a:ext cx="238125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设备等图例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5887184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巡检过程回放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5327301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设备定位查看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5606701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巡检路径导航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6817192" y="3054349"/>
            <a:ext cx="238125" cy="1253053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电子围栏绘制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8" name="肘形连接符 38"/>
          <p:cNvCxnSpPr>
            <a:stCxn id="25" idx="0"/>
            <a:endCxn id="12" idx="2"/>
          </p:cNvCxnSpPr>
          <p:nvPr/>
        </p:nvCxnSpPr>
        <p:spPr>
          <a:xfrm rot="5400000" flipH="1" flipV="1">
            <a:off x="5351114" y="2459038"/>
            <a:ext cx="690562" cy="5000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9" name="肘形连接符 41"/>
          <p:cNvCxnSpPr>
            <a:stCxn id="27" idx="0"/>
            <a:endCxn id="96" idx="2"/>
          </p:cNvCxnSpPr>
          <p:nvPr/>
        </p:nvCxnSpPr>
        <p:spPr>
          <a:xfrm rot="5400000" flipH="1" flipV="1">
            <a:off x="6794968" y="2484438"/>
            <a:ext cx="711199" cy="42862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0" name="肘形连接符 44"/>
          <p:cNvCxnSpPr>
            <a:stCxn id="26" idx="0"/>
            <a:endCxn id="12" idx="2"/>
          </p:cNvCxnSpPr>
          <p:nvPr/>
        </p:nvCxnSpPr>
        <p:spPr>
          <a:xfrm rot="5400000" flipH="1" flipV="1">
            <a:off x="5490814" y="2598738"/>
            <a:ext cx="690562" cy="2206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" name="肘形连接符 47"/>
          <p:cNvCxnSpPr>
            <a:stCxn id="24" idx="0"/>
            <a:endCxn id="12" idx="2"/>
          </p:cNvCxnSpPr>
          <p:nvPr/>
        </p:nvCxnSpPr>
        <p:spPr>
          <a:xfrm rot="16200000" flipV="1">
            <a:off x="5631056" y="2679159"/>
            <a:ext cx="690562" cy="5982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2" name="肘形连接符 50"/>
          <p:cNvCxnSpPr>
            <a:stCxn id="23" idx="0"/>
            <a:endCxn id="92" idx="2"/>
          </p:cNvCxnSpPr>
          <p:nvPr/>
        </p:nvCxnSpPr>
        <p:spPr>
          <a:xfrm rot="16200000" flipV="1">
            <a:off x="8601432" y="2485231"/>
            <a:ext cx="690562" cy="4476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" name="肘形连接符 53"/>
          <p:cNvCxnSpPr>
            <a:stCxn id="9" idx="0"/>
            <a:endCxn id="8" idx="2"/>
          </p:cNvCxnSpPr>
          <p:nvPr/>
        </p:nvCxnSpPr>
        <p:spPr>
          <a:xfrm rot="5400000" flipH="1" flipV="1">
            <a:off x="2792927" y="-581025"/>
            <a:ext cx="411162" cy="454183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" name="肘形连接符 56"/>
          <p:cNvCxnSpPr>
            <a:stCxn id="10" idx="0"/>
            <a:endCxn id="8" idx="2"/>
          </p:cNvCxnSpPr>
          <p:nvPr/>
        </p:nvCxnSpPr>
        <p:spPr>
          <a:xfrm rot="5400000" flipH="1" flipV="1">
            <a:off x="3658611" y="284660"/>
            <a:ext cx="411162" cy="281046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5" name="肘形连接符 59"/>
          <p:cNvCxnSpPr>
            <a:stCxn id="11" idx="0"/>
            <a:endCxn id="8" idx="2"/>
          </p:cNvCxnSpPr>
          <p:nvPr/>
        </p:nvCxnSpPr>
        <p:spPr>
          <a:xfrm rot="5400000" flipH="1" flipV="1">
            <a:off x="4568656" y="1194704"/>
            <a:ext cx="411162" cy="99038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6" name="肘形连接符 62"/>
          <p:cNvCxnSpPr>
            <a:stCxn id="12" idx="0"/>
            <a:endCxn id="8" idx="2"/>
          </p:cNvCxnSpPr>
          <p:nvPr/>
        </p:nvCxnSpPr>
        <p:spPr>
          <a:xfrm rot="16200000" flipV="1">
            <a:off x="5402346" y="1351394"/>
            <a:ext cx="411162" cy="67700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37" name="矩形 36"/>
          <p:cNvSpPr/>
          <p:nvPr/>
        </p:nvSpPr>
        <p:spPr bwMode="auto">
          <a:xfrm>
            <a:off x="4723280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模拟导航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017243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语音路线实时指引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4486876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偏航重新规划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auto">
          <a:xfrm>
            <a:off x="4252060" y="48612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跨楼层导航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6968169" y="4861249"/>
            <a:ext cx="225692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离开告警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6661707" y="4861249"/>
            <a:ext cx="241419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闯入告警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7244483" y="4861249"/>
            <a:ext cx="223925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进入打卡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48" name="肘形连接符 81"/>
          <p:cNvCxnSpPr>
            <a:stCxn id="38" idx="0"/>
            <a:endCxn id="114" idx="2"/>
          </p:cNvCxnSpPr>
          <p:nvPr/>
        </p:nvCxnSpPr>
        <p:spPr>
          <a:xfrm rot="5400000" flipH="1" flipV="1">
            <a:off x="4040161" y="4406036"/>
            <a:ext cx="534792" cy="3756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49" name="肘形连接符 84"/>
          <p:cNvCxnSpPr>
            <a:stCxn id="40" idx="0"/>
            <a:endCxn id="114" idx="2"/>
          </p:cNvCxnSpPr>
          <p:nvPr/>
        </p:nvCxnSpPr>
        <p:spPr>
          <a:xfrm rot="5400000" flipH="1" flipV="1">
            <a:off x="4157569" y="4523444"/>
            <a:ext cx="534792" cy="14081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0" name="肘形连接符 87"/>
          <p:cNvCxnSpPr>
            <a:stCxn id="39" idx="0"/>
            <a:endCxn id="114" idx="2"/>
          </p:cNvCxnSpPr>
          <p:nvPr/>
        </p:nvCxnSpPr>
        <p:spPr>
          <a:xfrm rot="16200000" flipV="1">
            <a:off x="4274978" y="4546851"/>
            <a:ext cx="534792" cy="9400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1" name="肘形连接符 90"/>
          <p:cNvCxnSpPr>
            <a:stCxn id="37" idx="0"/>
            <a:endCxn id="114" idx="2"/>
          </p:cNvCxnSpPr>
          <p:nvPr/>
        </p:nvCxnSpPr>
        <p:spPr>
          <a:xfrm rot="16200000" flipV="1">
            <a:off x="4393180" y="4428649"/>
            <a:ext cx="534792" cy="3304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2" name="肘形连接符 93"/>
          <p:cNvCxnSpPr>
            <a:stCxn id="42" idx="0"/>
            <a:endCxn id="27" idx="2"/>
          </p:cNvCxnSpPr>
          <p:nvPr/>
        </p:nvCxnSpPr>
        <p:spPr>
          <a:xfrm rot="5400000" flipH="1" flipV="1">
            <a:off x="6582413" y="4507407"/>
            <a:ext cx="553847" cy="15383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8" name="肘形连接符 102"/>
          <p:cNvCxnSpPr>
            <a:stCxn id="41" idx="0"/>
            <a:endCxn id="27" idx="2"/>
          </p:cNvCxnSpPr>
          <p:nvPr/>
        </p:nvCxnSpPr>
        <p:spPr>
          <a:xfrm rot="16200000" flipV="1">
            <a:off x="6731712" y="4511946"/>
            <a:ext cx="553847" cy="14476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59" name="肘形连接符 105"/>
          <p:cNvCxnSpPr>
            <a:stCxn id="45" idx="0"/>
            <a:endCxn id="27" idx="2"/>
          </p:cNvCxnSpPr>
          <p:nvPr/>
        </p:nvCxnSpPr>
        <p:spPr>
          <a:xfrm rot="16200000" flipV="1">
            <a:off x="6869428" y="4374230"/>
            <a:ext cx="553847" cy="42019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62" name="矩形 61"/>
          <p:cNvSpPr/>
          <p:nvPr/>
        </p:nvSpPr>
        <p:spPr bwMode="auto">
          <a:xfrm>
            <a:off x="8463934" y="3054349"/>
            <a:ext cx="238125" cy="125305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厂区基本地图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11090194" y="3054350"/>
            <a:ext cx="252412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功能权限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auto">
          <a:xfrm>
            <a:off x="6176198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基本配置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7693492" y="3054350"/>
            <a:ext cx="238125" cy="1253052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72" name="肘形连接符 246"/>
          <p:cNvCxnSpPr>
            <a:stCxn id="64" idx="0"/>
            <a:endCxn id="93" idx="2"/>
          </p:cNvCxnSpPr>
          <p:nvPr/>
        </p:nvCxnSpPr>
        <p:spPr>
          <a:xfrm rot="5400000" flipH="1" flipV="1">
            <a:off x="11000667" y="2579521"/>
            <a:ext cx="690562" cy="25909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5" name="肘形连接符 258"/>
          <p:cNvCxnSpPr>
            <a:stCxn id="62" idx="0"/>
            <a:endCxn id="92" idx="2"/>
          </p:cNvCxnSpPr>
          <p:nvPr/>
        </p:nvCxnSpPr>
        <p:spPr>
          <a:xfrm rot="5400000" flipH="1" flipV="1">
            <a:off x="8307656" y="2639130"/>
            <a:ext cx="690561" cy="13987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6" name="肘形连接符 261"/>
          <p:cNvCxnSpPr>
            <a:stCxn id="66" idx="0"/>
            <a:endCxn id="12" idx="2"/>
          </p:cNvCxnSpPr>
          <p:nvPr/>
        </p:nvCxnSpPr>
        <p:spPr>
          <a:xfrm rot="16200000" flipV="1">
            <a:off x="5775563" y="2534652"/>
            <a:ext cx="690562" cy="34883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7" name="肘形连接符 264"/>
          <p:cNvCxnSpPr>
            <a:stCxn id="67" idx="0"/>
            <a:endCxn id="96" idx="2"/>
          </p:cNvCxnSpPr>
          <p:nvPr/>
        </p:nvCxnSpPr>
        <p:spPr>
          <a:xfrm rot="16200000" flipV="1">
            <a:off x="7233118" y="2474912"/>
            <a:ext cx="711200" cy="4476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79" name="矩形 78"/>
          <p:cNvSpPr/>
          <p:nvPr/>
        </p:nvSpPr>
        <p:spPr bwMode="auto">
          <a:xfrm>
            <a:off x="11550448" y="3054350"/>
            <a:ext cx="266768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数据权限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85" name="肘形连接符 285"/>
          <p:cNvCxnSpPr>
            <a:stCxn id="79" idx="0"/>
            <a:endCxn id="93" idx="2"/>
          </p:cNvCxnSpPr>
          <p:nvPr/>
        </p:nvCxnSpPr>
        <p:spPr>
          <a:xfrm rot="16200000" flipV="1">
            <a:off x="11234383" y="2604901"/>
            <a:ext cx="690562" cy="20833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90" name="矩形 89"/>
          <p:cNvSpPr/>
          <p:nvPr/>
        </p:nvSpPr>
        <p:spPr bwMode="auto">
          <a:xfrm>
            <a:off x="1325675" y="3054349"/>
            <a:ext cx="302754" cy="1272103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二维地图展示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1703248" y="3054350"/>
            <a:ext cx="289616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设备等图层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展示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138675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二维地图制作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0891296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权限管理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4" name="肘形连接符 207"/>
          <p:cNvCxnSpPr>
            <a:endCxn id="10" idx="2"/>
          </p:cNvCxnSpPr>
          <p:nvPr/>
        </p:nvCxnSpPr>
        <p:spPr>
          <a:xfrm rot="5400000" flipH="1" flipV="1">
            <a:off x="1653953" y="2249345"/>
            <a:ext cx="690561" cy="91944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95" name="肘形连接符 211"/>
          <p:cNvCxnSpPr>
            <a:stCxn id="91" idx="0"/>
            <a:endCxn id="10" idx="2"/>
          </p:cNvCxnSpPr>
          <p:nvPr/>
        </p:nvCxnSpPr>
        <p:spPr>
          <a:xfrm rot="5400000" flipH="1" flipV="1">
            <a:off x="1808226" y="2403618"/>
            <a:ext cx="690562" cy="61090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96" name="矩形 95"/>
          <p:cNvSpPr/>
          <p:nvPr/>
        </p:nvSpPr>
        <p:spPr>
          <a:xfrm>
            <a:off x="6780680" y="1874838"/>
            <a:ext cx="1168400" cy="468312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电子围栏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7" name="肘形连接符 244"/>
          <p:cNvCxnSpPr>
            <a:stCxn id="92" idx="0"/>
            <a:endCxn id="8" idx="2"/>
          </p:cNvCxnSpPr>
          <p:nvPr/>
        </p:nvCxnSpPr>
        <p:spPr>
          <a:xfrm rot="16200000" flipV="1">
            <a:off x="6790570" y="-36830"/>
            <a:ext cx="411162" cy="345344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98" name="肘形连接符 248"/>
          <p:cNvCxnSpPr>
            <a:stCxn id="93" idx="0"/>
            <a:endCxn id="8" idx="2"/>
          </p:cNvCxnSpPr>
          <p:nvPr/>
        </p:nvCxnSpPr>
        <p:spPr>
          <a:xfrm rot="16200000" flipV="1">
            <a:off x="8166881" y="-1413141"/>
            <a:ext cx="411162" cy="620606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99" name="肘形连接符 253"/>
          <p:cNvCxnSpPr>
            <a:stCxn id="96" idx="0"/>
            <a:endCxn id="8" idx="2"/>
          </p:cNvCxnSpPr>
          <p:nvPr/>
        </p:nvCxnSpPr>
        <p:spPr>
          <a:xfrm rot="16200000" flipV="1">
            <a:off x="6121892" y="631849"/>
            <a:ext cx="390525" cy="209545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00" name="肘形连接符 259"/>
          <p:cNvCxnSpPr>
            <a:stCxn id="101" idx="0"/>
            <a:endCxn id="92" idx="2"/>
          </p:cNvCxnSpPr>
          <p:nvPr/>
        </p:nvCxnSpPr>
        <p:spPr>
          <a:xfrm rot="16200000" flipV="1">
            <a:off x="8455382" y="2631281"/>
            <a:ext cx="690562" cy="15557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01" name="矩形 100"/>
          <p:cNvSpPr/>
          <p:nvPr/>
        </p:nvSpPr>
        <p:spPr bwMode="auto">
          <a:xfrm>
            <a:off x="8759387" y="3054350"/>
            <a:ext cx="238125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设备等</a:t>
            </a:r>
            <a:r>
              <a:rPr lang="en-US" altLang="zh-CN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POI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7556968" y="4861249"/>
            <a:ext cx="24447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工卡震动声音告警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7883577" y="4861249"/>
            <a:ext cx="253999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电脑端弹窗声音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06" name="肘形连接符 283"/>
          <p:cNvCxnSpPr>
            <a:stCxn id="104" idx="0"/>
            <a:endCxn id="67" idx="2"/>
          </p:cNvCxnSpPr>
          <p:nvPr/>
        </p:nvCxnSpPr>
        <p:spPr>
          <a:xfrm rot="5400000" flipH="1" flipV="1">
            <a:off x="7468957" y="4517652"/>
            <a:ext cx="553847" cy="13334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09" name="肘形连接符 296"/>
          <p:cNvCxnSpPr>
            <a:stCxn id="105" idx="0"/>
            <a:endCxn id="67" idx="2"/>
          </p:cNvCxnSpPr>
          <p:nvPr/>
        </p:nvCxnSpPr>
        <p:spPr>
          <a:xfrm rot="16200000" flipV="1">
            <a:off x="7634643" y="4485315"/>
            <a:ext cx="553847" cy="19802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10" name="矩形 109"/>
          <p:cNvSpPr/>
          <p:nvPr/>
        </p:nvSpPr>
        <p:spPr bwMode="auto">
          <a:xfrm>
            <a:off x="3732705" y="3054350"/>
            <a:ext cx="292477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路线规划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1" name="矩形 110"/>
          <p:cNvSpPr/>
          <p:nvPr/>
        </p:nvSpPr>
        <p:spPr bwMode="auto">
          <a:xfrm>
            <a:off x="4047272" y="3054350"/>
            <a:ext cx="285751" cy="1272106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路线详情展示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12" name="肘形连接符 307"/>
          <p:cNvCxnSpPr>
            <a:stCxn id="110" idx="0"/>
            <a:endCxn id="11" idx="2"/>
          </p:cNvCxnSpPr>
          <p:nvPr/>
        </p:nvCxnSpPr>
        <p:spPr>
          <a:xfrm rot="5400000" flipH="1" flipV="1">
            <a:off x="3733714" y="2509018"/>
            <a:ext cx="690562" cy="40010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13" name="肘形连接符 310"/>
          <p:cNvCxnSpPr>
            <a:stCxn id="111" idx="0"/>
            <a:endCxn id="11" idx="2"/>
          </p:cNvCxnSpPr>
          <p:nvPr/>
        </p:nvCxnSpPr>
        <p:spPr>
          <a:xfrm rot="5400000" flipH="1" flipV="1">
            <a:off x="3889316" y="2664620"/>
            <a:ext cx="690562" cy="8889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14" name="矩形 113"/>
          <p:cNvSpPr/>
          <p:nvPr/>
        </p:nvSpPr>
        <p:spPr bwMode="auto">
          <a:xfrm>
            <a:off x="4365623" y="3054350"/>
            <a:ext cx="259500" cy="1272106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15" name="肘形连接符 116"/>
          <p:cNvCxnSpPr>
            <a:stCxn id="114" idx="0"/>
            <a:endCxn id="11" idx="2"/>
          </p:cNvCxnSpPr>
          <p:nvPr/>
        </p:nvCxnSpPr>
        <p:spPr>
          <a:xfrm rot="16200000" flipV="1">
            <a:off x="4041929" y="2600906"/>
            <a:ext cx="690562" cy="21632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31" name="矩形 130"/>
          <p:cNvSpPr/>
          <p:nvPr/>
        </p:nvSpPr>
        <p:spPr>
          <a:xfrm>
            <a:off x="9550385" y="1895475"/>
            <a:ext cx="1168400" cy="468313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设备信息补录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0" name="矩形 149"/>
          <p:cNvSpPr/>
          <p:nvPr/>
        </p:nvSpPr>
        <p:spPr bwMode="auto">
          <a:xfrm>
            <a:off x="10436245" y="3054350"/>
            <a:ext cx="227011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电脑端维护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1" name="矩形 150"/>
          <p:cNvSpPr/>
          <p:nvPr/>
        </p:nvSpPr>
        <p:spPr bwMode="auto">
          <a:xfrm>
            <a:off x="9519429" y="3054350"/>
            <a:ext cx="218281" cy="125305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移动端采集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3" name="肘形连接符 246"/>
          <p:cNvCxnSpPr>
            <a:stCxn id="151" idx="0"/>
            <a:endCxn id="131" idx="2"/>
          </p:cNvCxnSpPr>
          <p:nvPr/>
        </p:nvCxnSpPr>
        <p:spPr>
          <a:xfrm rot="5400000" flipH="1" flipV="1">
            <a:off x="9536296" y="2456062"/>
            <a:ext cx="690562" cy="50601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55" name="肘形连接符 255"/>
          <p:cNvCxnSpPr>
            <a:stCxn id="150" idx="0"/>
            <a:endCxn id="131" idx="2"/>
          </p:cNvCxnSpPr>
          <p:nvPr/>
        </p:nvCxnSpPr>
        <p:spPr>
          <a:xfrm rot="16200000" flipV="1">
            <a:off x="9996887" y="2501486"/>
            <a:ext cx="690562" cy="41516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58" name="矩形 157"/>
          <p:cNvSpPr/>
          <p:nvPr/>
        </p:nvSpPr>
        <p:spPr bwMode="auto">
          <a:xfrm>
            <a:off x="8927825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实时定位设备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XY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9" name="矩形 158"/>
          <p:cNvSpPr/>
          <p:nvPr/>
        </p:nvSpPr>
        <p:spPr bwMode="auto">
          <a:xfrm>
            <a:off x="9242699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基本信息输入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0" name="矩形 159"/>
          <p:cNvSpPr/>
          <p:nvPr/>
        </p:nvSpPr>
        <p:spPr bwMode="auto">
          <a:xfrm>
            <a:off x="9531446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拖动维护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1" name="矩形 160"/>
          <p:cNvSpPr/>
          <p:nvPr/>
        </p:nvSpPr>
        <p:spPr bwMode="auto">
          <a:xfrm>
            <a:off x="9834614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XY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输入维护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65" name="肘形连接符 291"/>
          <p:cNvCxnSpPr>
            <a:stCxn id="158" idx="0"/>
            <a:endCxn id="151" idx="2"/>
          </p:cNvCxnSpPr>
          <p:nvPr/>
        </p:nvCxnSpPr>
        <p:spPr>
          <a:xfrm rot="5400000" flipH="1" flipV="1">
            <a:off x="9060805" y="4293484"/>
            <a:ext cx="553849" cy="58168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66" name="肘形连接符 294"/>
          <p:cNvCxnSpPr>
            <a:stCxn id="159" idx="0"/>
            <a:endCxn id="151" idx="2"/>
          </p:cNvCxnSpPr>
          <p:nvPr/>
        </p:nvCxnSpPr>
        <p:spPr>
          <a:xfrm rot="5400000" flipH="1" flipV="1">
            <a:off x="9218242" y="4450921"/>
            <a:ext cx="553849" cy="26680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167" name="肘形连接符 300"/>
          <p:cNvCxnSpPr>
            <a:stCxn id="160" idx="0"/>
            <a:endCxn id="151" idx="2"/>
          </p:cNvCxnSpPr>
          <p:nvPr/>
        </p:nvCxnSpPr>
        <p:spPr>
          <a:xfrm rot="16200000" flipV="1">
            <a:off x="9362616" y="4573355"/>
            <a:ext cx="553849" cy="2193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176" name="矩形 175"/>
          <p:cNvSpPr/>
          <p:nvPr/>
        </p:nvSpPr>
        <p:spPr bwMode="auto">
          <a:xfrm>
            <a:off x="10154102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基本信息输入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7" name="矩形 176"/>
          <p:cNvSpPr/>
          <p:nvPr/>
        </p:nvSpPr>
        <p:spPr bwMode="auto">
          <a:xfrm>
            <a:off x="10442849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拖动维护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8" name="矩形 177"/>
          <p:cNvSpPr/>
          <p:nvPr/>
        </p:nvSpPr>
        <p:spPr bwMode="auto">
          <a:xfrm>
            <a:off x="10728599" y="4861249"/>
            <a:ext cx="238125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XY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输入维护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7241737" y="3054349"/>
            <a:ext cx="238125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类型设置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1" name="矩形 200"/>
          <p:cNvSpPr/>
          <p:nvPr/>
        </p:nvSpPr>
        <p:spPr bwMode="auto">
          <a:xfrm>
            <a:off x="8209874" y="4861249"/>
            <a:ext cx="253999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告警统计分析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4" name="矩形 203"/>
          <p:cNvSpPr/>
          <p:nvPr/>
        </p:nvSpPr>
        <p:spPr bwMode="auto">
          <a:xfrm>
            <a:off x="2065198" y="3054350"/>
            <a:ext cx="314116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地图基本操作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5" name="矩形 204"/>
          <p:cNvSpPr/>
          <p:nvPr/>
        </p:nvSpPr>
        <p:spPr bwMode="auto">
          <a:xfrm>
            <a:off x="2454134" y="3054350"/>
            <a:ext cx="318505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地图基本部件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7" name="矩形 206"/>
          <p:cNvSpPr/>
          <p:nvPr/>
        </p:nvSpPr>
        <p:spPr bwMode="auto">
          <a:xfrm>
            <a:off x="930286" y="4861249"/>
            <a:ext cx="204996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放大缩小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8" name="矩形 207"/>
          <p:cNvSpPr/>
          <p:nvPr/>
        </p:nvSpPr>
        <p:spPr bwMode="auto">
          <a:xfrm>
            <a:off x="1439795" y="4861249"/>
            <a:ext cx="204996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俯仰跟随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9" name="矩形 208"/>
          <p:cNvSpPr/>
          <p:nvPr/>
        </p:nvSpPr>
        <p:spPr bwMode="auto">
          <a:xfrm>
            <a:off x="1185041" y="48612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平移旋转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10" name="肘形连接符 81"/>
          <p:cNvCxnSpPr>
            <a:stCxn id="207" idx="0"/>
            <a:endCxn id="204" idx="2"/>
          </p:cNvCxnSpPr>
          <p:nvPr/>
        </p:nvCxnSpPr>
        <p:spPr>
          <a:xfrm rot="5400000" flipH="1" flipV="1">
            <a:off x="1360123" y="3999116"/>
            <a:ext cx="534795" cy="118947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11" name="肘形连接符 84"/>
          <p:cNvCxnSpPr>
            <a:stCxn id="209" idx="0"/>
            <a:endCxn id="204" idx="2"/>
          </p:cNvCxnSpPr>
          <p:nvPr/>
        </p:nvCxnSpPr>
        <p:spPr>
          <a:xfrm rot="5400000" flipH="1" flipV="1">
            <a:off x="1487500" y="4126492"/>
            <a:ext cx="534794" cy="93471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12" name="肘形连接符 87"/>
          <p:cNvCxnSpPr>
            <a:stCxn id="208" idx="0"/>
            <a:endCxn id="204" idx="2"/>
          </p:cNvCxnSpPr>
          <p:nvPr/>
        </p:nvCxnSpPr>
        <p:spPr>
          <a:xfrm rot="5400000" flipH="1" flipV="1">
            <a:off x="1614877" y="4253871"/>
            <a:ext cx="534795" cy="67996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14" name="矩形 213"/>
          <p:cNvSpPr/>
          <p:nvPr/>
        </p:nvSpPr>
        <p:spPr bwMode="auto">
          <a:xfrm>
            <a:off x="2168174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比例尺</a:t>
            </a:r>
            <a:endParaRPr lang="en-US" altLang="zh-CN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5" name="矩形 214"/>
          <p:cNvSpPr/>
          <p:nvPr/>
        </p:nvSpPr>
        <p:spPr bwMode="auto">
          <a:xfrm>
            <a:off x="2602971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定位原点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6" name="矩形 215"/>
          <p:cNvSpPr/>
          <p:nvPr/>
        </p:nvSpPr>
        <p:spPr bwMode="auto">
          <a:xfrm>
            <a:off x="2376864" y="4861249"/>
            <a:ext cx="204994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罗盘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方向指示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7" name="矩形 216"/>
          <p:cNvSpPr/>
          <p:nvPr/>
        </p:nvSpPr>
        <p:spPr bwMode="auto">
          <a:xfrm>
            <a:off x="2848173" y="4861249"/>
            <a:ext cx="204996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距离测量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18" name="矩形 217"/>
          <p:cNvSpPr/>
          <p:nvPr/>
        </p:nvSpPr>
        <p:spPr bwMode="auto">
          <a:xfrm>
            <a:off x="2852552" y="3054350"/>
            <a:ext cx="268973" cy="127210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POI</a:t>
            </a: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搜索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3" name="矩形 222"/>
          <p:cNvSpPr/>
          <p:nvPr/>
        </p:nvSpPr>
        <p:spPr bwMode="auto">
          <a:xfrm>
            <a:off x="4663223" y="3054350"/>
            <a:ext cx="265054" cy="1272106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API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接口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4" name="矩形 223"/>
          <p:cNvSpPr/>
          <p:nvPr/>
        </p:nvSpPr>
        <p:spPr bwMode="auto">
          <a:xfrm>
            <a:off x="3178373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设备编码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5" name="矩形 224"/>
          <p:cNvSpPr/>
          <p:nvPr/>
        </p:nvSpPr>
        <p:spPr bwMode="auto">
          <a:xfrm>
            <a:off x="3648006" y="48612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语音搜索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26" name="矩形 225"/>
          <p:cNvSpPr/>
          <p:nvPr/>
        </p:nvSpPr>
        <p:spPr bwMode="auto">
          <a:xfrm>
            <a:off x="3413190" y="48612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关键词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27" name="肘形连接符 81"/>
          <p:cNvCxnSpPr>
            <a:stCxn id="224" idx="0"/>
            <a:endCxn id="218" idx="2"/>
          </p:cNvCxnSpPr>
          <p:nvPr/>
        </p:nvCxnSpPr>
        <p:spPr>
          <a:xfrm rot="16200000" flipV="1">
            <a:off x="2866558" y="4446935"/>
            <a:ext cx="534794" cy="2938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28" name="肘形连接符 84"/>
          <p:cNvCxnSpPr>
            <a:stCxn id="226" idx="0"/>
            <a:endCxn id="218" idx="2"/>
          </p:cNvCxnSpPr>
          <p:nvPr/>
        </p:nvCxnSpPr>
        <p:spPr>
          <a:xfrm rot="16200000" flipV="1">
            <a:off x="2983966" y="4329527"/>
            <a:ext cx="534794" cy="528648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29" name="肘形连接符 87"/>
          <p:cNvCxnSpPr>
            <a:stCxn id="225" idx="0"/>
            <a:endCxn id="218" idx="2"/>
          </p:cNvCxnSpPr>
          <p:nvPr/>
        </p:nvCxnSpPr>
        <p:spPr>
          <a:xfrm rot="16200000" flipV="1">
            <a:off x="3101375" y="4212118"/>
            <a:ext cx="534794" cy="76346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30" name="矩形 229"/>
          <p:cNvSpPr/>
          <p:nvPr/>
        </p:nvSpPr>
        <p:spPr bwMode="auto">
          <a:xfrm>
            <a:off x="3210808" y="3054349"/>
            <a:ext cx="294512" cy="1264988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API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接口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6" name="矩形 235"/>
          <p:cNvSpPr/>
          <p:nvPr/>
        </p:nvSpPr>
        <p:spPr bwMode="auto">
          <a:xfrm>
            <a:off x="5275896" y="4861249"/>
            <a:ext cx="206290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未关闭缺陷提示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7" name="矩形 236"/>
          <p:cNvSpPr/>
          <p:nvPr/>
        </p:nvSpPr>
        <p:spPr bwMode="auto">
          <a:xfrm>
            <a:off x="5776296" y="4861249"/>
            <a:ext cx="229497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途径风险点提示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8" name="矩形 237"/>
          <p:cNvSpPr/>
          <p:nvPr/>
        </p:nvSpPr>
        <p:spPr bwMode="auto">
          <a:xfrm>
            <a:off x="5524063" y="4861249"/>
            <a:ext cx="212034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关注的缺陷提示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39" name="肘形连接符 81"/>
          <p:cNvCxnSpPr>
            <a:stCxn id="236" idx="0"/>
            <a:endCxn id="26" idx="2"/>
          </p:cNvCxnSpPr>
          <p:nvPr/>
        </p:nvCxnSpPr>
        <p:spPr>
          <a:xfrm rot="5400000" flipH="1" flipV="1">
            <a:off x="5285858" y="4421344"/>
            <a:ext cx="533089" cy="34672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40" name="肘形连接符 84"/>
          <p:cNvCxnSpPr>
            <a:stCxn id="238" idx="0"/>
            <a:endCxn id="26" idx="2"/>
          </p:cNvCxnSpPr>
          <p:nvPr/>
        </p:nvCxnSpPr>
        <p:spPr>
          <a:xfrm rot="5400000" flipH="1" flipV="1">
            <a:off x="5411378" y="4546863"/>
            <a:ext cx="533089" cy="956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241" name="肘形连接符 87"/>
          <p:cNvCxnSpPr>
            <a:stCxn id="237" idx="0"/>
            <a:endCxn id="26" idx="2"/>
          </p:cNvCxnSpPr>
          <p:nvPr/>
        </p:nvCxnSpPr>
        <p:spPr>
          <a:xfrm rot="16200000" flipV="1">
            <a:off x="5541861" y="4512064"/>
            <a:ext cx="533089" cy="16528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47" name="矩形 246"/>
          <p:cNvSpPr/>
          <p:nvPr/>
        </p:nvSpPr>
        <p:spPr bwMode="auto">
          <a:xfrm>
            <a:off x="6459233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统计分析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8" name="矩形 247"/>
          <p:cNvSpPr/>
          <p:nvPr/>
        </p:nvSpPr>
        <p:spPr bwMode="auto">
          <a:xfrm>
            <a:off x="5054340" y="3054350"/>
            <a:ext cx="238125" cy="1273810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人员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和</a:t>
            </a:r>
            <a:endParaRPr lang="en-US" altLang="zh-CN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标签绑定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310" name="肘形连接符 81"/>
          <p:cNvCxnSpPr>
            <a:stCxn id="217" idx="0"/>
            <a:endCxn id="205" idx="2"/>
          </p:cNvCxnSpPr>
          <p:nvPr/>
        </p:nvCxnSpPr>
        <p:spPr>
          <a:xfrm rot="16200000" flipV="1">
            <a:off x="2514632" y="4425210"/>
            <a:ext cx="534795" cy="3372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3" name="肘形连接符 81"/>
          <p:cNvCxnSpPr>
            <a:stCxn id="214" idx="0"/>
            <a:endCxn id="205" idx="2"/>
          </p:cNvCxnSpPr>
          <p:nvPr/>
        </p:nvCxnSpPr>
        <p:spPr>
          <a:xfrm rot="5400000" flipH="1" flipV="1">
            <a:off x="2174632" y="4422494"/>
            <a:ext cx="534794" cy="34271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6" name="肘形连接符 81"/>
          <p:cNvCxnSpPr>
            <a:stCxn id="216" idx="0"/>
            <a:endCxn id="205" idx="2"/>
          </p:cNvCxnSpPr>
          <p:nvPr/>
        </p:nvCxnSpPr>
        <p:spPr>
          <a:xfrm rot="5400000" flipH="1" flipV="1">
            <a:off x="2278977" y="4526839"/>
            <a:ext cx="534795" cy="13402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19" name="肘形连接符 81"/>
          <p:cNvCxnSpPr>
            <a:stCxn id="215" idx="0"/>
            <a:endCxn id="205" idx="2"/>
          </p:cNvCxnSpPr>
          <p:nvPr/>
        </p:nvCxnSpPr>
        <p:spPr>
          <a:xfrm rot="16200000" flipV="1">
            <a:off x="2392031" y="4547810"/>
            <a:ext cx="534794" cy="9208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0" name="肘形连接符 261"/>
          <p:cNvCxnSpPr>
            <a:stCxn id="247" idx="0"/>
            <a:endCxn id="12" idx="2"/>
          </p:cNvCxnSpPr>
          <p:nvPr/>
        </p:nvCxnSpPr>
        <p:spPr>
          <a:xfrm rot="16200000" flipV="1">
            <a:off x="5917081" y="2393134"/>
            <a:ext cx="690562" cy="63186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3" name="肘形连接符 261"/>
          <p:cNvCxnSpPr>
            <a:stCxn id="248" idx="0"/>
            <a:endCxn id="12" idx="2"/>
          </p:cNvCxnSpPr>
          <p:nvPr/>
        </p:nvCxnSpPr>
        <p:spPr>
          <a:xfrm rot="5400000" flipH="1" flipV="1">
            <a:off x="5214634" y="2322557"/>
            <a:ext cx="690562" cy="77302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37" name="肘形连接符 211"/>
          <p:cNvCxnSpPr>
            <a:stCxn id="204" idx="0"/>
            <a:endCxn id="10" idx="2"/>
          </p:cNvCxnSpPr>
          <p:nvPr/>
        </p:nvCxnSpPr>
        <p:spPr>
          <a:xfrm rot="5400000" flipH="1" flipV="1">
            <a:off x="1995326" y="2590718"/>
            <a:ext cx="690562" cy="23670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0" name="肘形连接符 211"/>
          <p:cNvCxnSpPr>
            <a:stCxn id="205" idx="0"/>
            <a:endCxn id="10" idx="2"/>
          </p:cNvCxnSpPr>
          <p:nvPr/>
        </p:nvCxnSpPr>
        <p:spPr>
          <a:xfrm rot="16200000" flipV="1">
            <a:off x="2190892" y="2631854"/>
            <a:ext cx="690562" cy="15442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3" name="肘形连接符 211"/>
          <p:cNvCxnSpPr>
            <a:stCxn id="218" idx="0"/>
            <a:endCxn id="10" idx="2"/>
          </p:cNvCxnSpPr>
          <p:nvPr/>
        </p:nvCxnSpPr>
        <p:spPr>
          <a:xfrm rot="16200000" flipV="1">
            <a:off x="2377718" y="2445028"/>
            <a:ext cx="690562" cy="52808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6" name="肘形连接符 211"/>
          <p:cNvCxnSpPr>
            <a:stCxn id="230" idx="0"/>
            <a:endCxn id="10" idx="2"/>
          </p:cNvCxnSpPr>
          <p:nvPr/>
        </p:nvCxnSpPr>
        <p:spPr>
          <a:xfrm rot="16200000" flipV="1">
            <a:off x="2563231" y="2259516"/>
            <a:ext cx="690561" cy="89910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49" name="肘形连接符 116"/>
          <p:cNvCxnSpPr>
            <a:stCxn id="223" idx="0"/>
            <a:endCxn id="11" idx="2"/>
          </p:cNvCxnSpPr>
          <p:nvPr/>
        </p:nvCxnSpPr>
        <p:spPr>
          <a:xfrm rot="16200000" flipV="1">
            <a:off x="4192118" y="2450717"/>
            <a:ext cx="690562" cy="51670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57" name="肘形连接符 41"/>
          <p:cNvCxnSpPr>
            <a:stCxn id="185" idx="0"/>
            <a:endCxn id="96" idx="2"/>
          </p:cNvCxnSpPr>
          <p:nvPr/>
        </p:nvCxnSpPr>
        <p:spPr>
          <a:xfrm rot="5400000" flipH="1" flipV="1">
            <a:off x="7007241" y="2696710"/>
            <a:ext cx="711199" cy="408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60" name="肘形连接符 296"/>
          <p:cNvCxnSpPr>
            <a:stCxn id="201" idx="0"/>
            <a:endCxn id="67" idx="2"/>
          </p:cNvCxnSpPr>
          <p:nvPr/>
        </p:nvCxnSpPr>
        <p:spPr>
          <a:xfrm rot="16200000" flipV="1">
            <a:off x="7797792" y="4322166"/>
            <a:ext cx="553847" cy="524319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70" name="肘形连接符 300"/>
          <p:cNvCxnSpPr>
            <a:stCxn id="161" idx="0"/>
            <a:endCxn id="151" idx="2"/>
          </p:cNvCxnSpPr>
          <p:nvPr/>
        </p:nvCxnSpPr>
        <p:spPr>
          <a:xfrm rot="16200000" flipV="1">
            <a:off x="9514200" y="4421771"/>
            <a:ext cx="553849" cy="325107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80" name="肘形连接符 300"/>
          <p:cNvCxnSpPr>
            <a:stCxn id="176" idx="0"/>
            <a:endCxn id="150" idx="2"/>
          </p:cNvCxnSpPr>
          <p:nvPr/>
        </p:nvCxnSpPr>
        <p:spPr>
          <a:xfrm rot="5400000" flipH="1" flipV="1">
            <a:off x="10134534" y="4446032"/>
            <a:ext cx="553849" cy="27658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83" name="肘形连接符 300"/>
          <p:cNvCxnSpPr>
            <a:stCxn id="177" idx="0"/>
            <a:endCxn id="150" idx="2"/>
          </p:cNvCxnSpPr>
          <p:nvPr/>
        </p:nvCxnSpPr>
        <p:spPr>
          <a:xfrm rot="16200000" flipV="1">
            <a:off x="10278908" y="4578244"/>
            <a:ext cx="553849" cy="1216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86" name="肘形连接符 300"/>
          <p:cNvCxnSpPr>
            <a:stCxn id="178" idx="0"/>
            <a:endCxn id="150" idx="2"/>
          </p:cNvCxnSpPr>
          <p:nvPr/>
        </p:nvCxnSpPr>
        <p:spPr>
          <a:xfrm rot="16200000" flipV="1">
            <a:off x="10421783" y="4435369"/>
            <a:ext cx="553849" cy="29791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数据关系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03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4" name="图片 3" descr="资源 58@4x-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740" y="3326130"/>
            <a:ext cx="4123690" cy="4585970"/>
          </a:xfrm>
          <a:prstGeom prst="rect">
            <a:avLst/>
          </a:prstGeom>
        </p:spPr>
      </p:pic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3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6647545" y="3598702"/>
            <a:ext cx="5107302" cy="20515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106907" y="3598701"/>
            <a:ext cx="2723679" cy="2051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</a:rPr>
              <a:t>系统间数据流转及关系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圆角矩形 61"/>
          <p:cNvSpPr/>
          <p:nvPr/>
        </p:nvSpPr>
        <p:spPr>
          <a:xfrm>
            <a:off x="2191252" y="5155173"/>
            <a:ext cx="2525128" cy="36048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生产管理系统</a:t>
            </a:r>
            <a:endParaRPr lang="zh-CN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流程图: 磁盘 4"/>
          <p:cNvSpPr/>
          <p:nvPr/>
        </p:nvSpPr>
        <p:spPr>
          <a:xfrm>
            <a:off x="2406024" y="3777311"/>
            <a:ext cx="1001321" cy="51025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设备空间数据库</a:t>
            </a:r>
            <a:endParaRPr lang="zh-CN" altLang="en-US" sz="1400" dirty="0"/>
          </a:p>
        </p:txBody>
      </p:sp>
      <p:sp>
        <p:nvSpPr>
          <p:cNvPr id="7" name="流程图: 磁盘 6"/>
          <p:cNvSpPr/>
          <p:nvPr/>
        </p:nvSpPr>
        <p:spPr>
          <a:xfrm>
            <a:off x="3600910" y="3788167"/>
            <a:ext cx="1001321" cy="5315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人员基本信息</a:t>
            </a:r>
            <a:endParaRPr lang="zh-CN" altLang="en-US" sz="1400" dirty="0"/>
          </a:p>
        </p:txBody>
      </p:sp>
      <p:sp>
        <p:nvSpPr>
          <p:cNvPr id="9" name="圆角矩形 61"/>
          <p:cNvSpPr/>
          <p:nvPr/>
        </p:nvSpPr>
        <p:spPr>
          <a:xfrm>
            <a:off x="6883776" y="5143860"/>
            <a:ext cx="1544782" cy="3604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UWB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实时定位</a:t>
            </a:r>
            <a:endParaRPr lang="zh-CN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圆角矩形 61"/>
          <p:cNvSpPr/>
          <p:nvPr/>
        </p:nvSpPr>
        <p:spPr>
          <a:xfrm>
            <a:off x="8662737" y="5143860"/>
            <a:ext cx="1437678" cy="3604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二维地图制作</a:t>
            </a:r>
            <a:endParaRPr lang="zh-CN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圆角矩形 61"/>
          <p:cNvSpPr/>
          <p:nvPr/>
        </p:nvSpPr>
        <p:spPr>
          <a:xfrm>
            <a:off x="10218886" y="5143143"/>
            <a:ext cx="1343459" cy="3604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+mn-ea"/>
              </a:rPr>
              <a:t>GIS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智能导航</a:t>
            </a:r>
            <a:endParaRPr lang="en-US" altLang="zh-CN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4932950" y="4114814"/>
            <a:ext cx="1612231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089361" y="37560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设备信息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894478" y="4714853"/>
            <a:ext cx="1612231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836814" y="435611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人员和标签绑定</a:t>
            </a:r>
            <a:endParaRPr lang="zh-CN" altLang="en-US" dirty="0"/>
          </a:p>
        </p:txBody>
      </p:sp>
      <p:sp>
        <p:nvSpPr>
          <p:cNvPr id="15" name="圆角矩形 26"/>
          <p:cNvSpPr/>
          <p:nvPr/>
        </p:nvSpPr>
        <p:spPr>
          <a:xfrm>
            <a:off x="2851834" y="1191667"/>
            <a:ext cx="2099306" cy="1726376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851833" y="1238733"/>
            <a:ext cx="1800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设备基本信息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982820" y="1558628"/>
            <a:ext cx="1788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楼层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状态（缺陷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圆角矩形 26"/>
          <p:cNvSpPr/>
          <p:nvPr/>
        </p:nvSpPr>
        <p:spPr>
          <a:xfrm>
            <a:off x="5214132" y="1211767"/>
            <a:ext cx="1800493" cy="1706275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214132" y="1258834"/>
            <a:ext cx="1800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人员信息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45118" y="1578729"/>
            <a:ext cx="15747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定位标签编码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圆角矩形 26"/>
          <p:cNvSpPr/>
          <p:nvPr/>
        </p:nvSpPr>
        <p:spPr>
          <a:xfrm>
            <a:off x="7267521" y="1231825"/>
            <a:ext cx="2634467" cy="1686218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398507" y="1598786"/>
            <a:ext cx="23951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任务单号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目标点基本信息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巡检人员信息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附带关注设备信息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267520" y="1242734"/>
            <a:ext cx="1831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巡检信息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857983" y="5324453"/>
            <a:ext cx="1671091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802448" y="4965718"/>
            <a:ext cx="1726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巡检基本信息</a:t>
            </a:r>
            <a:endParaRPr lang="zh-CN" altLang="en-US" dirty="0"/>
          </a:p>
        </p:txBody>
      </p:sp>
      <p:sp>
        <p:nvSpPr>
          <p:cNvPr id="32" name="圆角矩形 61"/>
          <p:cNvSpPr/>
          <p:nvPr/>
        </p:nvSpPr>
        <p:spPr>
          <a:xfrm>
            <a:off x="512981" y="3905231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贝壳采集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圆角矩形 61"/>
          <p:cNvSpPr/>
          <p:nvPr/>
        </p:nvSpPr>
        <p:spPr>
          <a:xfrm>
            <a:off x="512981" y="490274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信息补录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1452585" y="4113028"/>
            <a:ext cx="65432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1452585" y="5101969"/>
            <a:ext cx="65432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流程图: 磁盘 36"/>
          <p:cNvSpPr/>
          <p:nvPr/>
        </p:nvSpPr>
        <p:spPr>
          <a:xfrm>
            <a:off x="7308719" y="4437846"/>
            <a:ext cx="1003889" cy="44783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风险区域、电子围栏</a:t>
            </a:r>
            <a:endParaRPr lang="zh-CN" altLang="en-US" sz="1400" dirty="0"/>
          </a:p>
        </p:txBody>
      </p:sp>
      <p:sp>
        <p:nvSpPr>
          <p:cNvPr id="38" name="流程图: 磁盘 37"/>
          <p:cNvSpPr/>
          <p:nvPr/>
        </p:nvSpPr>
        <p:spPr>
          <a:xfrm>
            <a:off x="8768176" y="3877782"/>
            <a:ext cx="947789" cy="4710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二维地图数据</a:t>
            </a:r>
            <a:endParaRPr lang="zh-CN" altLang="en-US" sz="1400" dirty="0"/>
          </a:p>
        </p:txBody>
      </p:sp>
      <p:sp>
        <p:nvSpPr>
          <p:cNvPr id="39" name="流程图: 磁盘 38"/>
          <p:cNvSpPr/>
          <p:nvPr/>
        </p:nvSpPr>
        <p:spPr>
          <a:xfrm>
            <a:off x="7324164" y="3821007"/>
            <a:ext cx="898929" cy="51623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人员定位标签</a:t>
            </a:r>
            <a:endParaRPr lang="zh-CN" altLang="en-US" sz="1400" dirty="0"/>
          </a:p>
        </p:txBody>
      </p:sp>
      <p:sp>
        <p:nvSpPr>
          <p:cNvPr id="40" name="流程图: 磁盘 39"/>
          <p:cNvSpPr/>
          <p:nvPr/>
        </p:nvSpPr>
        <p:spPr>
          <a:xfrm>
            <a:off x="8759146" y="4424051"/>
            <a:ext cx="947789" cy="50818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路网拓扑</a:t>
            </a:r>
            <a:endParaRPr lang="zh-CN" altLang="en-US" sz="1400" dirty="0"/>
          </a:p>
        </p:txBody>
      </p:sp>
      <p:sp>
        <p:nvSpPr>
          <p:cNvPr id="41" name="流程图: 磁盘 40"/>
          <p:cNvSpPr/>
          <p:nvPr/>
        </p:nvSpPr>
        <p:spPr>
          <a:xfrm>
            <a:off x="10129567" y="3904964"/>
            <a:ext cx="972284" cy="4710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巡检轨迹及统计库</a:t>
            </a:r>
            <a:endParaRPr lang="zh-CN" altLang="en-US" sz="1400" dirty="0"/>
          </a:p>
        </p:txBody>
      </p:sp>
      <p:sp>
        <p:nvSpPr>
          <p:cNvPr id="42" name="流程图: 磁盘 41"/>
          <p:cNvSpPr/>
          <p:nvPr/>
        </p:nvSpPr>
        <p:spPr>
          <a:xfrm>
            <a:off x="10112396" y="4495983"/>
            <a:ext cx="972284" cy="38969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图例等配置库</a:t>
            </a:r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3407345" y="6269891"/>
            <a:ext cx="830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设备等数据的</a:t>
            </a:r>
            <a:r>
              <a:rPr lang="en-US" altLang="zh-CN" dirty="0"/>
              <a:t>XY</a:t>
            </a:r>
            <a:r>
              <a:rPr lang="zh-CN" altLang="en-US" dirty="0"/>
              <a:t>值以贝壳采集的坐标系为准，系统提供相关坐标系转换功能。</a:t>
            </a:r>
            <a:endParaRPr lang="zh-CN" altLang="en-US" dirty="0"/>
          </a:p>
        </p:txBody>
      </p:sp>
      <p:sp>
        <p:nvSpPr>
          <p:cNvPr id="43" name="流程图: 磁盘 42"/>
          <p:cNvSpPr/>
          <p:nvPr/>
        </p:nvSpPr>
        <p:spPr>
          <a:xfrm>
            <a:off x="2406024" y="4485127"/>
            <a:ext cx="1001321" cy="51025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巡检信息库</a:t>
            </a:r>
            <a:endParaRPr lang="zh-CN" altLang="en-US" sz="1400" dirty="0"/>
          </a:p>
        </p:txBody>
      </p:sp>
      <p:sp>
        <p:nvSpPr>
          <p:cNvPr id="44" name="流程图: 磁盘 43"/>
          <p:cNvSpPr/>
          <p:nvPr/>
        </p:nvSpPr>
        <p:spPr>
          <a:xfrm>
            <a:off x="3600910" y="4495983"/>
            <a:ext cx="1001321" cy="5315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权限及基础库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5678684" cy="1569660"/>
            <a:chOff x="3099114" y="2429363"/>
            <a:chExt cx="5678684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38779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主要功能原型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04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2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-GIS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展示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309144" y="2361566"/>
            <a:ext cx="116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罗盘</a:t>
            </a:r>
            <a:endParaRPr kumimoji="1"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4309144" y="5152577"/>
            <a:ext cx="116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楼层切换</a:t>
            </a:r>
            <a:endParaRPr kumimoji="1"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4309143" y="5519318"/>
            <a:ext cx="169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3D</a:t>
            </a:r>
            <a:r>
              <a:rPr kumimoji="1" lang="zh-CN" altLang="en-US" dirty="0"/>
              <a:t>切换</a:t>
            </a:r>
            <a:endParaRPr kumimoji="1" lang="zh-CN" altLang="en-US" dirty="0"/>
          </a:p>
        </p:txBody>
      </p:sp>
      <p:sp>
        <p:nvSpPr>
          <p:cNvPr id="21" name="箭头: 左 20"/>
          <p:cNvSpPr/>
          <p:nvPr/>
        </p:nvSpPr>
        <p:spPr>
          <a:xfrm>
            <a:off x="3830545" y="2505601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箭头: 左 48"/>
          <p:cNvSpPr/>
          <p:nvPr/>
        </p:nvSpPr>
        <p:spPr>
          <a:xfrm>
            <a:off x="3830545" y="5288044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箭头: 左 49"/>
          <p:cNvSpPr/>
          <p:nvPr/>
        </p:nvSpPr>
        <p:spPr>
          <a:xfrm>
            <a:off x="3843914" y="5656678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04168"/>
            <a:ext cx="2937544" cy="4887132"/>
          </a:xfrm>
          <a:prstGeom prst="rect">
            <a:avLst/>
          </a:prstGeom>
        </p:spPr>
      </p:pic>
      <p:sp>
        <p:nvSpPr>
          <p:cNvPr id="51" name="箭头: 左 50"/>
          <p:cNvSpPr/>
          <p:nvPr/>
        </p:nvSpPr>
        <p:spPr>
          <a:xfrm rot="10800000">
            <a:off x="1189612" y="5687453"/>
            <a:ext cx="545274" cy="98398"/>
          </a:xfrm>
          <a:prstGeom prst="leftArrow">
            <a:avLst/>
          </a:prstGeom>
          <a:solidFill>
            <a:srgbClr val="2064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46868" y="5551360"/>
            <a:ext cx="110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定位原点</a:t>
            </a:r>
            <a:endParaRPr kumimoji="1"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5212276" y="6314199"/>
            <a:ext cx="7074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界面原型的配色、部件样式、地图内容颜色等会再详细设计里确定。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1151512" y="847682"/>
            <a:ext cx="10667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地图展示以组件的方式提供，各个业务系统可以直接嵌入调用。支持罗盘、楼层切换、</a:t>
            </a:r>
            <a:r>
              <a:rPr lang="en-US" altLang="zh-CN" dirty="0"/>
              <a:t>2D3D</a:t>
            </a:r>
            <a:r>
              <a:rPr lang="zh-CN" altLang="en-US" dirty="0"/>
              <a:t>切换等。移动端支持手滑地图拖动、放大缩小等基本操作。</a:t>
            </a:r>
            <a:endParaRPr lang="zh-CN" altLang="en-US" dirty="0"/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050" y="1494013"/>
            <a:ext cx="6482011" cy="50218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dirty="0">
                <a:solidFill>
                  <a:schemeClr val="tx1"/>
                </a:solidFill>
              </a:rPr>
              <a:t>POI</a:t>
            </a:r>
            <a:r>
              <a:rPr lang="zh-CN" altLang="en-US" dirty="0">
                <a:solidFill>
                  <a:schemeClr val="tx1"/>
                </a:solidFill>
              </a:rPr>
              <a:t>搜索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5067" y="1693702"/>
            <a:ext cx="2723679" cy="9447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输入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5067" y="3204288"/>
            <a:ext cx="2723679" cy="9447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匹配内容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5066" y="4747338"/>
            <a:ext cx="2723679" cy="94472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输出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圆角矩形 61"/>
          <p:cNvSpPr/>
          <p:nvPr/>
        </p:nvSpPr>
        <p:spPr>
          <a:xfrm>
            <a:off x="1030760" y="212262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文字输入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圆角矩形 61"/>
          <p:cNvSpPr/>
          <p:nvPr/>
        </p:nvSpPr>
        <p:spPr>
          <a:xfrm>
            <a:off x="2256056" y="212411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语音输入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圆角矩形 61"/>
          <p:cNvSpPr/>
          <p:nvPr/>
        </p:nvSpPr>
        <p:spPr>
          <a:xfrm>
            <a:off x="1030760" y="367516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设备名称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圆角矩形 61"/>
          <p:cNvSpPr/>
          <p:nvPr/>
        </p:nvSpPr>
        <p:spPr>
          <a:xfrm>
            <a:off x="2256056" y="367665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设备编码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圆角矩形 61"/>
          <p:cNvSpPr/>
          <p:nvPr/>
        </p:nvSpPr>
        <p:spPr>
          <a:xfrm>
            <a:off x="1030760" y="520872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设备列表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圆角矩形 61"/>
          <p:cNvSpPr/>
          <p:nvPr/>
        </p:nvSpPr>
        <p:spPr>
          <a:xfrm>
            <a:off x="2256056" y="5210210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地图展示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箭头: 下 3"/>
          <p:cNvSpPr/>
          <p:nvPr/>
        </p:nvSpPr>
        <p:spPr>
          <a:xfrm>
            <a:off x="2007037" y="2647935"/>
            <a:ext cx="229969" cy="461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/>
          <p:cNvSpPr/>
          <p:nvPr/>
        </p:nvSpPr>
        <p:spPr>
          <a:xfrm>
            <a:off x="1967568" y="4233904"/>
            <a:ext cx="229969" cy="461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223" y="1693703"/>
            <a:ext cx="2410189" cy="3998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498" y="1693704"/>
            <a:ext cx="2252598" cy="39983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6978" y="3119621"/>
            <a:ext cx="152401" cy="16933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060" y="2878486"/>
            <a:ext cx="152400" cy="1524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890" y="4720625"/>
            <a:ext cx="150752" cy="150752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6" y="3356689"/>
            <a:ext cx="152400" cy="1524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510917"/>
            <a:ext cx="201943" cy="201943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1114425" y="855666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系统提供通过语音和文字输入两种方式的</a:t>
            </a:r>
            <a:r>
              <a:rPr lang="en-US" altLang="zh-CN" dirty="0"/>
              <a:t>POI</a:t>
            </a:r>
            <a:r>
              <a:rPr lang="zh-CN" altLang="en-US" dirty="0"/>
              <a:t>检索功能，并可列表和地图展示搜索结果。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4836" y="1148068"/>
            <a:ext cx="2457143" cy="4885714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导航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圆角矩形 61"/>
          <p:cNvSpPr/>
          <p:nvPr/>
        </p:nvSpPr>
        <p:spPr>
          <a:xfrm>
            <a:off x="1189256" y="216753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线路规划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圆角矩形 61"/>
          <p:cNvSpPr/>
          <p:nvPr/>
        </p:nvSpPr>
        <p:spPr>
          <a:xfrm>
            <a:off x="1189256" y="313318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导航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圆角矩形 61"/>
          <p:cNvSpPr/>
          <p:nvPr/>
        </p:nvSpPr>
        <p:spPr>
          <a:xfrm>
            <a:off x="2494181" y="2167532"/>
            <a:ext cx="939604" cy="3604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线路详情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894355" y="3994473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模拟导航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1188318" y="3994473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语音路线实时指引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1657951" y="3994473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偏航重新规划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1423135" y="3994473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跨楼层导航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34" name="肘形连接符 81"/>
          <p:cNvCxnSpPr>
            <a:stCxn id="31" idx="0"/>
          </p:cNvCxnSpPr>
          <p:nvPr/>
        </p:nvCxnSpPr>
        <p:spPr>
          <a:xfrm rot="5400000" flipH="1" flipV="1">
            <a:off x="1211236" y="3539261"/>
            <a:ext cx="534792" cy="3756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5" name="肘形连接符 84"/>
          <p:cNvCxnSpPr>
            <a:stCxn id="33" idx="0"/>
          </p:cNvCxnSpPr>
          <p:nvPr/>
        </p:nvCxnSpPr>
        <p:spPr>
          <a:xfrm rot="5400000" flipH="1" flipV="1">
            <a:off x="1328644" y="3656669"/>
            <a:ext cx="534792" cy="14081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39" name="肘形连接符 87"/>
          <p:cNvCxnSpPr>
            <a:stCxn id="32" idx="0"/>
          </p:cNvCxnSpPr>
          <p:nvPr/>
        </p:nvCxnSpPr>
        <p:spPr>
          <a:xfrm rot="16200000" flipV="1">
            <a:off x="1446053" y="3680076"/>
            <a:ext cx="534792" cy="9400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40" name="肘形连接符 90"/>
          <p:cNvCxnSpPr>
            <a:stCxn id="30" idx="0"/>
          </p:cNvCxnSpPr>
          <p:nvPr/>
        </p:nvCxnSpPr>
        <p:spPr>
          <a:xfrm rot="16200000" flipV="1">
            <a:off x="1564255" y="3561874"/>
            <a:ext cx="534792" cy="3304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2" name="箭头: 右 1"/>
          <p:cNvSpPr/>
          <p:nvPr/>
        </p:nvSpPr>
        <p:spPr>
          <a:xfrm>
            <a:off x="2128860" y="2354611"/>
            <a:ext cx="36532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箭头: 右 40"/>
          <p:cNvSpPr/>
          <p:nvPr/>
        </p:nvSpPr>
        <p:spPr>
          <a:xfrm rot="5400000">
            <a:off x="1350981" y="2779616"/>
            <a:ext cx="588767" cy="80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箭头: 右 41"/>
          <p:cNvSpPr/>
          <p:nvPr/>
        </p:nvSpPr>
        <p:spPr>
          <a:xfrm rot="5400000">
            <a:off x="1341789" y="1835663"/>
            <a:ext cx="588767" cy="80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圆角矩形 61"/>
          <p:cNvSpPr/>
          <p:nvPr/>
        </p:nvSpPr>
        <p:spPr>
          <a:xfrm>
            <a:off x="1188149" y="1211406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目的地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027" y="1646462"/>
            <a:ext cx="2373423" cy="3024285"/>
          </a:xfrm>
          <a:prstGeom prst="rect">
            <a:avLst/>
          </a:prstGeom>
          <a:ln>
            <a:noFill/>
          </a:ln>
        </p:spPr>
      </p:pic>
      <p:cxnSp>
        <p:nvCxnSpPr>
          <p:cNvPr id="44" name="Straight Arrow Connector 19"/>
          <p:cNvCxnSpPr/>
          <p:nvPr/>
        </p:nvCxnSpPr>
        <p:spPr>
          <a:xfrm>
            <a:off x="5681550" y="1830530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562609" y="1550227"/>
            <a:ext cx="114311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楼层标识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46" name="Straight Arrow Connector 19"/>
          <p:cNvCxnSpPr/>
          <p:nvPr/>
        </p:nvCxnSpPr>
        <p:spPr>
          <a:xfrm>
            <a:off x="5700600" y="2754455"/>
            <a:ext cx="958578" cy="0"/>
          </a:xfrm>
          <a:prstGeom prst="straightConnector1">
            <a:avLst/>
          </a:prstGeom>
          <a:ln w="381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581659" y="2474152"/>
            <a:ext cx="114311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路线详情</a:t>
            </a:r>
            <a:endParaRPr kumimoji="1" lang="zh-CN" altLang="en-US" dirty="0">
              <a:solidFill>
                <a:schemeClr val="tx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709" y="1148069"/>
            <a:ext cx="2552017" cy="488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巡检导航应用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40292" y="969802"/>
            <a:ext cx="2723679" cy="13161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输入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圆角矩形 61"/>
          <p:cNvSpPr/>
          <p:nvPr/>
        </p:nvSpPr>
        <p:spPr>
          <a:xfrm>
            <a:off x="721220" y="1398722"/>
            <a:ext cx="1180603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目的地点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圆角矩形 61"/>
          <p:cNvSpPr/>
          <p:nvPr/>
        </p:nvSpPr>
        <p:spPr>
          <a:xfrm>
            <a:off x="1996576" y="1400210"/>
            <a:ext cx="129907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巡检人员信息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圆角矩形 26"/>
          <p:cNvSpPr/>
          <p:nvPr/>
        </p:nvSpPr>
        <p:spPr>
          <a:xfrm>
            <a:off x="4309159" y="1029742"/>
            <a:ext cx="2099306" cy="1726376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309158" y="1076808"/>
            <a:ext cx="1800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设备基本信息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40145" y="1396703"/>
            <a:ext cx="1788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楼层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状态（缺陷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正常）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圆角矩形 26"/>
          <p:cNvSpPr/>
          <p:nvPr/>
        </p:nvSpPr>
        <p:spPr>
          <a:xfrm>
            <a:off x="6671457" y="1049842"/>
            <a:ext cx="1800493" cy="1706275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6671457" y="1096909"/>
            <a:ext cx="1800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人员信息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802443" y="1416804"/>
            <a:ext cx="15747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定位标签编码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圆角矩形 26"/>
          <p:cNvSpPr/>
          <p:nvPr/>
        </p:nvSpPr>
        <p:spPr>
          <a:xfrm>
            <a:off x="8724846" y="1069900"/>
            <a:ext cx="2634467" cy="1686218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8855832" y="1436861"/>
            <a:ext cx="23951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任务单号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目标点基本信息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巡检人员信息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附带关注设备信息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724845" y="1080809"/>
            <a:ext cx="1831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巡检信息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圆角矩形 61"/>
          <p:cNvSpPr/>
          <p:nvPr/>
        </p:nvSpPr>
        <p:spPr>
          <a:xfrm>
            <a:off x="727912" y="1867491"/>
            <a:ext cx="1180603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关注的信息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圆角矩形 61"/>
          <p:cNvSpPr/>
          <p:nvPr/>
        </p:nvSpPr>
        <p:spPr>
          <a:xfrm>
            <a:off x="1982396" y="1852303"/>
            <a:ext cx="129907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任务单等信息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圆角矩形 61"/>
          <p:cNvSpPr/>
          <p:nvPr/>
        </p:nvSpPr>
        <p:spPr>
          <a:xfrm>
            <a:off x="1436906" y="264378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线路规划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圆角矩形 61"/>
          <p:cNvSpPr/>
          <p:nvPr/>
        </p:nvSpPr>
        <p:spPr>
          <a:xfrm>
            <a:off x="1436906" y="3609432"/>
            <a:ext cx="939604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巡检导航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2741831" y="2643782"/>
            <a:ext cx="939604" cy="36048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线路详情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矩形 62"/>
          <p:cNvSpPr/>
          <p:nvPr/>
        </p:nvSpPr>
        <p:spPr bwMode="auto">
          <a:xfrm>
            <a:off x="1199030" y="51279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模拟导航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492993" y="51279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语音路线实时指引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 bwMode="auto">
          <a:xfrm>
            <a:off x="962626" y="5127948"/>
            <a:ext cx="204996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偏航重新规划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6" name="矩形 65"/>
          <p:cNvSpPr/>
          <p:nvPr/>
        </p:nvSpPr>
        <p:spPr bwMode="auto">
          <a:xfrm>
            <a:off x="727810" y="5127948"/>
            <a:ext cx="204994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跨楼层导航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67" name="肘形连接符 81"/>
          <p:cNvCxnSpPr>
            <a:stCxn id="64" idx="0"/>
          </p:cNvCxnSpPr>
          <p:nvPr/>
        </p:nvCxnSpPr>
        <p:spPr>
          <a:xfrm rot="5400000" flipH="1" flipV="1">
            <a:off x="515911" y="4672736"/>
            <a:ext cx="534792" cy="37563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68" name="肘形连接符 84"/>
          <p:cNvCxnSpPr>
            <a:stCxn id="66" idx="0"/>
          </p:cNvCxnSpPr>
          <p:nvPr/>
        </p:nvCxnSpPr>
        <p:spPr>
          <a:xfrm rot="5400000" flipH="1" flipV="1">
            <a:off x="633319" y="4790144"/>
            <a:ext cx="534792" cy="14081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69" name="肘形连接符 87"/>
          <p:cNvCxnSpPr>
            <a:stCxn id="65" idx="0"/>
          </p:cNvCxnSpPr>
          <p:nvPr/>
        </p:nvCxnSpPr>
        <p:spPr>
          <a:xfrm rot="16200000" flipV="1">
            <a:off x="750728" y="4813551"/>
            <a:ext cx="534792" cy="94001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0" name="肘形连接符 90"/>
          <p:cNvCxnSpPr>
            <a:stCxn id="63" idx="0"/>
          </p:cNvCxnSpPr>
          <p:nvPr/>
        </p:nvCxnSpPr>
        <p:spPr>
          <a:xfrm rot="16200000" flipV="1">
            <a:off x="868930" y="4695349"/>
            <a:ext cx="534792" cy="33040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71" name="箭头: 右 70"/>
          <p:cNvSpPr/>
          <p:nvPr/>
        </p:nvSpPr>
        <p:spPr>
          <a:xfrm>
            <a:off x="2376510" y="2830861"/>
            <a:ext cx="36532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箭头: 右 71"/>
          <p:cNvSpPr/>
          <p:nvPr/>
        </p:nvSpPr>
        <p:spPr>
          <a:xfrm rot="5400000">
            <a:off x="1598631" y="3255866"/>
            <a:ext cx="588767" cy="80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箭头: 右 72"/>
          <p:cNvSpPr/>
          <p:nvPr/>
        </p:nvSpPr>
        <p:spPr>
          <a:xfrm rot="5400000">
            <a:off x="1751551" y="2396761"/>
            <a:ext cx="348259" cy="145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/>
          <p:cNvSpPr/>
          <p:nvPr/>
        </p:nvSpPr>
        <p:spPr bwMode="auto">
          <a:xfrm>
            <a:off x="2246946" y="5127949"/>
            <a:ext cx="206290" cy="1617355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未关闭缺陷提示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2747346" y="5127949"/>
            <a:ext cx="229497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途径风险点提示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2495113" y="5127949"/>
            <a:ext cx="212034" cy="1617354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Arial" panose="020B0604020202020204" pitchFamily="34" charset="0"/>
              </a:rPr>
              <a:t>关注的缺陷提示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77" name="肘形连接符 81"/>
          <p:cNvCxnSpPr>
            <a:stCxn id="74" idx="0"/>
          </p:cNvCxnSpPr>
          <p:nvPr/>
        </p:nvCxnSpPr>
        <p:spPr>
          <a:xfrm rot="5400000" flipH="1" flipV="1">
            <a:off x="2256908" y="4688044"/>
            <a:ext cx="533089" cy="346723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8" name="肘形连接符 84"/>
          <p:cNvCxnSpPr>
            <a:stCxn id="76" idx="0"/>
          </p:cNvCxnSpPr>
          <p:nvPr/>
        </p:nvCxnSpPr>
        <p:spPr>
          <a:xfrm rot="5400000" flipH="1" flipV="1">
            <a:off x="2382428" y="4813563"/>
            <a:ext cx="533089" cy="95684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79" name="肘形连接符 87"/>
          <p:cNvCxnSpPr>
            <a:stCxn id="75" idx="0"/>
            <a:endCxn id="81" idx="2"/>
          </p:cNvCxnSpPr>
          <p:nvPr/>
        </p:nvCxnSpPr>
        <p:spPr>
          <a:xfrm rot="16200000" flipV="1">
            <a:off x="2510755" y="4776608"/>
            <a:ext cx="548336" cy="15434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80" name="圆角矩形 61"/>
          <p:cNvSpPr/>
          <p:nvPr/>
        </p:nvSpPr>
        <p:spPr>
          <a:xfrm>
            <a:off x="512950" y="4331970"/>
            <a:ext cx="939604" cy="27847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基本功能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圆角矩形 61"/>
          <p:cNvSpPr/>
          <p:nvPr/>
        </p:nvSpPr>
        <p:spPr>
          <a:xfrm>
            <a:off x="2237948" y="4326456"/>
            <a:ext cx="939604" cy="253157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巡检功能</a:t>
            </a:r>
            <a:endParaRPr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2" name="肘形连接符 90"/>
          <p:cNvCxnSpPr>
            <a:stCxn id="80" idx="0"/>
            <a:endCxn id="61" idx="2"/>
          </p:cNvCxnSpPr>
          <p:nvPr/>
        </p:nvCxnSpPr>
        <p:spPr>
          <a:xfrm rot="5400000" flipH="1" flipV="1">
            <a:off x="1263702" y="3688964"/>
            <a:ext cx="362057" cy="923956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cxnSp>
        <p:nvCxnSpPr>
          <p:cNvPr id="83" name="肘形连接符 90"/>
          <p:cNvCxnSpPr>
            <a:stCxn id="81" idx="0"/>
            <a:endCxn id="61" idx="2"/>
          </p:cNvCxnSpPr>
          <p:nvPr/>
        </p:nvCxnSpPr>
        <p:spPr>
          <a:xfrm rot="16200000" flipV="1">
            <a:off x="2128958" y="3747664"/>
            <a:ext cx="356543" cy="801042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714" y="2946353"/>
            <a:ext cx="2213989" cy="3743688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581" y="5596442"/>
            <a:ext cx="152400" cy="15240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639" y="5051748"/>
            <a:ext cx="152400" cy="1524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522" y="3764325"/>
            <a:ext cx="201943" cy="201943"/>
          </a:xfrm>
          <a:prstGeom prst="rect">
            <a:avLst/>
          </a:prstGeom>
        </p:spPr>
      </p:pic>
      <p:sp>
        <p:nvSpPr>
          <p:cNvPr id="87" name="圆角矩形 26"/>
          <p:cNvSpPr/>
          <p:nvPr/>
        </p:nvSpPr>
        <p:spPr>
          <a:xfrm>
            <a:off x="7933653" y="3809859"/>
            <a:ext cx="2634467" cy="11056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8064639" y="4176820"/>
            <a:ext cx="23951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地图高亮显示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靠近语音提醒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8085285" y="3868725"/>
            <a:ext cx="1288165" cy="3385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途径关注点</a:t>
            </a:r>
            <a:endParaRPr kumimoji="1" lang="zh-CN" altLang="en-US" sz="1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电子围栏维护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1254" y="924545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围栏绘制</a:t>
            </a:r>
            <a:r>
              <a:rPr lang="zh-CN" altLang="en-US" dirty="0"/>
              <a:t>：通过鼠标可视化的在地图上进行</a:t>
            </a:r>
            <a:r>
              <a:rPr lang="zh-CN" altLang="zh-CN" dirty="0"/>
              <a:t>绘制多边形，</a:t>
            </a:r>
            <a:r>
              <a:rPr lang="zh-CN" altLang="en-US" dirty="0"/>
              <a:t>并输入围栏基本信息。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81254" y="1476995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删除围栏</a:t>
            </a:r>
            <a:r>
              <a:rPr lang="zh-CN" altLang="en-US" dirty="0"/>
              <a:t>：可通过鼠标在地图上选择围栏进行删除，也可以在列表中删除。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52679" y="1991345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添加点</a:t>
            </a:r>
            <a:r>
              <a:rPr lang="zh-CN" altLang="en-US" dirty="0"/>
              <a:t>：通过鼠标在地图上选择围栏，激活编辑，通过左键进行点的添加。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52679" y="2567310"/>
            <a:ext cx="838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删除点</a:t>
            </a:r>
            <a:r>
              <a:rPr lang="zh-CN" altLang="en-US" dirty="0"/>
              <a:t>：</a:t>
            </a:r>
            <a:r>
              <a:rPr lang="zh-CN" altLang="zh-CN" dirty="0"/>
              <a:t>围栏编辑激活状态下，将鼠标移至已有点上点击左键删除。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54" y="3272111"/>
            <a:ext cx="2520260" cy="32167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600" y="3272111"/>
            <a:ext cx="8681475" cy="35641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电子围栏类型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217" y="2550065"/>
            <a:ext cx="1770130" cy="3402148"/>
          </a:xfrm>
          <a:prstGeom prst="rect">
            <a:avLst/>
          </a:prstGeom>
        </p:spPr>
      </p:pic>
      <p:pic>
        <p:nvPicPr>
          <p:cNvPr id="4" name="图片 3" descr="图片包含 图形用户界面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17" y="2319135"/>
            <a:ext cx="4215215" cy="3662262"/>
          </a:xfrm>
          <a:prstGeom prst="rect">
            <a:avLst/>
          </a:prstGeom>
        </p:spPr>
      </p:pic>
      <p:sp>
        <p:nvSpPr>
          <p:cNvPr id="5" name="圆角矩形 61"/>
          <p:cNvSpPr/>
          <p:nvPr/>
        </p:nvSpPr>
        <p:spPr>
          <a:xfrm>
            <a:off x="3308245" y="2065675"/>
            <a:ext cx="2899215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电子围栏类型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圆角矩形 61"/>
          <p:cNvSpPr/>
          <p:nvPr/>
        </p:nvSpPr>
        <p:spPr>
          <a:xfrm>
            <a:off x="7699038" y="2109710"/>
            <a:ext cx="1757309" cy="36048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电子围栏图例</a:t>
            </a:r>
            <a:endParaRPr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1100" y="110504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系统提供提供多种类型的电子围栏，也可以根据业务需求进行类型等其它属性的定义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界面原型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告警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8700" y="920381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系统提供根据设置实时显示告警信息。</a:t>
            </a:r>
            <a:r>
              <a:rPr lang="en-US" altLang="zh-CN" dirty="0"/>
              <a:t>UWB</a:t>
            </a:r>
            <a:r>
              <a:rPr lang="zh-CN" altLang="en-US" dirty="0"/>
              <a:t>工卡提供震动和声音告警，后台地图提供实时弹窗等提示。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1209675"/>
            <a:ext cx="10344150" cy="58694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80" y="1965306"/>
            <a:ext cx="233463" cy="2334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42" y="2198769"/>
            <a:ext cx="2323809" cy="32285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</a:rPr>
              <a:t>统计分析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140292" y="2016124"/>
            <a:ext cx="238125" cy="1253053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人员轨迹统计</a:t>
            </a:r>
            <a:endParaRPr lang="en-US" altLang="zh-CN" kern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4" name="肘形连接符 41"/>
          <p:cNvCxnSpPr>
            <a:stCxn id="3" idx="0"/>
            <a:endCxn id="7" idx="2"/>
          </p:cNvCxnSpPr>
          <p:nvPr/>
        </p:nvCxnSpPr>
        <p:spPr>
          <a:xfrm rot="5400000" flipH="1" flipV="1">
            <a:off x="1116761" y="1447520"/>
            <a:ext cx="711199" cy="42601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5" name="矩形 4"/>
          <p:cNvSpPr/>
          <p:nvPr/>
        </p:nvSpPr>
        <p:spPr bwMode="auto">
          <a:xfrm>
            <a:off x="2016592" y="2016125"/>
            <a:ext cx="238125" cy="1253052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告警统计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6" name="肘形连接符 264"/>
          <p:cNvCxnSpPr>
            <a:stCxn id="5" idx="0"/>
            <a:endCxn id="7" idx="2"/>
          </p:cNvCxnSpPr>
          <p:nvPr/>
        </p:nvCxnSpPr>
        <p:spPr>
          <a:xfrm rot="16200000" flipV="1">
            <a:off x="1554910" y="1435380"/>
            <a:ext cx="711200" cy="450290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sp>
        <p:nvSpPr>
          <p:cNvPr id="7" name="矩形 6"/>
          <p:cNvSpPr/>
          <p:nvPr/>
        </p:nvSpPr>
        <p:spPr>
          <a:xfrm>
            <a:off x="865655" y="836613"/>
            <a:ext cx="1639420" cy="468312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主要统计分析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64837" y="2016124"/>
            <a:ext cx="238125" cy="1254641"/>
          </a:xfrm>
          <a:prstGeom prst="rect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2100" algn="l"/>
              </a:tabLst>
              <a:defRPr/>
            </a:pPr>
            <a:r>
              <a:rPr lang="zh-CN" altLang="en-US" kern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巡检统计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9" name="肘形连接符 41"/>
          <p:cNvCxnSpPr>
            <a:stCxn id="8" idx="0"/>
            <a:endCxn id="7" idx="2"/>
          </p:cNvCxnSpPr>
          <p:nvPr/>
        </p:nvCxnSpPr>
        <p:spPr>
          <a:xfrm rot="5400000" flipH="1" flipV="1">
            <a:off x="1329033" y="1659793"/>
            <a:ext cx="711199" cy="1465"/>
          </a:xfrm>
          <a:prstGeom prst="bentConnector3">
            <a:avLst>
              <a:gd name="adj1" fmla="val 50000"/>
            </a:avLst>
          </a:prstGeom>
          <a:noFill/>
          <a:ln w="25400" cap="flat" cmpd="sng" algn="ctr">
            <a:solidFill>
              <a:srgbClr val="8064A2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9535" y="5097293"/>
            <a:ext cx="7822173" cy="1592747"/>
          </a:xfrm>
          <a:prstGeom prst="rect">
            <a:avLst/>
          </a:prstGeom>
        </p:spPr>
      </p:pic>
      <p:pic>
        <p:nvPicPr>
          <p:cNvPr id="11" name="图片 10" descr="图形用户界面, 应用程序&#10;&#10;描述已自动生成"/>
          <p:cNvPicPr>
            <a:picLocks noChangeAspect="1"/>
          </p:cNvPicPr>
          <p:nvPr/>
        </p:nvPicPr>
        <p:blipFill rotWithShape="1">
          <a:blip r:embed="rId2"/>
          <a:srcRect l="14983" t="9378"/>
          <a:stretch>
            <a:fillRect/>
          </a:stretch>
        </p:blipFill>
        <p:spPr>
          <a:xfrm>
            <a:off x="3284658" y="817124"/>
            <a:ext cx="7767050" cy="19844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658" y="2905895"/>
            <a:ext cx="7767050" cy="2101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/>
        </p:nvSpPr>
        <p:spPr>
          <a:xfrm>
            <a:off x="3048548" y="2863531"/>
            <a:ext cx="1085244" cy="898996"/>
          </a:xfrm>
          <a:prstGeom prst="rect">
            <a:avLst/>
          </a:prstGeom>
          <a:solidFill>
            <a:srgbClr val="225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2632618" y="2528199"/>
            <a:ext cx="4447577" cy="1569660"/>
            <a:chOff x="3099114" y="2429363"/>
            <a:chExt cx="4447577" cy="1569660"/>
          </a:xfrm>
        </p:grpSpPr>
        <p:sp>
          <p:nvSpPr>
            <p:cNvPr id="51" name="文本框 50"/>
            <p:cNvSpPr txBox="1"/>
            <p:nvPr/>
          </p:nvSpPr>
          <p:spPr>
            <a:xfrm>
              <a:off x="4899813" y="2859691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接口说明</a:t>
              </a:r>
              <a:endParaRPr kumimoji="1"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99114" y="2429363"/>
              <a:ext cx="1553631" cy="15696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600" b="1" i="1" dirty="0">
                  <a:solidFill>
                    <a:schemeClr val="bg1"/>
                  </a:solidFill>
                  <a:latin typeface="Helvetica Bold Oblique" panose="020B06040202020A0204" charset="0"/>
                  <a:ea typeface="微软雅黑" panose="020B0503020204020204" charset="-122"/>
                  <a:cs typeface="Helvetica Bold Oblique" panose="020B06040202020A0204" charset="0"/>
                </a:rPr>
                <a:t>05</a:t>
              </a:r>
              <a:endParaRPr kumimoji="1" lang="zh-CN" altLang="en-US" sz="9600" b="1" i="1" dirty="0">
                <a:solidFill>
                  <a:schemeClr val="bg1"/>
                </a:solidFill>
                <a:latin typeface="Helvetica Bold Oblique" panose="020B06040202020A0204" charset="0"/>
                <a:ea typeface="微软雅黑" panose="020B0503020204020204" charset="-122"/>
                <a:cs typeface="Helvetica Bold Oblique" panose="020B06040202020A0204" charset="0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7158" y="4610483"/>
            <a:ext cx="1968500" cy="4064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015" y="4546992"/>
            <a:ext cx="1968500" cy="406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34332" y="-774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29" name="图片 28" descr="资源 59@4x-8"/>
          <p:cNvPicPr>
            <a:picLocks noChangeAspect="1"/>
          </p:cNvPicPr>
          <p:nvPr/>
        </p:nvPicPr>
        <p:blipFill>
          <a:blip r:embed="rId2">
            <a:lum bright="24000"/>
          </a:blip>
          <a:stretch>
            <a:fillRect/>
          </a:stretch>
        </p:blipFill>
        <p:spPr>
          <a:xfrm>
            <a:off x="-988060" y="4208780"/>
            <a:ext cx="3181985" cy="3541395"/>
          </a:xfrm>
          <a:prstGeom prst="rect">
            <a:avLst/>
          </a:prstGeom>
        </p:spPr>
      </p:pic>
      <p:pic>
        <p:nvPicPr>
          <p:cNvPr id="5" name="图片 4" descr="资源 60@4x-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-1640840"/>
            <a:ext cx="3336925" cy="3712210"/>
          </a:xfrm>
          <a:prstGeom prst="rect">
            <a:avLst/>
          </a:prstGeom>
        </p:spPr>
      </p:pic>
      <p:pic>
        <p:nvPicPr>
          <p:cNvPr id="6" name="图片 5" descr="资源 21@4x-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680" y="965200"/>
            <a:ext cx="994410" cy="1106170"/>
          </a:xfrm>
          <a:prstGeom prst="rect">
            <a:avLst/>
          </a:prstGeom>
        </p:spPr>
      </p:pic>
      <p:pic>
        <p:nvPicPr>
          <p:cNvPr id="9" name="图片 8" descr="资源 22@4x-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495" y="5017135"/>
            <a:ext cx="2045335" cy="2273935"/>
          </a:xfrm>
          <a:prstGeom prst="rect">
            <a:avLst/>
          </a:prstGeom>
        </p:spPr>
      </p:pic>
      <p:pic>
        <p:nvPicPr>
          <p:cNvPr id="13" name="图片 12" descr="资源 2@4x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887084" y="167959"/>
            <a:ext cx="9720000" cy="46166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>
            <a:defPPr>
              <a:defRPr lang="zh-CN"/>
            </a:defPPr>
            <a:lvl1pPr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 u="none" strike="noStrike" cap="none" spc="0" baseline="0">
                <a:solidFill>
                  <a:srgbClr val="219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2pPr>
            <a:lvl3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3pPr>
            <a:lvl4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4pPr>
            <a:lvl5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5pPr>
            <a:lvl6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6pPr>
            <a:lvl7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7pPr>
            <a:lvl8pPr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8pPr>
            <a:lvl9pPr marL="3200400" indent="0" fontAlgn="auto">
              <a:buNone/>
              <a:defRPr>
                <a:latin typeface="Times New Roman" panose="02020603050405020304" charset="0"/>
                <a:ea typeface="宋体" pitchFamily="2" charset="-122"/>
                <a:cs typeface="Times New Roman" panose="02020603050405020304" charset="0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导航智能化资询与研发试点项目：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接口说明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634246" y="1658167"/>
          <a:ext cx="9085635" cy="4419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303"/>
                <a:gridCol w="1179278"/>
                <a:gridCol w="7167054"/>
              </a:tblGrid>
              <a:tr h="217278">
                <a:tc>
                  <a:txBody>
                    <a:bodyPr/>
                    <a:lstStyle/>
                    <a:p>
                      <a:pPr indent="145415" algn="ctr">
                        <a:spcBef>
                          <a:spcPts val="600"/>
                        </a:spcBef>
                      </a:pPr>
                      <a:r>
                        <a:rPr lang="zh-CN" sz="1200" kern="100">
                          <a:effectLst/>
                        </a:rPr>
                        <a:t>序号</a:t>
                      </a:r>
                      <a:endParaRPr lang="zh-CN" sz="12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indent="266700" algn="just">
                        <a:spcBef>
                          <a:spcPts val="600"/>
                        </a:spcBef>
                      </a:pPr>
                      <a:r>
                        <a:rPr lang="zh-CN" sz="1200" kern="100" dirty="0">
                          <a:effectLst/>
                        </a:rPr>
                        <a:t>功能</a:t>
                      </a:r>
                      <a:endParaRPr lang="zh-CN" sz="12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indent="266700" algn="just">
                        <a:spcBef>
                          <a:spcPts val="600"/>
                        </a:spcBef>
                      </a:pPr>
                      <a:r>
                        <a:rPr lang="zh-CN" sz="1200" kern="100" dirty="0">
                          <a:effectLst/>
                        </a:rPr>
                        <a:t>描述及接口方式</a:t>
                      </a:r>
                      <a:endParaRPr lang="zh-CN" sz="12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277892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altLang="zh-CN" sz="1000" kern="100" dirty="0"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603050405020304" charset="0"/>
                        </a:rPr>
                        <a:t>    1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UWB</a:t>
                      </a:r>
                      <a:r>
                        <a:rPr lang="zh-CN" sz="1000" kern="100" dirty="0">
                          <a:effectLst/>
                        </a:rPr>
                        <a:t>实时定位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给系统提供实时定位的数据接口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512042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2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GIS</a:t>
                      </a:r>
                      <a:r>
                        <a:rPr lang="zh-CN" sz="1000" kern="100" dirty="0">
                          <a:effectLst/>
                        </a:rPr>
                        <a:t>地图展示及基本功能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altLang="en-US" sz="1000" kern="0" dirty="0">
                          <a:effectLst/>
                        </a:rPr>
                        <a:t>除了二维地图整体展示，还包括</a:t>
                      </a:r>
                      <a:r>
                        <a:rPr lang="zh-CN" sz="1000" kern="0" dirty="0">
                          <a:effectLst/>
                        </a:rPr>
                        <a:t>楼层切换、放大缩小、平移、全屏、旋转、指北针等。</a:t>
                      </a:r>
                      <a:r>
                        <a:rPr lang="en-US" sz="1000" kern="0" dirty="0">
                          <a:effectLst/>
                        </a:rPr>
                        <a:t>JS-SDK</a:t>
                      </a:r>
                      <a:r>
                        <a:rPr lang="zh-CN" sz="1000" kern="0" dirty="0">
                          <a:effectLst/>
                        </a:rPr>
                        <a:t>库支持，可以通过</a:t>
                      </a:r>
                      <a:r>
                        <a:rPr lang="en-US" sz="1000" kern="0" dirty="0">
                          <a:effectLst/>
                        </a:rPr>
                        <a:t>JS</a:t>
                      </a:r>
                      <a:r>
                        <a:rPr lang="zh-CN" sz="1000" kern="0" dirty="0">
                          <a:effectLst/>
                        </a:rPr>
                        <a:t>库获得</a:t>
                      </a:r>
                      <a:r>
                        <a:rPr lang="en-US" sz="1000" kern="0" dirty="0" err="1">
                          <a:effectLst/>
                        </a:rPr>
                        <a:t>gis</a:t>
                      </a:r>
                      <a:r>
                        <a:rPr lang="zh-CN" sz="1000" kern="0" dirty="0">
                          <a:effectLst/>
                        </a:rPr>
                        <a:t>地图页面。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286856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3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1000" kern="100">
                          <a:effectLst/>
                        </a:rPr>
                        <a:t>POI</a:t>
                      </a:r>
                      <a:r>
                        <a:rPr lang="zh-CN" sz="1000" kern="100">
                          <a:effectLst/>
                        </a:rPr>
                        <a:t>数据采集维护及兴趣点搜索</a:t>
                      </a:r>
                      <a:endParaRPr lang="zh-CN" sz="10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系统提供</a:t>
                      </a:r>
                      <a:r>
                        <a:rPr lang="en-US" sz="1000" kern="0" dirty="0">
                          <a:effectLst/>
                        </a:rPr>
                        <a:t>poi</a:t>
                      </a:r>
                      <a:r>
                        <a:rPr lang="zh-CN" sz="1000" kern="0" dirty="0">
                          <a:effectLst/>
                        </a:rPr>
                        <a:t>数据的搜索及添加、删除、维护。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611810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4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zh-CN" sz="1000" kern="100" dirty="0">
                          <a:effectLst/>
                        </a:rPr>
                        <a:t>电子围栏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altLang="en-US" sz="1000" kern="0" dirty="0">
                          <a:effectLst/>
                        </a:rPr>
                        <a:t>以页面嵌入的方式提供，包括</a:t>
                      </a:r>
                      <a:r>
                        <a:rPr lang="zh-CN" sz="1000" kern="0" dirty="0">
                          <a:effectLst/>
                        </a:rPr>
                        <a:t>限制离开，限制进入，区域数量统计，限制数额，限时进入，限时离开等类型。也可以根据实际需求进行定制。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399795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5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100">
                          <a:effectLst/>
                        </a:rPr>
                        <a:t>告警提示</a:t>
                      </a:r>
                      <a:endParaRPr lang="zh-CN" sz="10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结合电子围栏设置进行告警，还包括标签电量等状态的告警。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422354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6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100">
                          <a:effectLst/>
                        </a:rPr>
                        <a:t>路径规划</a:t>
                      </a:r>
                      <a:endParaRPr lang="zh-CN" sz="10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搜索目标兴趣点，支持从当前位置到兴趣点的最短路径。也支持两个任意兴趣点的最短路径。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484660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100" dirty="0">
                          <a:effectLst/>
                        </a:rPr>
                        <a:t>7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100">
                          <a:effectLst/>
                        </a:rPr>
                        <a:t>导航</a:t>
                      </a:r>
                      <a:endParaRPr lang="zh-CN" sz="10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</a:pPr>
                      <a:r>
                        <a:rPr lang="zh-CN" sz="1000" kern="0" dirty="0">
                          <a:effectLst/>
                        </a:rPr>
                        <a:t>通过导航</a:t>
                      </a:r>
                      <a:r>
                        <a:rPr lang="en-US" sz="1000" kern="0" dirty="0">
                          <a:effectLst/>
                        </a:rPr>
                        <a:t>SDK</a:t>
                      </a:r>
                      <a:r>
                        <a:rPr lang="zh-CN" sz="1000" kern="0" dirty="0">
                          <a:effectLst/>
                        </a:rPr>
                        <a:t>直接调取导航页面，支持语音。语音可以根据场景进行定制更新。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369651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0" dirty="0">
                          <a:effectLst/>
                        </a:rPr>
                        <a:t>8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0">
                          <a:effectLst/>
                        </a:rPr>
                        <a:t>热力图</a:t>
                      </a:r>
                      <a:endParaRPr lang="zh-CN" sz="10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地图</a:t>
                      </a:r>
                      <a:r>
                        <a:rPr lang="en-US" sz="1000" kern="0" dirty="0">
                          <a:effectLst/>
                        </a:rPr>
                        <a:t>SDK</a:t>
                      </a:r>
                      <a:r>
                        <a:rPr lang="zh-CN" sz="1000" kern="0" dirty="0">
                          <a:effectLst/>
                        </a:rPr>
                        <a:t>加</a:t>
                      </a:r>
                      <a:r>
                        <a:rPr lang="en-US" sz="1000" kern="0" dirty="0">
                          <a:effectLst/>
                        </a:rPr>
                        <a:t>Restful</a:t>
                      </a:r>
                      <a:r>
                        <a:rPr lang="zh-CN" sz="1000" kern="0" dirty="0">
                          <a:effectLst/>
                        </a:rPr>
                        <a:t>接口获取。通过时间、设备或者人的</a:t>
                      </a:r>
                      <a:r>
                        <a:rPr lang="en-US" sz="1000" kern="0" dirty="0">
                          <a:effectLst/>
                        </a:rPr>
                        <a:t>id</a:t>
                      </a:r>
                      <a:r>
                        <a:rPr lang="zh-CN" sz="1000" kern="0" dirty="0">
                          <a:effectLst/>
                        </a:rPr>
                        <a:t>等作为参数来获取热力图。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336657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0" dirty="0">
                          <a:effectLst/>
                        </a:rPr>
                        <a:t>9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0">
                          <a:effectLst/>
                        </a:rPr>
                        <a:t>轨迹回放</a:t>
                      </a:r>
                      <a:endParaRPr lang="zh-CN" sz="1000" kern="10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</a:pPr>
                      <a:r>
                        <a:rPr lang="zh-CN" sz="1000" kern="0" dirty="0">
                          <a:effectLst/>
                        </a:rPr>
                        <a:t>可以按设备、人员进行历史轨迹回放。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  <a:tr h="482576">
                <a:tc>
                  <a:txBody>
                    <a:bodyPr/>
                    <a:lstStyle/>
                    <a:p>
                      <a:pPr indent="266700" algn="l">
                        <a:spcBef>
                          <a:spcPts val="600"/>
                        </a:spcBef>
                      </a:pPr>
                      <a:r>
                        <a:rPr lang="en-US" sz="1000" kern="0" dirty="0">
                          <a:effectLst/>
                        </a:rPr>
                        <a:t>10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</a:pPr>
                      <a:r>
                        <a:rPr lang="zh-CN" sz="1000" kern="0" dirty="0">
                          <a:effectLst/>
                        </a:rPr>
                        <a:t>坐标系转换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815"/>
                        </a:spcBef>
                      </a:pPr>
                      <a:r>
                        <a:rPr lang="zh-CN" sz="1000" kern="0" dirty="0">
                          <a:effectLst/>
                        </a:rPr>
                        <a:t>系统提供米制坐标转换到北京</a:t>
                      </a:r>
                      <a:r>
                        <a:rPr lang="en-US" sz="1000" kern="0" dirty="0">
                          <a:effectLst/>
                        </a:rPr>
                        <a:t>2000</a:t>
                      </a:r>
                      <a:r>
                        <a:rPr lang="zh-CN" sz="1000" kern="0" dirty="0">
                          <a:effectLst/>
                        </a:rPr>
                        <a:t>、</a:t>
                      </a:r>
                      <a:r>
                        <a:rPr lang="en-US" sz="1000" kern="0" dirty="0">
                          <a:effectLst/>
                        </a:rPr>
                        <a:t>wgs84</a:t>
                      </a:r>
                      <a:r>
                        <a:rPr lang="zh-CN" sz="1000" kern="0" dirty="0">
                          <a:effectLst/>
                        </a:rPr>
                        <a:t>等坐标系的转换。</a:t>
                      </a:r>
                      <a:endParaRPr lang="zh-CN" sz="10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 panose="02020603050405020304" charset="0"/>
                      </a:endParaRPr>
                    </a:p>
                  </a:txBody>
                  <a:tcPr marL="46430" marR="46430" marT="0" marB="0"/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181100" y="110504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系统主要提供如下的</a:t>
            </a:r>
            <a:r>
              <a:rPr lang="en-US" altLang="zh-CN" dirty="0"/>
              <a:t>API</a:t>
            </a:r>
            <a:r>
              <a:rPr lang="zh-CN" altLang="en-US" dirty="0"/>
              <a:t>接口。调用方式主要分为页面组件式、功能服务、数据格式转换等。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-18844"/>
            <a:ext cx="12192000" cy="6876844"/>
          </a:xfrm>
          <a:prstGeom prst="rect">
            <a:avLst/>
          </a:prstGeom>
          <a:solidFill>
            <a:srgbClr val="21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723139" y="3302862"/>
            <a:ext cx="474572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THANK</a:t>
            </a:r>
            <a:r>
              <a:rPr kumimoji="1" lang="zh-CN" altLang="en-US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YOU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206240" y="1514856"/>
            <a:ext cx="3779520" cy="3779520"/>
          </a:xfrm>
          <a:prstGeom prst="ellipse">
            <a:avLst/>
          </a:prstGeom>
          <a:noFill/>
          <a:ln w="38100" cap="rnd">
            <a:solidFill>
              <a:schemeClr val="bg1">
                <a:alpha val="2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97536" y="3215640"/>
            <a:ext cx="11980164" cy="426720"/>
            <a:chOff x="97536" y="3280907"/>
            <a:chExt cx="11980164" cy="426720"/>
          </a:xfrm>
        </p:grpSpPr>
        <p:grpSp>
          <p:nvGrpSpPr>
            <p:cNvPr id="10" name="组合 9"/>
            <p:cNvGrpSpPr/>
            <p:nvPr/>
          </p:nvGrpSpPr>
          <p:grpSpPr>
            <a:xfrm>
              <a:off x="9651492" y="3280907"/>
              <a:ext cx="2426208" cy="426720"/>
              <a:chOff x="9614916" y="3238235"/>
              <a:chExt cx="2426208" cy="426720"/>
            </a:xfrm>
          </p:grpSpPr>
          <p:cxnSp>
            <p:nvCxnSpPr>
              <p:cNvPr id="6" name="直线连接符 5"/>
              <p:cNvCxnSpPr/>
              <p:nvPr/>
            </p:nvCxnSpPr>
            <p:spPr>
              <a:xfrm>
                <a:off x="9614916" y="323823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/>
              <p:cNvCxnSpPr/>
              <p:nvPr/>
            </p:nvCxnSpPr>
            <p:spPr>
              <a:xfrm>
                <a:off x="9614916" y="3390357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/>
              <p:cNvCxnSpPr/>
              <p:nvPr/>
            </p:nvCxnSpPr>
            <p:spPr>
              <a:xfrm>
                <a:off x="9614916" y="3530843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/>
              <p:cNvCxnSpPr/>
              <p:nvPr/>
            </p:nvCxnSpPr>
            <p:spPr>
              <a:xfrm>
                <a:off x="9614916" y="366495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97536" y="3280907"/>
              <a:ext cx="2426208" cy="426720"/>
              <a:chOff x="9729216" y="3238235"/>
              <a:chExt cx="2426208" cy="426720"/>
            </a:xfrm>
          </p:grpSpPr>
          <p:cxnSp>
            <p:nvCxnSpPr>
              <p:cNvPr id="20" name="直线连接符 19"/>
              <p:cNvCxnSpPr/>
              <p:nvPr/>
            </p:nvCxnSpPr>
            <p:spPr>
              <a:xfrm>
                <a:off x="9729216" y="323823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线连接符 20"/>
              <p:cNvCxnSpPr/>
              <p:nvPr/>
            </p:nvCxnSpPr>
            <p:spPr>
              <a:xfrm>
                <a:off x="9729216" y="3390357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22"/>
              <p:cNvCxnSpPr/>
              <p:nvPr/>
            </p:nvCxnSpPr>
            <p:spPr>
              <a:xfrm>
                <a:off x="9729216" y="3530843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线连接符 23"/>
              <p:cNvCxnSpPr/>
              <p:nvPr/>
            </p:nvCxnSpPr>
            <p:spPr>
              <a:xfrm>
                <a:off x="9729216" y="3664955"/>
                <a:ext cx="2426208" cy="0"/>
              </a:xfrm>
              <a:prstGeom prst="line">
                <a:avLst/>
              </a:prstGeom>
              <a:ln w="63500" cap="rnd">
                <a:solidFill>
                  <a:srgbClr val="1E1E2B">
                    <a:alpha val="5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" name="图片 15" descr="资源 2@4x-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2420" y="403860"/>
            <a:ext cx="1216424" cy="27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3084</Words>
  <Application>WPS Office WWO_feishu_20220325115714-cd9e9316d1</Application>
  <PresentationFormat>宽屏</PresentationFormat>
  <Paragraphs>607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汉仪旗黑KW 55S</vt:lpstr>
      <vt:lpstr>Microsoft YaHei Semibold</vt:lpstr>
      <vt:lpstr>Helvetica Neue Regular</vt:lpstr>
      <vt:lpstr>Helvetica Bold Oblique</vt:lpstr>
      <vt:lpstr>Times New Roman</vt:lpstr>
      <vt:lpstr>汉仪书宋二KW</vt:lpstr>
      <vt:lpstr>Microsoft YaHei</vt:lpstr>
      <vt:lpstr>MingLiU-ExtB</vt:lpstr>
      <vt:lpstr>DengXian</vt:lpstr>
      <vt:lpstr>宋体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语音及导航智能化资询与研发试点项目-一张图可视化管理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Y R</cp:lastModifiedBy>
  <dcterms:created xsi:type="dcterms:W3CDTF">2022-10-14T09:02:10Z</dcterms:created>
  <dcterms:modified xsi:type="dcterms:W3CDTF">2022-10-14T09:02:10Z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9A536A4A3123424E937B72ED97653F7B</vt:lpwstr>
  </property>
</Properties>
</file>