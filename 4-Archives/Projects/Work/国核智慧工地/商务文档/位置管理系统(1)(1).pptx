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85" r:id="rId2"/>
    <p:sldId id="287" r:id="rId3"/>
    <p:sldId id="288" r:id="rId4"/>
    <p:sldId id="264" r:id="rId5"/>
    <p:sldId id="259" r:id="rId6"/>
    <p:sldId id="278" r:id="rId7"/>
    <p:sldId id="271" r:id="rId8"/>
    <p:sldId id="290" r:id="rId9"/>
    <p:sldId id="281" r:id="rId10"/>
    <p:sldId id="282" r:id="rId11"/>
    <p:sldId id="298" r:id="rId12"/>
    <p:sldId id="299" r:id="rId13"/>
    <p:sldId id="300" r:id="rId14"/>
    <p:sldId id="301" r:id="rId15"/>
    <p:sldId id="302" r:id="rId16"/>
    <p:sldId id="289" r:id="rId17"/>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A3037"/>
    <a:srgbClr val="4AD9D9"/>
    <a:srgbClr val="2F9CA7"/>
    <a:srgbClr val="2C919C"/>
    <a:srgbClr val="33A7B3"/>
    <a:srgbClr val="36B1BF"/>
    <a:srgbClr val="15579E"/>
    <a:srgbClr val="66A9D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5" autoAdjust="0"/>
    <p:restoredTop sz="94660"/>
  </p:normalViewPr>
  <p:slideViewPr>
    <p:cSldViewPr snapToGrid="0" showGuides="1">
      <p:cViewPr varScale="1">
        <p:scale>
          <a:sx n="111" d="100"/>
          <a:sy n="111" d="100"/>
        </p:scale>
        <p:origin x="456" y="13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3EFBE3C-E8B2-4F1D-B01F-6C7D7F13C1DF}"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474F7BC-DF71-438D-B900-8BF88661E4DD}" type="datetimeFigureOut">
              <a:rPr lang="zh-CN" altLang="en-US" smtClean="0"/>
              <a:t>2022/6/8</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EFBE3C-E8B2-4F1D-B01F-6C7D7F13C1DF}"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image" Target="../media/image2.png"/><Relationship Id="rId5" Type="http://schemas.openxmlformats.org/officeDocument/2006/relationships/slideLayout" Target="../slideLayouts/slideLayout2.xml"/><Relationship Id="rId4" Type="http://schemas.openxmlformats.org/officeDocument/2006/relationships/tags" Target="../tags/tag4.xml"/></Relationships>
</file>

<file path=ppt/slides/_rels/slide3.xml.rels><?xml version="1.0" encoding="UTF-8" standalone="yes"?>
<Relationships xmlns="http://schemas.openxmlformats.org/package/2006/relationships"><Relationship Id="rId3" Type="http://schemas.openxmlformats.org/officeDocument/2006/relationships/tags" Target="../tags/tag7.xml"/><Relationship Id="rId7" Type="http://schemas.openxmlformats.org/officeDocument/2006/relationships/image" Target="../media/image2.png"/><Relationship Id="rId2" Type="http://schemas.openxmlformats.org/officeDocument/2006/relationships/tags" Target="../tags/tag6.xml"/><Relationship Id="rId1" Type="http://schemas.openxmlformats.org/officeDocument/2006/relationships/tags" Target="../tags/tag5.xml"/><Relationship Id="rId6" Type="http://schemas.openxmlformats.org/officeDocument/2006/relationships/image" Target="../media/image3.jpeg"/><Relationship Id="rId5" Type="http://schemas.openxmlformats.org/officeDocument/2006/relationships/slideLayout" Target="../slideLayouts/slideLayout2.xml"/><Relationship Id="rId4" Type="http://schemas.openxmlformats.org/officeDocument/2006/relationships/tags" Target="../tags/tag8.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tags" Target="../tags/tag11.xml"/><Relationship Id="rId7" Type="http://schemas.openxmlformats.org/officeDocument/2006/relationships/image" Target="../media/image2.png"/><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jpeg"/><Relationship Id="rId5" Type="http://schemas.openxmlformats.org/officeDocument/2006/relationships/slideLayout" Target="../slideLayouts/slideLayout2.xml"/><Relationship Id="rId4" Type="http://schemas.openxmlformats.org/officeDocument/2006/relationships/tags" Target="../tags/tag12.xml"/></Relationships>
</file>

<file path=ppt/slides/_rels/slide9.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12640" y="995845"/>
            <a:ext cx="10260411" cy="5175632"/>
          </a:xfrm>
          <a:prstGeom prst="rect">
            <a:avLst/>
          </a:prstGeom>
        </p:spPr>
      </p:pic>
      <p:sp>
        <p:nvSpPr>
          <p:cNvPr id="6" name="矩形 5"/>
          <p:cNvSpPr/>
          <p:nvPr/>
        </p:nvSpPr>
        <p:spPr>
          <a:xfrm>
            <a:off x="629728" y="1844823"/>
            <a:ext cx="10834779" cy="3667455"/>
          </a:xfrm>
          <a:prstGeom prst="rect">
            <a:avLst/>
          </a:prstGeom>
          <a:solidFill>
            <a:schemeClr val="tx1">
              <a:lumMod val="95000"/>
              <a:lumOff val="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108826" y="2522386"/>
            <a:ext cx="619722"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108826" y="2519492"/>
            <a:ext cx="0" cy="60699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147362" y="4759021"/>
            <a:ext cx="5361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147362" y="4334914"/>
            <a:ext cx="0" cy="4241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289718" y="2522386"/>
            <a:ext cx="54225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826806" y="2519491"/>
            <a:ext cx="2118" cy="606992"/>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379533" y="4759021"/>
            <a:ext cx="54437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8923908" y="4334914"/>
            <a:ext cx="0" cy="424107"/>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177013" y="2738749"/>
            <a:ext cx="5383833" cy="775469"/>
          </a:xfrm>
          <a:prstGeom prst="rect">
            <a:avLst/>
          </a:prstGeom>
          <a:noFill/>
        </p:spPr>
        <p:txBody>
          <a:bodyPr wrap="square" rtlCol="0">
            <a:spAutoFit/>
          </a:bodyPr>
          <a:lstStyle/>
          <a:p>
            <a:pPr algn="ctr"/>
            <a:r>
              <a:rPr lang="zh-CN" altLang="en-US" sz="4400" spc="300" dirty="0">
                <a:solidFill>
                  <a:schemeClr val="bg1"/>
                </a:solidFill>
                <a:latin typeface="Microsoft YaHei" panose="020B0503020204020204" pitchFamily="34" charset="-122"/>
                <a:ea typeface="Microsoft YaHei" panose="020B0503020204020204" pitchFamily="34" charset="-122"/>
                <a:cs typeface="+mn-ea"/>
                <a:sym typeface="+mn-lt"/>
              </a:rPr>
              <a:t>位置管理系统</a:t>
            </a:r>
            <a:endParaRPr lang="en-US" altLang="zh-CN" sz="3600" dirty="0">
              <a:solidFill>
                <a:srgbClr val="FFC000"/>
              </a:solidFill>
              <a:latin typeface="微软雅黑" panose="020B0503020204020204" pitchFamily="34" charset="-122"/>
              <a:ea typeface="微软雅黑" panose="020B0503020204020204" pitchFamily="34" charset="-122"/>
            </a:endParaRPr>
          </a:p>
        </p:txBody>
      </p:sp>
      <p:pic>
        <p:nvPicPr>
          <p:cNvPr id="13" name="图片 12"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3"/>
          <a:stretch>
            <a:fillRect/>
          </a:stretch>
        </p:blipFill>
        <p:spPr>
          <a:xfrm>
            <a:off x="10492950" y="90030"/>
            <a:ext cx="1645497" cy="434176"/>
          </a:xfrm>
          <a:prstGeom prst="rect">
            <a:avLst/>
          </a:prstGeom>
        </p:spPr>
      </p:pic>
    </p:spTree>
    <p:extLst>
      <p:ext uri="{BB962C8B-B14F-4D97-AF65-F5344CB8AC3E}">
        <p14:creationId xmlns:p14="http://schemas.microsoft.com/office/powerpoint/2010/main" val="39281806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梯形 3"/>
          <p:cNvSpPr/>
          <p:nvPr/>
        </p:nvSpPr>
        <p:spPr>
          <a:xfrm rot="10800000">
            <a:off x="4583832" y="0"/>
            <a:ext cx="2520280" cy="815232"/>
          </a:xfrm>
          <a:prstGeom prst="trapezoid">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TextBox 4"/>
          <p:cNvSpPr txBox="1"/>
          <p:nvPr/>
        </p:nvSpPr>
        <p:spPr>
          <a:xfrm>
            <a:off x="4824843" y="-15765"/>
            <a:ext cx="2088232" cy="830997"/>
          </a:xfrm>
          <a:prstGeom prst="rect">
            <a:avLst/>
          </a:prstGeom>
          <a:noFill/>
        </p:spPr>
        <p:txBody>
          <a:bodyPr wrap="square" rtlCol="0">
            <a:spAutoFit/>
          </a:bodyPr>
          <a:lstStyle/>
          <a:p>
            <a:pPr algn="ctr"/>
            <a:r>
              <a:rPr lang="zh-CN" altLang="en-US" sz="2400" b="1" dirty="0">
                <a:solidFill>
                  <a:schemeClr val="bg1"/>
                </a:solidFill>
                <a:latin typeface="微软雅黑" panose="020B0503020204020204" pitchFamily="34" charset="-122"/>
                <a:ea typeface="微软雅黑" panose="020B0503020204020204" pitchFamily="34" charset="-122"/>
              </a:rPr>
              <a:t>目录</a:t>
            </a:r>
          </a:p>
          <a:p>
            <a:pPr algn="ctr"/>
            <a:r>
              <a:rPr lang="en-US" altLang="zh-CN" sz="2400" b="1" dirty="0">
                <a:solidFill>
                  <a:schemeClr val="bg1"/>
                </a:solidFill>
                <a:latin typeface="Batang" panose="02030600000101010101" pitchFamily="18" charset="-127"/>
                <a:ea typeface="Batang" panose="02030600000101010101" pitchFamily="18" charset="-127"/>
                <a:cs typeface="Arial Unicode MS" panose="020B0604020202020204" pitchFamily="34" charset="-122"/>
              </a:rPr>
              <a:t>contents</a:t>
            </a:r>
            <a:endParaRPr lang="zh-CN" altLang="en-US" sz="2400" b="1" dirty="0">
              <a:solidFill>
                <a:schemeClr val="bg1"/>
              </a:solidFill>
              <a:latin typeface="Batang" panose="02030600000101010101" pitchFamily="18" charset="-127"/>
              <a:ea typeface="Batang" panose="02030600000101010101" pitchFamily="18" charset="-127"/>
              <a:cs typeface="Arial Unicode MS" panose="020B0604020202020204" pitchFamily="34" charset="-122"/>
            </a:endParaRPr>
          </a:p>
        </p:txBody>
      </p:sp>
      <p:sp>
        <p:nvSpPr>
          <p:cNvPr id="7" name="MH_Entry_1"/>
          <p:cNvSpPr/>
          <p:nvPr>
            <p:custDataLst>
              <p:tags r:id="rId1"/>
            </p:custDataLst>
          </p:nvPr>
        </p:nvSpPr>
        <p:spPr>
          <a:xfrm flipH="1">
            <a:off x="3427437" y="2704041"/>
            <a:ext cx="3487524" cy="579239"/>
          </a:xfrm>
          <a:prstGeom prst="roundRect">
            <a:avLst>
              <a:gd name="adj" fmla="val 23973"/>
            </a:avLst>
          </a:prstGeom>
          <a:solidFill>
            <a:schemeClr val="accent1"/>
          </a:solidFill>
          <a:ln w="25400" cap="flat" cmpd="sng" algn="ctr">
            <a:noFill/>
            <a:prstDash val="solid"/>
          </a:ln>
          <a:effectLst/>
        </p:spPr>
        <p:txBody>
          <a:bodyPr wrap="square" lIns="0" tIns="0" rIns="0" bIns="0" anchor="ctr">
            <a:noAutofit/>
          </a:bodyPr>
          <a:lstStyle/>
          <a:p>
            <a:pPr algn="ctr"/>
            <a:r>
              <a:rPr lang="zh-CN" altLang="en-US" sz="2800" dirty="0">
                <a:solidFill>
                  <a:schemeClr val="bg1"/>
                </a:solidFill>
                <a:latin typeface="Arial" panose="020B0604020202020204" pitchFamily="34" charset="0"/>
                <a:ea typeface="微软雅黑" panose="020B0503020204020204" pitchFamily="34" charset="-122"/>
                <a:sym typeface="Arial" panose="020B0604020202020204" pitchFamily="34" charset="0"/>
              </a:rPr>
              <a:t>定位原理</a:t>
            </a:r>
          </a:p>
        </p:txBody>
      </p:sp>
      <p:sp>
        <p:nvSpPr>
          <p:cNvPr id="9" name="MH_Number_1"/>
          <p:cNvSpPr/>
          <p:nvPr>
            <p:custDataLst>
              <p:tags r:id="rId2"/>
            </p:custDataLst>
          </p:nvPr>
        </p:nvSpPr>
        <p:spPr>
          <a:xfrm flipH="1">
            <a:off x="2293690" y="3841979"/>
            <a:ext cx="800918" cy="607621"/>
          </a:xfrm>
          <a:custGeom>
            <a:avLst/>
            <a:gdLst>
              <a:gd name="connsiteX0" fmla="*/ 472018 w 1569959"/>
              <a:gd name="connsiteY0" fmla="*/ 0 h 1149634"/>
              <a:gd name="connsiteX1" fmla="*/ 1378350 w 1569959"/>
              <a:gd name="connsiteY1" fmla="*/ 0 h 1149634"/>
              <a:gd name="connsiteX2" fmla="*/ 1569959 w 1569959"/>
              <a:gd name="connsiteY2" fmla="*/ 191609 h 1149634"/>
              <a:gd name="connsiteX3" fmla="*/ 1569959 w 1569959"/>
              <a:gd name="connsiteY3" fmla="*/ 958025 h 1149634"/>
              <a:gd name="connsiteX4" fmla="*/ 1378350 w 1569959"/>
              <a:gd name="connsiteY4" fmla="*/ 1149634 h 1149634"/>
              <a:gd name="connsiteX5" fmla="*/ 472018 w 1569959"/>
              <a:gd name="connsiteY5" fmla="*/ 1149634 h 1149634"/>
              <a:gd name="connsiteX6" fmla="*/ 280409 w 1569959"/>
              <a:gd name="connsiteY6" fmla="*/ 958025 h 1149634"/>
              <a:gd name="connsiteX7" fmla="*/ 280409 w 1569959"/>
              <a:gd name="connsiteY7" fmla="*/ 795367 h 1149634"/>
              <a:gd name="connsiteX8" fmla="*/ 0 w 1569959"/>
              <a:gd name="connsiteY8" fmla="*/ 587517 h 1149634"/>
              <a:gd name="connsiteX9" fmla="*/ 280409 w 1569959"/>
              <a:gd name="connsiteY9" fmla="*/ 379666 h 1149634"/>
              <a:gd name="connsiteX10" fmla="*/ 280409 w 1569959"/>
              <a:gd name="connsiteY10" fmla="*/ 191609 h 1149634"/>
              <a:gd name="connsiteX11" fmla="*/ 472018 w 1569959"/>
              <a:gd name="connsiteY11" fmla="*/ 0 h 114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69959" h="1149634">
                <a:moveTo>
                  <a:pt x="472018" y="0"/>
                </a:moveTo>
                <a:lnTo>
                  <a:pt x="1378350" y="0"/>
                </a:lnTo>
                <a:cubicBezTo>
                  <a:pt x="1484173" y="0"/>
                  <a:pt x="1569959" y="85786"/>
                  <a:pt x="1569959" y="191609"/>
                </a:cubicBezTo>
                <a:lnTo>
                  <a:pt x="1569959" y="958025"/>
                </a:lnTo>
                <a:cubicBezTo>
                  <a:pt x="1569959" y="1063848"/>
                  <a:pt x="1484173" y="1149634"/>
                  <a:pt x="1378350" y="1149634"/>
                </a:cubicBezTo>
                <a:lnTo>
                  <a:pt x="472018" y="1149634"/>
                </a:lnTo>
                <a:cubicBezTo>
                  <a:pt x="366195" y="1149634"/>
                  <a:pt x="280409" y="1063848"/>
                  <a:pt x="280409" y="958025"/>
                </a:cubicBezTo>
                <a:lnTo>
                  <a:pt x="280409" y="795367"/>
                </a:lnTo>
                <a:lnTo>
                  <a:pt x="0" y="587517"/>
                </a:lnTo>
                <a:lnTo>
                  <a:pt x="280409" y="379666"/>
                </a:lnTo>
                <a:lnTo>
                  <a:pt x="280409" y="191609"/>
                </a:lnTo>
                <a:cubicBezTo>
                  <a:pt x="280409" y="85786"/>
                  <a:pt x="366195" y="0"/>
                  <a:pt x="472018" y="0"/>
                </a:cubicBezTo>
                <a:close/>
              </a:path>
            </a:pathLst>
          </a:custGeom>
          <a:solidFill>
            <a:schemeClr val="tx2">
              <a:lumMod val="75000"/>
            </a:schemeClr>
          </a:solidFill>
          <a:ln w="12700" cap="flat" cmpd="sng" algn="ctr">
            <a:noFill/>
            <a:prstDash val="solid"/>
          </a:ln>
          <a:effectLst/>
        </p:spPr>
        <p:txBody>
          <a:bodyPr wrap="square" lIns="0" tIns="49351" rIns="189812" bIns="49351" anchor="ctr">
            <a:noAutofit/>
          </a:bodyPr>
          <a:lstStyle/>
          <a:p>
            <a:pPr algn="ctr">
              <a:defRPr/>
            </a:pPr>
            <a:r>
              <a:rPr lang="en-US" altLang="zh-CN" sz="2955"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02</a:t>
            </a:r>
            <a:endParaRPr lang="zh-CN" altLang="en-US" sz="2955"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0" name="MH_Number_1"/>
          <p:cNvSpPr/>
          <p:nvPr>
            <p:custDataLst>
              <p:tags r:id="rId3"/>
            </p:custDataLst>
          </p:nvPr>
        </p:nvSpPr>
        <p:spPr>
          <a:xfrm flipH="1">
            <a:off x="2293690" y="2675659"/>
            <a:ext cx="800918" cy="607621"/>
          </a:xfrm>
          <a:custGeom>
            <a:avLst/>
            <a:gdLst>
              <a:gd name="connsiteX0" fmla="*/ 472018 w 1569959"/>
              <a:gd name="connsiteY0" fmla="*/ 0 h 1149634"/>
              <a:gd name="connsiteX1" fmla="*/ 1378350 w 1569959"/>
              <a:gd name="connsiteY1" fmla="*/ 0 h 1149634"/>
              <a:gd name="connsiteX2" fmla="*/ 1569959 w 1569959"/>
              <a:gd name="connsiteY2" fmla="*/ 191609 h 1149634"/>
              <a:gd name="connsiteX3" fmla="*/ 1569959 w 1569959"/>
              <a:gd name="connsiteY3" fmla="*/ 958025 h 1149634"/>
              <a:gd name="connsiteX4" fmla="*/ 1378350 w 1569959"/>
              <a:gd name="connsiteY4" fmla="*/ 1149634 h 1149634"/>
              <a:gd name="connsiteX5" fmla="*/ 472018 w 1569959"/>
              <a:gd name="connsiteY5" fmla="*/ 1149634 h 1149634"/>
              <a:gd name="connsiteX6" fmla="*/ 280409 w 1569959"/>
              <a:gd name="connsiteY6" fmla="*/ 958025 h 1149634"/>
              <a:gd name="connsiteX7" fmla="*/ 280409 w 1569959"/>
              <a:gd name="connsiteY7" fmla="*/ 795367 h 1149634"/>
              <a:gd name="connsiteX8" fmla="*/ 0 w 1569959"/>
              <a:gd name="connsiteY8" fmla="*/ 587517 h 1149634"/>
              <a:gd name="connsiteX9" fmla="*/ 280409 w 1569959"/>
              <a:gd name="connsiteY9" fmla="*/ 379666 h 1149634"/>
              <a:gd name="connsiteX10" fmla="*/ 280409 w 1569959"/>
              <a:gd name="connsiteY10" fmla="*/ 191609 h 1149634"/>
              <a:gd name="connsiteX11" fmla="*/ 472018 w 1569959"/>
              <a:gd name="connsiteY11" fmla="*/ 0 h 11496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569959" h="1149634">
                <a:moveTo>
                  <a:pt x="472018" y="0"/>
                </a:moveTo>
                <a:lnTo>
                  <a:pt x="1378350" y="0"/>
                </a:lnTo>
                <a:cubicBezTo>
                  <a:pt x="1484173" y="0"/>
                  <a:pt x="1569959" y="85786"/>
                  <a:pt x="1569959" y="191609"/>
                </a:cubicBezTo>
                <a:lnTo>
                  <a:pt x="1569959" y="958025"/>
                </a:lnTo>
                <a:cubicBezTo>
                  <a:pt x="1569959" y="1063848"/>
                  <a:pt x="1484173" y="1149634"/>
                  <a:pt x="1378350" y="1149634"/>
                </a:cubicBezTo>
                <a:lnTo>
                  <a:pt x="472018" y="1149634"/>
                </a:lnTo>
                <a:cubicBezTo>
                  <a:pt x="366195" y="1149634"/>
                  <a:pt x="280409" y="1063848"/>
                  <a:pt x="280409" y="958025"/>
                </a:cubicBezTo>
                <a:lnTo>
                  <a:pt x="280409" y="795367"/>
                </a:lnTo>
                <a:lnTo>
                  <a:pt x="0" y="587517"/>
                </a:lnTo>
                <a:lnTo>
                  <a:pt x="280409" y="379666"/>
                </a:lnTo>
                <a:lnTo>
                  <a:pt x="280409" y="191609"/>
                </a:lnTo>
                <a:cubicBezTo>
                  <a:pt x="280409" y="85786"/>
                  <a:pt x="366195" y="0"/>
                  <a:pt x="472018" y="0"/>
                </a:cubicBezTo>
                <a:close/>
              </a:path>
            </a:pathLst>
          </a:custGeom>
          <a:solidFill>
            <a:schemeClr val="accent1"/>
          </a:solidFill>
          <a:ln w="12700" cap="flat" cmpd="sng" algn="ctr">
            <a:noFill/>
            <a:prstDash val="solid"/>
          </a:ln>
          <a:effectLst/>
        </p:spPr>
        <p:txBody>
          <a:bodyPr wrap="square" lIns="0" tIns="49351" rIns="189812" bIns="49351" anchor="ctr">
            <a:noAutofit/>
          </a:bodyPr>
          <a:lstStyle/>
          <a:p>
            <a:pPr algn="ctr">
              <a:defRPr/>
            </a:pPr>
            <a:r>
              <a:rPr lang="en-US" altLang="zh-CN" sz="2955"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rPr>
              <a:t>01</a:t>
            </a:r>
            <a:endParaRPr lang="zh-CN" altLang="en-US" sz="2955" kern="0" dirty="0">
              <a:solidFill>
                <a:srgbClr val="FFFFFF"/>
              </a:solidFill>
              <a:latin typeface="Arial" panose="020B0604020202020204" pitchFamily="34" charset="0"/>
              <a:ea typeface="微软雅黑" panose="020B0503020204020204" pitchFamily="34" charset="-122"/>
              <a:cs typeface="Arial" panose="020B0604020202020204" pitchFamily="34" charset="0"/>
              <a:sym typeface="Arial" panose="020B0604020202020204" pitchFamily="34" charset="0"/>
            </a:endParaRPr>
          </a:p>
        </p:txBody>
      </p:sp>
      <p:sp>
        <p:nvSpPr>
          <p:cNvPr id="11" name="MH_Entry_1"/>
          <p:cNvSpPr/>
          <p:nvPr>
            <p:custDataLst>
              <p:tags r:id="rId4"/>
            </p:custDataLst>
          </p:nvPr>
        </p:nvSpPr>
        <p:spPr>
          <a:xfrm flipH="1">
            <a:off x="3452424" y="3841979"/>
            <a:ext cx="3487524" cy="579239"/>
          </a:xfrm>
          <a:prstGeom prst="roundRect">
            <a:avLst>
              <a:gd name="adj" fmla="val 23973"/>
            </a:avLst>
          </a:prstGeom>
          <a:solidFill>
            <a:schemeClr val="tx2">
              <a:lumMod val="75000"/>
            </a:schemeClr>
          </a:solidFill>
          <a:ln w="25400" cap="flat" cmpd="sng" algn="ctr">
            <a:noFill/>
            <a:prstDash val="solid"/>
          </a:ln>
          <a:effectLst/>
        </p:spPr>
        <p:txBody>
          <a:bodyPr wrap="square" lIns="0" tIns="0" rIns="0" bIns="0" anchor="ctr">
            <a:noAutofit/>
          </a:bodyPr>
          <a:lstStyle/>
          <a:p>
            <a:pPr algn="ctr"/>
            <a:r>
              <a:rPr lang="zh-CN" altLang="en-US" sz="2800" dirty="0">
                <a:solidFill>
                  <a:schemeClr val="bg1"/>
                </a:solidFill>
                <a:latin typeface="Arial" panose="020B0604020202020204" pitchFamily="34" charset="0"/>
                <a:ea typeface="微软雅黑" panose="020B0503020204020204" pitchFamily="34" charset="-122"/>
                <a:sym typeface="Arial" panose="020B0604020202020204" pitchFamily="34" charset="0"/>
              </a:rPr>
              <a:t>地图制作</a:t>
            </a:r>
          </a:p>
        </p:txBody>
      </p:sp>
      <p:sp>
        <p:nvSpPr>
          <p:cNvPr id="20" name="直角三角形 19"/>
          <p:cNvSpPr/>
          <p:nvPr/>
        </p:nvSpPr>
        <p:spPr>
          <a:xfrm flipH="1">
            <a:off x="7884543" y="29422"/>
            <a:ext cx="4307456" cy="682857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3" name="图片 12"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6"/>
          <a:stretch>
            <a:fillRect/>
          </a:stretch>
        </p:blipFill>
        <p:spPr>
          <a:xfrm>
            <a:off x="10492950" y="90030"/>
            <a:ext cx="1645497" cy="434176"/>
          </a:xfrm>
          <a:prstGeom prst="rect">
            <a:avLst/>
          </a:prstGeom>
        </p:spPr>
      </p:pic>
    </p:spTree>
    <p:extLst>
      <p:ext uri="{BB962C8B-B14F-4D97-AF65-F5344CB8AC3E}">
        <p14:creationId xmlns:p14="http://schemas.microsoft.com/office/powerpoint/2010/main" val="1883008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直角三角形 19"/>
          <p:cNvSpPr/>
          <p:nvPr/>
        </p:nvSpPr>
        <p:spPr>
          <a:xfrm flipH="1">
            <a:off x="7953554" y="29422"/>
            <a:ext cx="4238444" cy="682857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8687" y="1018574"/>
            <a:ext cx="8705088" cy="4395216"/>
          </a:xfrm>
          <a:prstGeom prst="rect">
            <a:avLst/>
          </a:prstGeom>
        </p:spPr>
      </p:pic>
      <p:sp>
        <p:nvSpPr>
          <p:cNvPr id="4" name="文本框 13"/>
          <p:cNvSpPr txBox="1">
            <a:spLocks noChangeArrowheads="1"/>
          </p:cNvSpPr>
          <p:nvPr>
            <p:custDataLst>
              <p:tags r:id="rId1"/>
            </p:custDataLst>
          </p:nvPr>
        </p:nvSpPr>
        <p:spPr bwMode="auto">
          <a:xfrm>
            <a:off x="3125728" y="2797681"/>
            <a:ext cx="646011"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215" b="1" dirty="0">
                <a:solidFill>
                  <a:schemeClr val="bg1"/>
                </a:solidFill>
                <a:latin typeface="Arial" panose="020B0604020202020204" pitchFamily="34" charset="0"/>
                <a:ea typeface="微软雅黑" panose="020B0503020204020204" pitchFamily="34" charset="-122"/>
                <a:sym typeface="Arial" panose="020B0604020202020204" pitchFamily="34" charset="0"/>
              </a:rPr>
              <a:t>章 节</a:t>
            </a:r>
          </a:p>
        </p:txBody>
      </p:sp>
      <p:sp>
        <p:nvSpPr>
          <p:cNvPr id="5" name="文本框 11"/>
          <p:cNvSpPr txBox="1"/>
          <p:nvPr>
            <p:custDataLst>
              <p:tags r:id="rId2"/>
            </p:custDataLst>
          </p:nvPr>
        </p:nvSpPr>
        <p:spPr>
          <a:xfrm>
            <a:off x="3023138" y="3081759"/>
            <a:ext cx="979435" cy="648960"/>
          </a:xfrm>
          <a:prstGeom prst="rect">
            <a:avLst/>
          </a:prstGeom>
          <a:noFill/>
        </p:spPr>
        <p:txBody>
          <a:bodyPr wrap="none" lIns="0" tIns="0" rIns="0" bIns="0">
            <a:spAutoFit/>
          </a:bodyPr>
          <a:lstStyle/>
          <a:p>
            <a:pPr>
              <a:defRPr/>
            </a:pPr>
            <a:r>
              <a:rPr lang="en-US" altLang="zh-CN" sz="3375" b="1" dirty="0">
                <a:solidFill>
                  <a:schemeClr val="bg1"/>
                </a:solidFill>
                <a:latin typeface="Arial" panose="020B0604020202020204" pitchFamily="34" charset="0"/>
                <a:ea typeface="微软雅黑" panose="020B0503020204020204" pitchFamily="34" charset="-122"/>
                <a:sym typeface="Arial" panose="020B0604020202020204" pitchFamily="34" charset="0"/>
              </a:rPr>
              <a:t>P</a:t>
            </a:r>
            <a:r>
              <a:rPr lang="en-US" altLang="zh-CN" sz="4215" b="1" dirty="0">
                <a:solidFill>
                  <a:schemeClr val="bg1"/>
                </a:solidFill>
                <a:latin typeface="Arial" panose="020B0604020202020204" pitchFamily="34" charset="0"/>
                <a:ea typeface="微软雅黑" panose="020B0503020204020204" pitchFamily="34" charset="-122"/>
                <a:sym typeface="Arial" panose="020B0604020202020204" pitchFamily="34" charset="0"/>
              </a:rPr>
              <a:t>art</a:t>
            </a:r>
            <a:endParaRPr lang="zh-CN" altLang="en-US" sz="12125"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14"/>
          <p:cNvSpPr txBox="1">
            <a:spLocks noChangeArrowheads="1"/>
          </p:cNvSpPr>
          <p:nvPr>
            <p:custDataLst>
              <p:tags r:id="rId3"/>
            </p:custDataLst>
          </p:nvPr>
        </p:nvSpPr>
        <p:spPr bwMode="auto">
          <a:xfrm>
            <a:off x="4010318" y="2530399"/>
            <a:ext cx="1442703" cy="1557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0" dirty="0">
                <a:solidFill>
                  <a:schemeClr val="bg1"/>
                </a:solidFill>
                <a:latin typeface="Arial" panose="020B0604020202020204" pitchFamily="34" charset="0"/>
                <a:ea typeface="微软雅黑" panose="020B0503020204020204" pitchFamily="34" charset="-122"/>
                <a:sym typeface="Arial" panose="020B0604020202020204" pitchFamily="34" charset="0"/>
              </a:rPr>
              <a:t>01</a:t>
            </a:r>
            <a:endParaRPr lang="zh-CN" altLang="en-US" sz="1012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p:custDataLst>
              <p:tags r:id="rId4"/>
            </p:custDataLst>
          </p:nvPr>
        </p:nvSpPr>
        <p:spPr>
          <a:xfrm>
            <a:off x="5598542" y="2832187"/>
            <a:ext cx="6593457" cy="930737"/>
          </a:xfrm>
          <a:prstGeom prst="rect">
            <a:avLst/>
          </a:prstGeom>
          <a:solidFill>
            <a:schemeClr val="tx1">
              <a:alpha val="45000"/>
            </a:schemeClr>
          </a:solidFill>
          <a:ln w="12700" cap="flat" cmpd="sng" algn="ctr">
            <a:noFill/>
            <a:prstDash val="solid"/>
            <a:miter lim="800000"/>
          </a:ln>
          <a:effectLst/>
        </p:spPr>
        <p:txBody>
          <a:bodyPr lIns="341663" rIns="949063" anchor="ctr"/>
          <a:lstStyle/>
          <a:p>
            <a:pPr>
              <a:lnSpc>
                <a:spcPct val="130000"/>
              </a:lnSpc>
              <a:defRPr/>
            </a:pPr>
            <a:r>
              <a:rPr lang="zh-CN" altLang="en-US" sz="3600" b="1" kern="0" dirty="0">
                <a:solidFill>
                  <a:schemeClr val="bg1"/>
                </a:solidFill>
                <a:latin typeface="Arial" panose="020B0604020202020204" pitchFamily="34" charset="0"/>
                <a:ea typeface="微软雅黑" panose="020B0503020204020204" pitchFamily="34" charset="-122"/>
                <a:sym typeface="Arial" panose="020B0604020202020204" pitchFamily="34" charset="0"/>
              </a:rPr>
              <a:t>定位原理</a:t>
            </a:r>
          </a:p>
        </p:txBody>
      </p:sp>
      <p:pic>
        <p:nvPicPr>
          <p:cNvPr id="10" name="图片 9"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7"/>
          <a:stretch>
            <a:fillRect/>
          </a:stretch>
        </p:blipFill>
        <p:spPr>
          <a:xfrm>
            <a:off x="10492950" y="90030"/>
            <a:ext cx="1645497" cy="434176"/>
          </a:xfrm>
          <a:prstGeom prst="rect">
            <a:avLst/>
          </a:prstGeom>
        </p:spPr>
      </p:pic>
    </p:spTree>
    <p:extLst>
      <p:ext uri="{BB962C8B-B14F-4D97-AF65-F5344CB8AC3E}">
        <p14:creationId xmlns:p14="http://schemas.microsoft.com/office/powerpoint/2010/main" val="47740582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斜纹 3"/>
          <p:cNvSpPr/>
          <p:nvPr/>
        </p:nvSpPr>
        <p:spPr>
          <a:xfrm rot="16200000" flipV="1">
            <a:off x="8412480" y="3078484"/>
            <a:ext cx="3779516" cy="3779516"/>
          </a:xfrm>
          <a:prstGeom prst="diagStripe">
            <a:avLst>
              <a:gd name="adj" fmla="val 6826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定位原理</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Positioning principle</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文本框 43">
            <a:extLst>
              <a:ext uri="{FF2B5EF4-FFF2-40B4-BE49-F238E27FC236}">
                <a16:creationId xmlns:a16="http://schemas.microsoft.com/office/drawing/2014/main" id="{C6958270-78F0-BB49-8458-C2B20BFE15FF}"/>
              </a:ext>
            </a:extLst>
          </p:cNvPr>
          <p:cNvSpPr txBox="1"/>
          <p:nvPr/>
        </p:nvSpPr>
        <p:spPr>
          <a:xfrm>
            <a:off x="5053578" y="1141025"/>
            <a:ext cx="1723549" cy="461665"/>
          </a:xfrm>
          <a:prstGeom prst="rect">
            <a:avLst/>
          </a:prstGeom>
          <a:noFill/>
        </p:spPr>
        <p:txBody>
          <a:bodyPr wrap="none" rtlCol="0">
            <a:spAutoFit/>
          </a:bodyPr>
          <a:lstStyle/>
          <a:p>
            <a:r>
              <a:rPr kumimoji="1" lang="zh-CN" altLang="en-US" sz="2400" b="1" spc="600" dirty="0">
                <a:solidFill>
                  <a:srgbClr val="2F5597"/>
                </a:solidFill>
                <a:latin typeface="Microsoft YaHei" panose="020B0503020204020204" pitchFamily="34" charset="-122"/>
                <a:ea typeface="Microsoft YaHei" panose="020B0503020204020204" pitchFamily="34" charset="-122"/>
              </a:rPr>
              <a:t>系统构架</a:t>
            </a:r>
          </a:p>
        </p:txBody>
      </p:sp>
      <p:pic>
        <p:nvPicPr>
          <p:cNvPr id="62" name="图片 61"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grpSp>
        <p:nvGrpSpPr>
          <p:cNvPr id="63" name="组合 62"/>
          <p:cNvGrpSpPr/>
          <p:nvPr/>
        </p:nvGrpSpPr>
        <p:grpSpPr>
          <a:xfrm>
            <a:off x="1482328" y="2355078"/>
            <a:ext cx="4267201" cy="2510156"/>
            <a:chOff x="0" y="0"/>
            <a:chExt cx="4267259" cy="2510720"/>
          </a:xfrm>
        </p:grpSpPr>
        <p:sp>
          <p:nvSpPr>
            <p:cNvPr id="64" name="圆角矩形 63"/>
            <p:cNvSpPr/>
            <p:nvPr/>
          </p:nvSpPr>
          <p:spPr>
            <a:xfrm>
              <a:off x="1442955" y="0"/>
              <a:ext cx="920622" cy="552457"/>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en-US" sz="1050" kern="100">
                  <a:effectLst/>
                  <a:latin typeface="Helvetica" panose="020B0604020202020204" pitchFamily="34" charset="0"/>
                  <a:ea typeface="微软雅黑" panose="020B0503020204020204" pitchFamily="34" charset="-122"/>
                  <a:cs typeface="Times New Roman" panose="02020603050405020304" pitchFamily="18" charset="0"/>
                </a:rPr>
                <a:t>Lora</a:t>
              </a:r>
              <a:r>
                <a:rPr lang="zh-CN" sz="1050" kern="100">
                  <a:effectLst/>
                  <a:latin typeface="Helvetica" panose="020B0604020202020204" pitchFamily="34" charset="0"/>
                  <a:ea typeface="微软雅黑" panose="020B0503020204020204" pitchFamily="34" charset="-122"/>
                  <a:cs typeface="Times New Roman" panose="02020603050405020304" pitchFamily="18" charset="0"/>
                </a:rPr>
                <a:t>模组</a:t>
              </a:r>
            </a:p>
          </p:txBody>
        </p:sp>
        <p:sp>
          <p:nvSpPr>
            <p:cNvPr id="65" name="圆角矩形 64"/>
            <p:cNvSpPr/>
            <p:nvPr/>
          </p:nvSpPr>
          <p:spPr>
            <a:xfrm>
              <a:off x="1427099" y="887973"/>
              <a:ext cx="914164" cy="608533"/>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CN" sz="1050" kern="100">
                  <a:effectLst/>
                  <a:latin typeface="Helvetica" panose="020B0604020202020204" pitchFamily="34" charset="0"/>
                  <a:ea typeface="微软雅黑" panose="020B0503020204020204" pitchFamily="34" charset="-122"/>
                  <a:cs typeface="Times New Roman" panose="02020603050405020304" pitchFamily="18" charset="0"/>
                </a:rPr>
                <a:t>蓝牙主控</a:t>
              </a:r>
            </a:p>
          </p:txBody>
        </p:sp>
        <p:sp>
          <p:nvSpPr>
            <p:cNvPr id="66" name="圆角矩形 65"/>
            <p:cNvSpPr/>
            <p:nvPr/>
          </p:nvSpPr>
          <p:spPr>
            <a:xfrm>
              <a:off x="1411242" y="1902798"/>
              <a:ext cx="929862" cy="607922"/>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CN" sz="1050" u="sng" kern="100">
                  <a:solidFill>
                    <a:srgbClr val="008080"/>
                  </a:solidFill>
                  <a:effectLst/>
                  <a:latin typeface="Helvetica" panose="020B0604020202020204" pitchFamily="34" charset="0"/>
                  <a:ea typeface="微软雅黑" panose="020B0503020204020204" pitchFamily="34" charset="-122"/>
                  <a:cs typeface="Times New Roman" panose="02020603050405020304" pitchFamily="18" charset="0"/>
                </a:rPr>
                <a:t>北斗</a:t>
              </a:r>
              <a:r>
                <a:rPr lang="en-US" sz="1050" u="sng" kern="100">
                  <a:solidFill>
                    <a:srgbClr val="008080"/>
                  </a:solidFill>
                  <a:effectLst/>
                  <a:latin typeface="Helvetica" panose="020B0604020202020204" pitchFamily="34" charset="0"/>
                  <a:ea typeface="微软雅黑" panose="020B0503020204020204" pitchFamily="34" charset="-122"/>
                  <a:cs typeface="Times New Roman" panose="02020603050405020304" pitchFamily="18" charset="0"/>
                </a:rPr>
                <a:t>/</a:t>
              </a:r>
              <a:r>
                <a:rPr lang="en-US" sz="1050" kern="100">
                  <a:effectLst/>
                  <a:latin typeface="Helvetica" panose="020B0604020202020204" pitchFamily="34" charset="0"/>
                  <a:ea typeface="微软雅黑" panose="020B0503020204020204" pitchFamily="34" charset="-122"/>
                  <a:cs typeface="Times New Roman" panose="02020603050405020304" pitchFamily="18" charset="0"/>
                </a:rPr>
                <a:t>GPS</a:t>
              </a:r>
              <a:r>
                <a:rPr lang="zh-CN" sz="1050" kern="100">
                  <a:effectLst/>
                  <a:latin typeface="Helvetica" panose="020B0604020202020204" pitchFamily="34" charset="0"/>
                  <a:ea typeface="微软雅黑" panose="020B0503020204020204" pitchFamily="34" charset="-122"/>
                  <a:cs typeface="Times New Roman" panose="02020603050405020304" pitchFamily="18" charset="0"/>
                </a:rPr>
                <a:t>模组</a:t>
              </a:r>
            </a:p>
          </p:txBody>
        </p:sp>
        <p:sp>
          <p:nvSpPr>
            <p:cNvPr id="67" name="圆角矩形 66"/>
            <p:cNvSpPr/>
            <p:nvPr/>
          </p:nvSpPr>
          <p:spPr>
            <a:xfrm>
              <a:off x="2875339" y="903829"/>
              <a:ext cx="1391920" cy="607695"/>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just">
                <a:spcAft>
                  <a:spcPts val="0"/>
                </a:spcAft>
              </a:pPr>
              <a:r>
                <a:rPr lang="en-US" sz="1050" kern="100">
                  <a:effectLst/>
                  <a:latin typeface="Helvetica" panose="020B0604020202020204" pitchFamily="34" charset="0"/>
                  <a:ea typeface="微软雅黑" panose="020B0503020204020204" pitchFamily="34" charset="-122"/>
                  <a:cs typeface="Times New Roman" panose="02020603050405020304" pitchFamily="18" charset="0"/>
                </a:rPr>
                <a:t>LED</a:t>
              </a:r>
              <a:r>
                <a:rPr lang="zh-CN" sz="1050" kern="100">
                  <a:effectLst/>
                  <a:latin typeface="Helvetica" panose="020B0604020202020204" pitchFamily="34" charset="0"/>
                  <a:ea typeface="微软雅黑" panose="020B0503020204020204" pitchFamily="34" charset="-122"/>
                  <a:cs typeface="Times New Roman" panose="02020603050405020304" pitchFamily="18" charset="0"/>
                </a:rPr>
                <a:t>灯，按键外设</a:t>
              </a:r>
            </a:p>
          </p:txBody>
        </p:sp>
        <p:sp>
          <p:nvSpPr>
            <p:cNvPr id="68" name="圆角矩形 67"/>
            <p:cNvSpPr/>
            <p:nvPr/>
          </p:nvSpPr>
          <p:spPr>
            <a:xfrm>
              <a:off x="0" y="893258"/>
              <a:ext cx="914164" cy="608533"/>
            </a:xfrm>
            <a:prstGeom prst="roundRect">
              <a:avLst/>
            </a:prstGeom>
          </p:spPr>
          <p:style>
            <a:lnRef idx="2">
              <a:schemeClr val="dk1"/>
            </a:lnRef>
            <a:fillRef idx="1">
              <a:schemeClr val="lt1"/>
            </a:fillRef>
            <a:effectRef idx="0">
              <a:schemeClr val="dk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spcAft>
                  <a:spcPts val="0"/>
                </a:spcAft>
              </a:pPr>
              <a:r>
                <a:rPr lang="zh-CN" sz="1050" kern="100">
                  <a:effectLst/>
                  <a:latin typeface="Helvetica" panose="020B0604020202020204" pitchFamily="34" charset="0"/>
                  <a:ea typeface="微软雅黑" panose="020B0503020204020204" pitchFamily="34" charset="-122"/>
                  <a:cs typeface="Times New Roman" panose="02020603050405020304" pitchFamily="18" charset="0"/>
                </a:rPr>
                <a:t>运动监测</a:t>
              </a:r>
            </a:p>
          </p:txBody>
        </p:sp>
        <p:cxnSp>
          <p:nvCxnSpPr>
            <p:cNvPr id="69" name="直接箭头连接符 68"/>
            <p:cNvCxnSpPr/>
            <p:nvPr/>
          </p:nvCxnSpPr>
          <p:spPr>
            <a:xfrm flipV="1">
              <a:off x="926073" y="1191451"/>
              <a:ext cx="499026" cy="288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0" name="直接箭头连接符 69"/>
            <p:cNvCxnSpPr/>
            <p:nvPr/>
          </p:nvCxnSpPr>
          <p:spPr>
            <a:xfrm>
              <a:off x="1931428" y="566655"/>
              <a:ext cx="0" cy="325954"/>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1" name="直接箭头连接符 70"/>
            <p:cNvCxnSpPr/>
            <p:nvPr/>
          </p:nvCxnSpPr>
          <p:spPr>
            <a:xfrm>
              <a:off x="1936714" y="1502197"/>
              <a:ext cx="5769" cy="407029"/>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72" name="直接箭头连接符 71"/>
            <p:cNvCxnSpPr/>
            <p:nvPr/>
          </p:nvCxnSpPr>
          <p:spPr>
            <a:xfrm flipV="1">
              <a:off x="2353171" y="1180880"/>
              <a:ext cx="499026" cy="2885"/>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grpSp>
      <p:sp>
        <p:nvSpPr>
          <p:cNvPr id="3" name="文本框 2"/>
          <p:cNvSpPr txBox="1"/>
          <p:nvPr/>
        </p:nvSpPr>
        <p:spPr>
          <a:xfrm>
            <a:off x="6485418" y="3078483"/>
            <a:ext cx="3918691" cy="1338828"/>
          </a:xfrm>
          <a:prstGeom prst="rect">
            <a:avLst/>
          </a:prstGeom>
          <a:noFill/>
        </p:spPr>
        <p:txBody>
          <a:bodyPr wrap="square" rtlCol="0">
            <a:spAutoFit/>
          </a:bodyPr>
          <a:lstStyle/>
          <a:p>
            <a:pPr>
              <a:lnSpc>
                <a:spcPct val="150000"/>
              </a:lnSpc>
            </a:pPr>
            <a:r>
              <a:rPr lang="zh-CN" altLang="zh-CN" sz="1400" dirty="0"/>
              <a:t>本系统以蓝牙芯片为主控，包含</a:t>
            </a:r>
            <a:r>
              <a:rPr lang="en-US" altLang="zh-CN" sz="1400" dirty="0"/>
              <a:t>Lora</a:t>
            </a:r>
            <a:r>
              <a:rPr lang="zh-CN" altLang="zh-CN" sz="1400" dirty="0"/>
              <a:t>模块与天线，</a:t>
            </a:r>
            <a:r>
              <a:rPr lang="en-US" altLang="zh-CN" sz="1400" dirty="0"/>
              <a:t>GPS/</a:t>
            </a:r>
            <a:r>
              <a:rPr lang="zh-CN" altLang="zh-CN" sz="1400" dirty="0"/>
              <a:t>北斗模块与天线，</a:t>
            </a:r>
            <a:r>
              <a:rPr lang="en-US" altLang="zh-CN" sz="1400" dirty="0"/>
              <a:t>USB-C</a:t>
            </a:r>
            <a:r>
              <a:rPr lang="zh-CN" altLang="zh-CN" sz="1400" dirty="0"/>
              <a:t>充电模块，运动传感器，</a:t>
            </a:r>
            <a:r>
              <a:rPr lang="en-US" altLang="zh-CN" sz="1400" dirty="0"/>
              <a:t>3000mah</a:t>
            </a:r>
            <a:r>
              <a:rPr lang="zh-CN" altLang="zh-CN" sz="1400" dirty="0"/>
              <a:t>电池，</a:t>
            </a:r>
            <a:r>
              <a:rPr lang="en-US" altLang="zh-CN" sz="1400" dirty="0"/>
              <a:t>led</a:t>
            </a:r>
            <a:r>
              <a:rPr lang="zh-CN" altLang="zh-CN" sz="1400" dirty="0"/>
              <a:t>灯，外壳。</a:t>
            </a:r>
          </a:p>
          <a:p>
            <a:endParaRPr lang="zh-CN"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定位原理</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Positioning principle</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Rectangle 8"/>
          <p:cNvSpPr>
            <a:spLocks noChangeArrowheads="1"/>
          </p:cNvSpPr>
          <p:nvPr/>
        </p:nvSpPr>
        <p:spPr bwMode="auto">
          <a:xfrm>
            <a:off x="1569507" y="289138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9750" algn="l" defTabSz="914400" rtl="0" eaLnBrk="0" fontAlgn="base" latinLnBrk="0" hangingPunct="0">
              <a:lnSpc>
                <a:spcPct val="100000"/>
              </a:lnSpc>
              <a:spcBef>
                <a:spcPct val="0"/>
              </a:spcBef>
              <a:spcAft>
                <a:spcPct val="0"/>
              </a:spcAft>
              <a:buClrTx/>
              <a:buSzTx/>
              <a:buFontTx/>
              <a:buNone/>
              <a:tabLst/>
            </a:pPr>
            <a:r>
              <a:rPr kumimoji="0" lang="zh-CN" altLang="zh-CN" sz="11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5" name="Rectangle 9"/>
          <p:cNvSpPr>
            <a:spLocks noChangeArrowheads="1"/>
          </p:cNvSpPr>
          <p:nvPr/>
        </p:nvSpPr>
        <p:spPr bwMode="auto">
          <a:xfrm>
            <a:off x="1569507" y="32914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9750" algn="l" defTabSz="914400" rtl="0" eaLnBrk="0" fontAlgn="base" latinLnBrk="0" hangingPunct="0">
              <a:lnSpc>
                <a:spcPct val="100000"/>
              </a:lnSpc>
              <a:spcBef>
                <a:spcPct val="0"/>
              </a:spcBef>
              <a:spcAft>
                <a:spcPct val="0"/>
              </a:spcAft>
              <a:buClrTx/>
              <a:buSzTx/>
              <a:buFontTx/>
              <a:buNone/>
              <a:tabLst/>
            </a:pPr>
            <a:r>
              <a:rPr kumimoji="0" lang="en-US" altLang="zh-CN" sz="11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r>
              <a:rPr kumimoji="0" lang="en-US" altLang="zh-CN" sz="12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en-US" altLang="zh-CN" sz="1800" b="0" i="0" u="none" strike="noStrike" cap="none" normalizeH="0" baseline="0">
              <a:ln>
                <a:noFill/>
              </a:ln>
              <a:solidFill>
                <a:schemeClr val="tx1"/>
              </a:solidFill>
              <a:effectLst/>
              <a:latin typeface="Arial" panose="020B0604020202020204" pitchFamily="34" charset="0"/>
            </a:endParaRPr>
          </a:p>
        </p:txBody>
      </p:sp>
      <p:sp>
        <p:nvSpPr>
          <p:cNvPr id="6" name="Rectangle 10"/>
          <p:cNvSpPr>
            <a:spLocks noChangeArrowheads="1"/>
          </p:cNvSpPr>
          <p:nvPr/>
        </p:nvSpPr>
        <p:spPr bwMode="auto">
          <a:xfrm>
            <a:off x="1569507" y="39391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975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sp>
        <p:nvSpPr>
          <p:cNvPr id="27" name="Rectangle 11"/>
          <p:cNvSpPr>
            <a:spLocks noChangeArrowheads="1"/>
          </p:cNvSpPr>
          <p:nvPr/>
        </p:nvSpPr>
        <p:spPr bwMode="auto">
          <a:xfrm>
            <a:off x="1569507" y="432013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539750" algn="l" defTabSz="914400" rtl="0" eaLnBrk="0" fontAlgn="base" latinLnBrk="0" hangingPunct="0">
              <a:lnSpc>
                <a:spcPct val="100000"/>
              </a:lnSpc>
              <a:spcBef>
                <a:spcPct val="0"/>
              </a:spcBef>
              <a:spcAft>
                <a:spcPct val="0"/>
              </a:spcAft>
              <a:buClrTx/>
              <a:buSzTx/>
              <a:buFontTx/>
              <a:buNone/>
              <a:tabLst/>
            </a:pPr>
            <a:r>
              <a:rPr kumimoji="0" lang="zh-CN" altLang="zh-CN" sz="1200" b="0" i="0" u="none" strike="noStrike" cap="none" normalizeH="0" baseline="0">
                <a:ln>
                  <a:noFill/>
                </a:ln>
                <a:solidFill>
                  <a:schemeClr val="tx1"/>
                </a:solidFill>
                <a:effectLst/>
                <a:latin typeface="Arial" panose="020B0604020202020204" pitchFamily="34" charset="0"/>
                <a:cs typeface="宋体" panose="02010600030101010101" pitchFamily="2" charset="-122"/>
              </a:rPr>
              <a:t>  </a:t>
            </a:r>
            <a:endParaRPr kumimoji="0" lang="zh-CN" altLang="zh-CN" sz="1800" b="0" i="0" u="none" strike="noStrike" cap="none" normalizeH="0" baseline="0">
              <a:ln>
                <a:noFill/>
              </a:ln>
              <a:solidFill>
                <a:schemeClr val="tx1"/>
              </a:solidFill>
              <a:effectLst/>
              <a:latin typeface="Arial" panose="020B0604020202020204" pitchFamily="34" charset="0"/>
            </a:endParaRPr>
          </a:p>
        </p:txBody>
      </p:sp>
      <p:pic>
        <p:nvPicPr>
          <p:cNvPr id="36" name="图片 35"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sp>
        <p:nvSpPr>
          <p:cNvPr id="3" name="矩形 2"/>
          <p:cNvSpPr/>
          <p:nvPr/>
        </p:nvSpPr>
        <p:spPr>
          <a:xfrm>
            <a:off x="952019" y="1556404"/>
            <a:ext cx="4569124" cy="2677271"/>
          </a:xfrm>
          <a:prstGeom prst="rect">
            <a:avLst/>
          </a:prstGeom>
        </p:spPr>
        <p:txBody>
          <a:bodyPr wrap="square">
            <a:spAutoFit/>
          </a:bodyPr>
          <a:lstStyle/>
          <a:p>
            <a:pPr lvl="0">
              <a:lnSpc>
                <a:spcPct val="173000"/>
              </a:lnSpc>
              <a:spcBef>
                <a:spcPts val="1300"/>
              </a:spcBef>
              <a:spcAft>
                <a:spcPts val="1300"/>
              </a:spcAft>
              <a:buSzPts val="1400"/>
            </a:pPr>
            <a:r>
              <a:rPr lang="zh-CN" altLang="zh-CN" b="1" dirty="0">
                <a:latin typeface="微软雅黑" panose="020B0503020204020204" pitchFamily="34" charset="-122"/>
                <a:ea typeface="微软雅黑" panose="020B0503020204020204" pitchFamily="34" charset="-122"/>
                <a:cs typeface="Times New Roman (标题 CS)"/>
              </a:rPr>
              <a:t>蓝牙芯片选型</a:t>
            </a:r>
          </a:p>
          <a:p>
            <a:pPr lvl="0" algn="just">
              <a:spcAft>
                <a:spcPts val="0"/>
              </a:spcAft>
            </a:pPr>
            <a:r>
              <a:rPr lang="en-US" altLang="zh-CN" sz="1400" kern="100" dirty="0">
                <a:latin typeface="微软雅黑" panose="020B0503020204020204" pitchFamily="34" charset="-122"/>
                <a:ea typeface="微软雅黑" panose="020B0503020204020204" pitchFamily="34" charset="-122"/>
                <a:cs typeface="Times New Roman" panose="02020603050405020304" pitchFamily="18" charset="0"/>
              </a:rPr>
              <a:t>1. Nordic</a:t>
            </a:r>
            <a:endParaRPr lang="zh-CN" altLang="zh-CN" sz="1400" kern="100" dirty="0">
              <a:latin typeface="Helvetica" panose="020B0604020202020204" pitchFamily="34" charset="0"/>
              <a:ea typeface="微软雅黑" panose="020B0503020204020204" pitchFamily="34" charset="-122"/>
              <a:cs typeface="Times New Roman" panose="02020603050405020304" pitchFamily="18" charset="0"/>
            </a:endParaRPr>
          </a:p>
          <a:p>
            <a:pPr marL="342900" lvl="0" indent="-342900" algn="just">
              <a:spcAft>
                <a:spcPts val="0"/>
              </a:spcAft>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优点：国际一线大厂，生态完善，性能稳定强大。</a:t>
            </a:r>
          </a:p>
          <a:p>
            <a:pPr marL="342900" lvl="0" indent="-342900" algn="just">
              <a:spcAft>
                <a:spcPts val="0"/>
              </a:spcAft>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缺点：近期供货难度增大，价格相较以前翻了</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3</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倍。</a:t>
            </a:r>
          </a:p>
          <a:p>
            <a:pPr lvl="0"/>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2. </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泰凌微电子</a:t>
            </a:r>
          </a:p>
          <a:p>
            <a:pPr marL="342900" lvl="0" indent="-34290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优点：国产芯片，价格实惠，供货稳定，功能强大</a:t>
            </a:r>
          </a:p>
          <a:p>
            <a:pPr marL="342900" lvl="0" indent="-34290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选择泰凌微电子系列芯片与开发套件</a:t>
            </a:r>
          </a:p>
          <a:p>
            <a:pPr marL="342900" lvl="0" indent="-34290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支持标准：</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BLE 5.0, multi-antenna </a:t>
            </a:r>
            <a:r>
              <a:rPr lang="en-US" altLang="zh-CN" sz="1400" kern="100" dirty="0" err="1">
                <a:latin typeface="Helvetica" panose="020B0604020202020204" pitchFamily="34" charset="0"/>
                <a:ea typeface="微软雅黑" panose="020B0503020204020204" pitchFamily="34" charset="-122"/>
                <a:cs typeface="Times New Roman" panose="02020603050405020304" pitchFamily="18" charset="0"/>
              </a:rPr>
              <a:t>AoA</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a:t>
            </a:r>
            <a:r>
              <a:rPr lang="en-US" altLang="zh-CN" sz="1400" kern="100" dirty="0" err="1">
                <a:latin typeface="Helvetica" panose="020B0604020202020204" pitchFamily="34" charset="0"/>
                <a:ea typeface="微软雅黑" panose="020B0503020204020204" pitchFamily="34" charset="-122"/>
                <a:cs typeface="Times New Roman" panose="02020603050405020304" pitchFamily="18" charset="0"/>
              </a:rPr>
              <a:t>AoD</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 BLE Mesh, 802.15.4, </a:t>
            </a:r>
            <a:r>
              <a:rPr lang="en-US" altLang="zh-CN" sz="1400" kern="100" dirty="0" err="1">
                <a:latin typeface="Helvetica" panose="020B0604020202020204" pitchFamily="34" charset="0"/>
                <a:ea typeface="微软雅黑" panose="020B0503020204020204" pitchFamily="34" charset="-122"/>
                <a:cs typeface="Times New Roman" panose="02020603050405020304" pitchFamily="18" charset="0"/>
              </a:rPr>
              <a:t>Zigbee</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 3.0, RF4CE, </a:t>
            </a:r>
            <a:r>
              <a:rPr lang="en-US" altLang="zh-CN" sz="1400" kern="100" dirty="0" err="1">
                <a:latin typeface="Helvetica" panose="020B0604020202020204" pitchFamily="34" charset="0"/>
                <a:ea typeface="微软雅黑" panose="020B0503020204020204" pitchFamily="34" charset="-122"/>
                <a:cs typeface="Times New Roman" panose="02020603050405020304" pitchFamily="18" charset="0"/>
              </a:rPr>
              <a:t>HomeKit</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 Dual-Mode, 2.4G Proprietary</a:t>
            </a:r>
            <a:endParaRPr lang="zh-CN" altLang="zh-CN" sz="1400" kern="100" dirty="0">
              <a:latin typeface="Helvetica" panose="020B0604020202020204" pitchFamily="34" charset="0"/>
              <a:ea typeface="微软雅黑" panose="020B0503020204020204" pitchFamily="34" charset="-122"/>
              <a:cs typeface="Times New Roman" panose="02020603050405020304" pitchFamily="18" charset="0"/>
            </a:endParaRPr>
          </a:p>
        </p:txBody>
      </p:sp>
      <p:sp>
        <p:nvSpPr>
          <p:cNvPr id="7" name="矩形 6"/>
          <p:cNvSpPr/>
          <p:nvPr/>
        </p:nvSpPr>
        <p:spPr>
          <a:xfrm>
            <a:off x="952019" y="4614674"/>
            <a:ext cx="3508076" cy="1600053"/>
          </a:xfrm>
          <a:prstGeom prst="rect">
            <a:avLst/>
          </a:prstGeom>
        </p:spPr>
        <p:txBody>
          <a:bodyPr wrap="square">
            <a:spAutoFit/>
          </a:bodyPr>
          <a:lstStyle/>
          <a:p>
            <a:pPr lvl="0">
              <a:lnSpc>
                <a:spcPct val="173000"/>
              </a:lnSpc>
              <a:spcBef>
                <a:spcPts val="1300"/>
              </a:spcBef>
              <a:spcAft>
                <a:spcPts val="1300"/>
              </a:spcAft>
              <a:buSzPts val="1400"/>
            </a:pPr>
            <a:r>
              <a:rPr lang="en-US" altLang="zh-CN" b="1" dirty="0">
                <a:latin typeface="微软雅黑" panose="020B0503020204020204" pitchFamily="34" charset="-122"/>
                <a:ea typeface="微软雅黑" panose="020B0503020204020204" pitchFamily="34" charset="-122"/>
                <a:cs typeface="Times New Roman (标题 CS)"/>
              </a:rPr>
              <a:t>LORA</a:t>
            </a:r>
            <a:r>
              <a:rPr lang="zh-CN" altLang="zh-CN" b="1" dirty="0">
                <a:latin typeface="微软雅黑" panose="020B0503020204020204" pitchFamily="34" charset="-122"/>
                <a:ea typeface="微软雅黑" panose="020B0503020204020204" pitchFamily="34" charset="-122"/>
                <a:cs typeface="Times New Roman (标题 CS)"/>
              </a:rPr>
              <a:t>芯片选型（</a:t>
            </a:r>
            <a:r>
              <a:rPr lang="en-US" altLang="zh-CN" b="1" dirty="0">
                <a:latin typeface="微软雅黑" panose="020B0503020204020204" pitchFamily="34" charset="-122"/>
                <a:ea typeface="微软雅黑" panose="020B0503020204020204" pitchFamily="34" charset="-122"/>
                <a:cs typeface="Times New Roman (标题 CS)"/>
              </a:rPr>
              <a:t>SX1268</a:t>
            </a:r>
            <a:r>
              <a:rPr lang="zh-CN" altLang="zh-CN" b="1" dirty="0">
                <a:latin typeface="微软雅黑" panose="020B0503020204020204" pitchFamily="34" charset="-122"/>
                <a:ea typeface="微软雅黑" panose="020B0503020204020204" pitchFamily="34" charset="-122"/>
                <a:cs typeface="Times New Roman (标题 CS)"/>
              </a:rPr>
              <a:t>）</a:t>
            </a:r>
          </a:p>
          <a:p>
            <a:pPr marL="342900" lvl="0" indent="-342900">
              <a:buFont typeface="+mj-lt"/>
              <a:buAutoNum type="arabicPeriod"/>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基于</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SX1268</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的模组</a:t>
            </a:r>
          </a:p>
          <a:p>
            <a:pPr marL="342900" lvl="0" indent="-34290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优点：国产模组，</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SPI</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接口，</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LORA</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扩频，远距离，低功耗，高灵敏度，贴片型</a:t>
            </a:r>
          </a:p>
        </p:txBody>
      </p:sp>
      <p:sp>
        <p:nvSpPr>
          <p:cNvPr id="8" name="矩形 7"/>
          <p:cNvSpPr/>
          <p:nvPr/>
        </p:nvSpPr>
        <p:spPr>
          <a:xfrm>
            <a:off x="6824946" y="1556404"/>
            <a:ext cx="3171645" cy="1815497"/>
          </a:xfrm>
          <a:prstGeom prst="rect">
            <a:avLst/>
          </a:prstGeom>
        </p:spPr>
        <p:txBody>
          <a:bodyPr wrap="square">
            <a:spAutoFit/>
          </a:bodyPr>
          <a:lstStyle/>
          <a:p>
            <a:pPr lvl="0">
              <a:lnSpc>
                <a:spcPct val="173000"/>
              </a:lnSpc>
              <a:spcBef>
                <a:spcPts val="1300"/>
              </a:spcBef>
              <a:spcAft>
                <a:spcPts val="1300"/>
              </a:spcAft>
              <a:buSzPts val="1400"/>
            </a:pPr>
            <a:r>
              <a:rPr lang="en-US" altLang="zh-CN" b="1" dirty="0">
                <a:latin typeface="微软雅黑" panose="020B0503020204020204" pitchFamily="34" charset="-122"/>
                <a:ea typeface="微软雅黑" panose="020B0503020204020204" pitchFamily="34" charset="-122"/>
                <a:cs typeface="Times New Roman (标题 CS)"/>
              </a:rPr>
              <a:t>GNSS</a:t>
            </a:r>
            <a:r>
              <a:rPr lang="zh-CN" altLang="zh-CN" b="1" dirty="0">
                <a:latin typeface="微软雅黑" panose="020B0503020204020204" pitchFamily="34" charset="-122"/>
                <a:ea typeface="微软雅黑" panose="020B0503020204020204" pitchFamily="34" charset="-122"/>
                <a:cs typeface="Times New Roman (标题 CS)"/>
              </a:rPr>
              <a:t>芯片选型</a:t>
            </a:r>
            <a:endParaRPr lang="zh-CN" altLang="zh-CN" sz="1400" kern="100" dirty="0">
              <a:latin typeface="Helvetica" panose="020B0604020202020204" pitchFamily="34" charset="0"/>
              <a:ea typeface="微软雅黑" panose="020B0503020204020204" pitchFamily="34" charset="-122"/>
              <a:cs typeface="Times New Roman" panose="02020603050405020304" pitchFamily="18" charset="0"/>
            </a:endParaRPr>
          </a:p>
          <a:p>
            <a:pPr marL="742950" lvl="1" indent="-28575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支持多卫星系统（北斗，</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GPS</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GLONASS</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QZSS</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），支持</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AGPS</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，超小尺寸</a:t>
            </a:r>
          </a:p>
          <a:p>
            <a:pPr marL="742950" lvl="1" indent="-285750">
              <a:buFont typeface="Wingdings" panose="05000000000000000000" pitchFamily="2" charset="2"/>
              <a:buChar char=""/>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国产，供货充足</a:t>
            </a:r>
            <a:endParaRPr lang="zh-CN" altLang="zh-CN" sz="1400" kern="100" dirty="0">
              <a:effectLst/>
              <a:latin typeface="Helvetica" panose="020B0604020202020204" pitchFamily="34" charset="0"/>
              <a:ea typeface="微软雅黑" panose="020B0503020204020204" pitchFamily="34" charset="-122"/>
              <a:cs typeface="Times New Roman" panose="02020603050405020304" pitchFamily="18" charset="0"/>
            </a:endParaRPr>
          </a:p>
        </p:txBody>
      </p:sp>
      <p:sp>
        <p:nvSpPr>
          <p:cNvPr id="22" name="文本框 21">
            <a:extLst>
              <a:ext uri="{FF2B5EF4-FFF2-40B4-BE49-F238E27FC236}">
                <a16:creationId xmlns:a16="http://schemas.microsoft.com/office/drawing/2014/main" id="{C6958270-78F0-BB49-8458-C2B20BFE15FF}"/>
              </a:ext>
            </a:extLst>
          </p:cNvPr>
          <p:cNvSpPr txBox="1"/>
          <p:nvPr/>
        </p:nvSpPr>
        <p:spPr>
          <a:xfrm>
            <a:off x="4044288" y="1094739"/>
            <a:ext cx="1723549" cy="461665"/>
          </a:xfrm>
          <a:prstGeom prst="rect">
            <a:avLst/>
          </a:prstGeom>
          <a:noFill/>
        </p:spPr>
        <p:txBody>
          <a:bodyPr wrap="none" rtlCol="0">
            <a:spAutoFit/>
          </a:bodyPr>
          <a:lstStyle/>
          <a:p>
            <a:r>
              <a:rPr kumimoji="1" lang="zh-CN" altLang="en-US" sz="2400" b="1" spc="600" dirty="0">
                <a:solidFill>
                  <a:srgbClr val="2F5597"/>
                </a:solidFill>
                <a:latin typeface="Microsoft YaHei" panose="020B0503020204020204" pitchFamily="34" charset="-122"/>
                <a:ea typeface="Microsoft YaHei" panose="020B0503020204020204" pitchFamily="34" charset="-122"/>
              </a:rPr>
              <a:t>硬件选型</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定位原理</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Positioning principle</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9" name="图片 28"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11" name="图片 10" descr="桌子上的手机&#10;&#10;描述已自动生成"/>
          <p:cNvPicPr/>
          <p:nvPr/>
        </p:nvPicPr>
        <p:blipFill>
          <a:blip r:embed="rId3">
            <a:extLst>
              <a:ext uri="{28A0092B-C50C-407E-A947-70E740481C1C}">
                <a14:useLocalDpi xmlns:a14="http://schemas.microsoft.com/office/drawing/2010/main" val="0"/>
              </a:ext>
            </a:extLst>
          </a:blip>
          <a:srcRect/>
          <a:stretch>
            <a:fillRect/>
          </a:stretch>
        </p:blipFill>
        <p:spPr bwMode="auto">
          <a:xfrm>
            <a:off x="877630" y="2776200"/>
            <a:ext cx="3913332" cy="2819429"/>
          </a:xfrm>
          <a:prstGeom prst="rect">
            <a:avLst/>
          </a:prstGeom>
          <a:noFill/>
          <a:ln>
            <a:noFill/>
          </a:ln>
        </p:spPr>
      </p:pic>
      <p:sp>
        <p:nvSpPr>
          <p:cNvPr id="4" name="矩形 3"/>
          <p:cNvSpPr/>
          <p:nvPr/>
        </p:nvSpPr>
        <p:spPr>
          <a:xfrm>
            <a:off x="6153509" y="2006654"/>
            <a:ext cx="4198189" cy="3000437"/>
          </a:xfrm>
          <a:prstGeom prst="rect">
            <a:avLst/>
          </a:prstGeom>
        </p:spPr>
        <p:txBody>
          <a:bodyPr wrap="square">
            <a:spAutoFit/>
          </a:bodyPr>
          <a:lstStyle/>
          <a:p>
            <a:pPr lvl="0">
              <a:lnSpc>
                <a:spcPct val="173000"/>
              </a:lnSpc>
              <a:spcBef>
                <a:spcPts val="1300"/>
              </a:spcBef>
              <a:spcAft>
                <a:spcPts val="1300"/>
              </a:spcAft>
              <a:buSzPts val="1400"/>
            </a:pPr>
            <a:r>
              <a:rPr lang="zh-CN" altLang="zh-CN" b="1" dirty="0">
                <a:latin typeface="微软雅黑" panose="020B0503020204020204" pitchFamily="34" charset="-122"/>
                <a:ea typeface="微软雅黑" panose="020B0503020204020204" pitchFamily="34" charset="-122"/>
                <a:cs typeface="Times New Roman (标题 CS)"/>
              </a:rPr>
              <a:t>嵌入式开发</a:t>
            </a:r>
          </a:p>
          <a:p>
            <a:pPr marL="342900" lvl="0" indent="-342900" algn="just">
              <a:lnSpc>
                <a:spcPct val="150000"/>
              </a:lnSpc>
              <a:spcAft>
                <a:spcPts val="0"/>
              </a:spcAft>
              <a:buFont typeface="+mj-lt"/>
              <a:buAutoNum type="arabicPeriod"/>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通过主控芯片，从蓝牙扫描</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iBeacon</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并通过</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Lora</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上传结果。</a:t>
            </a:r>
          </a:p>
          <a:p>
            <a:pPr marL="342900" lvl="0" indent="-342900" algn="just">
              <a:lnSpc>
                <a:spcPct val="150000"/>
              </a:lnSpc>
              <a:spcAft>
                <a:spcPts val="0"/>
              </a:spcAft>
              <a:buFont typeface="+mj-lt"/>
              <a:buAutoNum type="arabicPeriod"/>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通过主控芯片，广播蓝牙</a:t>
            </a:r>
            <a:r>
              <a:rPr lang="en-US" altLang="zh-CN" sz="1400" kern="100" dirty="0" err="1">
                <a:latin typeface="Helvetica" panose="020B0604020202020204" pitchFamily="34" charset="0"/>
                <a:ea typeface="微软雅黑" panose="020B0503020204020204" pitchFamily="34" charset="-122"/>
                <a:cs typeface="Times New Roman" panose="02020603050405020304" pitchFamily="18" charset="0"/>
              </a:rPr>
              <a:t>AoA</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定位帧。</a:t>
            </a:r>
          </a:p>
          <a:p>
            <a:pPr marL="342900" lvl="0" indent="-342900" algn="just">
              <a:lnSpc>
                <a:spcPct val="150000"/>
              </a:lnSpc>
              <a:spcAft>
                <a:spcPts val="0"/>
              </a:spcAft>
              <a:buFont typeface="+mj-lt"/>
              <a:buAutoNum type="arabicPeriod"/>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通过主控芯片，读取</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GNSS</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定位结果，并通过</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Lora</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回传系统。</a:t>
            </a:r>
          </a:p>
          <a:p>
            <a:pPr marL="342900" lvl="0" indent="-342900" algn="just">
              <a:lnSpc>
                <a:spcPct val="150000"/>
              </a:lnSpc>
              <a:spcAft>
                <a:spcPts val="0"/>
              </a:spcAft>
              <a:buFont typeface="+mj-lt"/>
              <a:buAutoNum type="arabicPeriod"/>
            </a:pP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通过主控芯片，读取按键状态、电池状态，并通过</a:t>
            </a:r>
            <a:r>
              <a:rPr lang="en-US" altLang="zh-CN" sz="1400" kern="100" dirty="0">
                <a:latin typeface="Helvetica" panose="020B0604020202020204" pitchFamily="34" charset="0"/>
                <a:ea typeface="微软雅黑" panose="020B0503020204020204" pitchFamily="34" charset="-122"/>
                <a:cs typeface="Times New Roman" panose="02020603050405020304" pitchFamily="18" charset="0"/>
              </a:rPr>
              <a:t>Lora</a:t>
            </a:r>
            <a:r>
              <a:rPr lang="zh-CN" altLang="zh-CN" sz="1400" kern="100" dirty="0">
                <a:latin typeface="Helvetica" panose="020B0604020202020204" pitchFamily="34" charset="0"/>
                <a:ea typeface="微软雅黑" panose="020B0503020204020204" pitchFamily="34" charset="-122"/>
                <a:cs typeface="Times New Roman" panose="02020603050405020304" pitchFamily="18" charset="0"/>
              </a:rPr>
              <a:t>回传系统</a:t>
            </a:r>
          </a:p>
        </p:txBody>
      </p:sp>
      <p:sp>
        <p:nvSpPr>
          <p:cNvPr id="12" name="矩形 11">
            <a:extLst>
              <a:ext uri="{FF2B5EF4-FFF2-40B4-BE49-F238E27FC236}">
                <a16:creationId xmlns:a16="http://schemas.microsoft.com/office/drawing/2014/main" id="{10445A0A-A63A-6C65-CCBF-39054D443A5A}"/>
              </a:ext>
            </a:extLst>
          </p:cNvPr>
          <p:cNvSpPr/>
          <p:nvPr/>
        </p:nvSpPr>
        <p:spPr>
          <a:xfrm>
            <a:off x="2339755" y="2006654"/>
            <a:ext cx="705081" cy="506742"/>
          </a:xfrm>
          <a:prstGeom prst="rect">
            <a:avLst/>
          </a:prstGeom>
        </p:spPr>
        <p:txBody>
          <a:bodyPr wrap="square">
            <a:spAutoFit/>
          </a:bodyPr>
          <a:lstStyle/>
          <a:p>
            <a:pPr lvl="0">
              <a:lnSpc>
                <a:spcPct val="173000"/>
              </a:lnSpc>
              <a:spcBef>
                <a:spcPts val="1300"/>
              </a:spcBef>
              <a:spcAft>
                <a:spcPts val="1300"/>
              </a:spcAft>
              <a:buSzPts val="1400"/>
            </a:pPr>
            <a:r>
              <a:rPr lang="zh-CN" altLang="en-US" b="1" dirty="0">
                <a:latin typeface="微软雅黑" panose="020B0503020204020204" pitchFamily="34" charset="-122"/>
                <a:ea typeface="微软雅黑" panose="020B0503020204020204" pitchFamily="34" charset="-122"/>
                <a:cs typeface="Times New Roman (标题 CS)"/>
              </a:rPr>
              <a:t>外壳</a:t>
            </a:r>
            <a:endParaRPr lang="zh-CN" altLang="zh-CN" b="1" dirty="0">
              <a:latin typeface="微软雅黑" panose="020B0503020204020204" pitchFamily="34" charset="-122"/>
              <a:ea typeface="微软雅黑" panose="020B0503020204020204" pitchFamily="34" charset="-122"/>
              <a:cs typeface="Times New Roman (标题 CS)"/>
            </a:endParaRPr>
          </a:p>
        </p:txBody>
      </p:sp>
    </p:spTree>
    <p:extLst>
      <p:ext uri="{BB962C8B-B14F-4D97-AF65-F5344CB8AC3E}">
        <p14:creationId xmlns:p14="http://schemas.microsoft.com/office/powerpoint/2010/main" val="26336982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斜纹 3"/>
          <p:cNvSpPr/>
          <p:nvPr/>
        </p:nvSpPr>
        <p:spPr>
          <a:xfrm rot="16200000" flipV="1">
            <a:off x="8412480" y="3078484"/>
            <a:ext cx="3779516" cy="3779516"/>
          </a:xfrm>
          <a:prstGeom prst="diagStripe">
            <a:avLst>
              <a:gd name="adj" fmla="val 68260"/>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定位原理</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Positioning principle</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24" name="表格 23"/>
          <p:cNvGraphicFramePr>
            <a:graphicFrameLocks noGrp="1"/>
          </p:cNvGraphicFramePr>
          <p:nvPr>
            <p:extLst>
              <p:ext uri="{D42A27DB-BD31-4B8C-83A1-F6EECF244321}">
                <p14:modId xmlns:p14="http://schemas.microsoft.com/office/powerpoint/2010/main" val="49968285"/>
              </p:ext>
            </p:extLst>
          </p:nvPr>
        </p:nvGraphicFramePr>
        <p:xfrm>
          <a:off x="6667163" y="1975449"/>
          <a:ext cx="4314263" cy="2648813"/>
        </p:xfrm>
        <a:graphic>
          <a:graphicData uri="http://schemas.openxmlformats.org/drawingml/2006/table">
            <a:tbl>
              <a:tblPr firstRow="1" bandRow="1">
                <a:tableStyleId>{5C22544A-7EE6-4342-B048-85BDC9FD1C3A}</a:tableStyleId>
              </a:tblPr>
              <a:tblGrid>
                <a:gridCol w="1271127">
                  <a:extLst>
                    <a:ext uri="{9D8B030D-6E8A-4147-A177-3AD203B41FA5}">
                      <a16:colId xmlns:a16="http://schemas.microsoft.com/office/drawing/2014/main" val="20000"/>
                    </a:ext>
                  </a:extLst>
                </a:gridCol>
                <a:gridCol w="3043136">
                  <a:extLst>
                    <a:ext uri="{9D8B030D-6E8A-4147-A177-3AD203B41FA5}">
                      <a16:colId xmlns:a16="http://schemas.microsoft.com/office/drawing/2014/main" val="20001"/>
                    </a:ext>
                  </a:extLst>
                </a:gridCol>
              </a:tblGrid>
              <a:tr h="375941">
                <a:tc>
                  <a:txBody>
                    <a:bodyPr/>
                    <a:lstStyle/>
                    <a:p>
                      <a:pPr algn="l"/>
                      <a:r>
                        <a:rPr lang="zh-CN" altLang="en-US" sz="1100" b="0" dirty="0">
                          <a:solidFill>
                            <a:schemeClr val="tx1"/>
                          </a:solidFill>
                          <a:latin typeface="Microsoft YaHei" panose="020B0503020204020204" pitchFamily="34" charset="-122"/>
                          <a:ea typeface="Microsoft YaHei" panose="020B0503020204020204" pitchFamily="34" charset="-122"/>
                        </a:rPr>
                        <a:t>产品名称</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100" b="0" dirty="0" err="1">
                          <a:solidFill>
                            <a:schemeClr val="tx1"/>
                          </a:solidFill>
                          <a:latin typeface="Microsoft YaHei" panose="020B0503020204020204" pitchFamily="34" charset="-122"/>
                          <a:ea typeface="Microsoft YaHei" panose="020B0503020204020204" pitchFamily="34" charset="-122"/>
                        </a:rPr>
                        <a:t>AoA</a:t>
                      </a:r>
                      <a:r>
                        <a:rPr lang="zh-CN" altLang="en-US" sz="1100" b="0" dirty="0">
                          <a:solidFill>
                            <a:schemeClr val="tx1"/>
                          </a:solidFill>
                          <a:latin typeface="Microsoft YaHei" panose="020B0503020204020204" pitchFamily="34" charset="-122"/>
                          <a:ea typeface="Microsoft YaHei" panose="020B0503020204020204" pitchFamily="34" charset="-122"/>
                        </a:rPr>
                        <a:t>定位基站（室内版）</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375941">
                <a:tc>
                  <a:txBody>
                    <a:bodyPr/>
                    <a:lstStyle/>
                    <a:p>
                      <a:pPr algn="l"/>
                      <a:r>
                        <a:rPr lang="zh-CN" altLang="en-US" sz="1100" b="0" dirty="0">
                          <a:solidFill>
                            <a:schemeClr val="tx1"/>
                          </a:solidFill>
                          <a:latin typeface="Microsoft YaHei" panose="020B0503020204020204" pitchFamily="34" charset="-122"/>
                          <a:ea typeface="Microsoft YaHei" panose="020B0503020204020204" pitchFamily="34" charset="-122"/>
                        </a:rPr>
                        <a:t>供电</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altLang="zh-CN" sz="1100" kern="1200" dirty="0">
                          <a:solidFill>
                            <a:schemeClr val="dk1"/>
                          </a:solidFill>
                          <a:latin typeface="Microsoft YaHei" panose="020B0503020204020204" pitchFamily="34" charset="-122"/>
                          <a:ea typeface="Microsoft YaHei" panose="020B0503020204020204" pitchFamily="34" charset="-122"/>
                          <a:cs typeface="+mn-cs"/>
                        </a:rPr>
                        <a:t>12VDC</a:t>
                      </a:r>
                      <a:r>
                        <a:rPr lang="zh-CN" altLang="en-US" sz="1100" kern="1200" dirty="0">
                          <a:solidFill>
                            <a:schemeClr val="dk1"/>
                          </a:solidFill>
                          <a:latin typeface="Microsoft YaHei" panose="020B0503020204020204" pitchFamily="34" charset="-122"/>
                          <a:ea typeface="Microsoft YaHei" panose="020B0503020204020204" pitchFamily="34" charset="-122"/>
                          <a:cs typeface="+mn-cs"/>
                        </a:rPr>
                        <a:t>电源适配器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75941">
                <a:tc>
                  <a:txBody>
                    <a:bodyPr/>
                    <a:lstStyle/>
                    <a:p>
                      <a:pPr algn="l">
                        <a:buNone/>
                        <a:defRPr sz="1800"/>
                      </a:pPr>
                      <a:r>
                        <a:rPr lang="zh-CN" sz="1100" dirty="0">
                          <a:latin typeface="Microsoft YaHei" panose="020B0503020204020204" pitchFamily="34" charset="-122"/>
                          <a:ea typeface="Microsoft YaHei" panose="020B0503020204020204" pitchFamily="34" charset="-122"/>
                        </a:rPr>
                        <a:t>覆盖半径</a:t>
                      </a:r>
                      <a:endParaRPr lang="zh-CN" sz="1100" b="0" dirty="0">
                        <a:latin typeface="Microsoft YaHei" panose="020B0503020204020204" pitchFamily="34" charset="-122"/>
                        <a:ea typeface="Microsoft YaHei" panose="020B0503020204020204" pitchFamily="34" charset="-122"/>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sz="1800"/>
                      </a:pPr>
                      <a:r>
                        <a:rPr sz="1100" dirty="0" err="1">
                          <a:latin typeface="Microsoft YaHei" panose="020B0503020204020204" pitchFamily="34" charset="-122"/>
                          <a:ea typeface="Microsoft YaHei" panose="020B0503020204020204" pitchFamily="34" charset="-122"/>
                        </a:rPr>
                        <a:t>空旷</a:t>
                      </a:r>
                      <a:r>
                        <a:rPr lang="zh-CN" sz="1100" dirty="0">
                          <a:latin typeface="Microsoft YaHei" panose="020B0503020204020204" pitchFamily="34" charset="-122"/>
                          <a:ea typeface="Microsoft YaHei" panose="020B0503020204020204" pitchFamily="34" charset="-122"/>
                        </a:rPr>
                        <a:t>最大</a:t>
                      </a:r>
                      <a:r>
                        <a:rPr lang="en-US" sz="1100" dirty="0">
                          <a:latin typeface="Microsoft YaHei" panose="020B0503020204020204" pitchFamily="34" charset="-122"/>
                          <a:ea typeface="Microsoft YaHei" panose="020B0503020204020204" pitchFamily="34" charset="-122"/>
                        </a:rPr>
                        <a:t>2</a:t>
                      </a:r>
                      <a:r>
                        <a:rPr sz="1100" dirty="0">
                          <a:latin typeface="Microsoft YaHei" panose="020B0503020204020204" pitchFamily="34" charset="-122"/>
                          <a:ea typeface="Microsoft YaHei" panose="020B0503020204020204" pitchFamily="34" charset="-122"/>
                        </a:rPr>
                        <a:t>0米</a:t>
                      </a:r>
                      <a:endParaRPr sz="1100" dirty="0">
                        <a:latin typeface="Microsoft YaHei" panose="020B0503020204020204" pitchFamily="34" charset="-122"/>
                        <a:ea typeface="Microsoft YaHei" panose="020B0503020204020204" pitchFamily="34" charset="-122"/>
                        <a:cs typeface="微软雅黑" panose="020B0503020204020204" pitchFamily="34" charset="-122"/>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75941">
                <a:tc>
                  <a:txBody>
                    <a:bodyPr/>
                    <a:lstStyle/>
                    <a:p>
                      <a:pPr algn="l">
                        <a:defRPr sz="1800"/>
                      </a:pPr>
                      <a:r>
                        <a:rPr sz="1100" dirty="0" err="1">
                          <a:latin typeface="Microsoft YaHei" panose="020B0503020204020204" pitchFamily="34" charset="-122"/>
                          <a:ea typeface="Microsoft YaHei" panose="020B0503020204020204" pitchFamily="34" charset="-122"/>
                        </a:rPr>
                        <a:t>防水等级</a:t>
                      </a:r>
                      <a:endParaRPr sz="1100" b="0" dirty="0">
                        <a:latin typeface="Microsoft YaHei" panose="020B0503020204020204" pitchFamily="34" charset="-122"/>
                        <a:ea typeface="Microsoft YaHei" panose="020B0503020204020204" pitchFamily="34" charset="-122"/>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sz="1800"/>
                      </a:pPr>
                      <a:r>
                        <a:rPr sz="1100" dirty="0">
                          <a:latin typeface="Microsoft YaHei" panose="020B0503020204020204" pitchFamily="34" charset="-122"/>
                          <a:ea typeface="Microsoft YaHei" panose="020B0503020204020204" pitchFamily="34" charset="-122"/>
                        </a:rPr>
                        <a:t>IP</a:t>
                      </a:r>
                      <a:r>
                        <a:rPr lang="en-US" sz="1100" dirty="0">
                          <a:latin typeface="Microsoft YaHei" panose="020B0503020204020204" pitchFamily="34" charset="-122"/>
                          <a:ea typeface="Microsoft YaHei" panose="020B0503020204020204" pitchFamily="34" charset="-122"/>
                        </a:rPr>
                        <a:t>66</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5941">
                <a:tc>
                  <a:txBody>
                    <a:bodyPr/>
                    <a:lstStyle/>
                    <a:p>
                      <a:pPr algn="l">
                        <a:defRPr sz="1800"/>
                      </a:pPr>
                      <a:r>
                        <a:rPr sz="1100" dirty="0" err="1">
                          <a:latin typeface="Microsoft YaHei" panose="020B0503020204020204" pitchFamily="34" charset="-122"/>
                          <a:ea typeface="Microsoft YaHei" panose="020B0503020204020204" pitchFamily="34" charset="-122"/>
                        </a:rPr>
                        <a:t>定位精度</a:t>
                      </a:r>
                      <a:endParaRPr sz="1100" b="0" dirty="0">
                        <a:latin typeface="Microsoft YaHei" panose="020B0503020204020204" pitchFamily="34" charset="-122"/>
                        <a:ea typeface="Microsoft YaHei" panose="020B0503020204020204" pitchFamily="34" charset="-122"/>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sz="1800"/>
                      </a:pPr>
                      <a:r>
                        <a:rPr sz="1100" dirty="0">
                          <a:latin typeface="Microsoft YaHei" panose="020B0503020204020204" pitchFamily="34" charset="-122"/>
                          <a:ea typeface="Microsoft YaHei" panose="020B0503020204020204" pitchFamily="34" charset="-122"/>
                        </a:rPr>
                        <a:t>0.1~1m</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375941">
                <a:tc>
                  <a:txBody>
                    <a:bodyPr/>
                    <a:lstStyle/>
                    <a:p>
                      <a:pPr algn="l">
                        <a:defRPr sz="1800"/>
                      </a:pPr>
                      <a:r>
                        <a:rPr sz="1100" dirty="0" err="1">
                          <a:latin typeface="Microsoft YaHei" panose="020B0503020204020204" pitchFamily="34" charset="-122"/>
                          <a:ea typeface="Microsoft YaHei" panose="020B0503020204020204" pitchFamily="34" charset="-122"/>
                        </a:rPr>
                        <a:t>工作温度</a:t>
                      </a:r>
                      <a:endParaRPr sz="1100" b="0" dirty="0">
                        <a:latin typeface="Microsoft YaHei" panose="020B0503020204020204" pitchFamily="34" charset="-122"/>
                        <a:ea typeface="Microsoft YaHei" panose="020B0503020204020204" pitchFamily="34" charset="-122"/>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l">
                        <a:defRPr sz="1800"/>
                      </a:pPr>
                      <a:r>
                        <a:rPr sz="1100" dirty="0">
                          <a:latin typeface="Microsoft YaHei" panose="020B0503020204020204" pitchFamily="34" charset="-122"/>
                          <a:ea typeface="Microsoft YaHei" panose="020B0503020204020204" pitchFamily="34" charset="-122"/>
                        </a:rPr>
                        <a:t>-20℃~60℃</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393167">
                <a:tc>
                  <a:txBody>
                    <a:bodyPr/>
                    <a:lstStyle/>
                    <a:p>
                      <a:pPr marL="0" algn="l" defTabSz="914400" rtl="0" eaLnBrk="1" latinLnBrk="0" hangingPunct="1">
                        <a:defRPr sz="1800"/>
                      </a:pPr>
                      <a:r>
                        <a:rPr lang="zh-CN" altLang="en-US" sz="1100" kern="1200" dirty="0">
                          <a:solidFill>
                            <a:schemeClr val="dk1"/>
                          </a:solidFill>
                          <a:latin typeface="Microsoft YaHei" panose="020B0503020204020204" pitchFamily="34" charset="-122"/>
                          <a:ea typeface="Microsoft YaHei" panose="020B0503020204020204" pitchFamily="34" charset="-122"/>
                          <a:cs typeface="+mn-cs"/>
                        </a:rPr>
                        <a:t>尺寸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lvl="1" indent="0" algn="l" defTabSz="914400" rtl="0" eaLnBrk="1" latinLnBrk="0" hangingPunct="1">
                        <a:lnSpc>
                          <a:spcPct val="150000"/>
                        </a:lnSpc>
                        <a:spcAft>
                          <a:spcPts val="600"/>
                        </a:spcAft>
                        <a:buFont typeface="Wingdings" panose="05000000000000000000" pitchFamily="2" charset="2"/>
                        <a:buNone/>
                        <a:defRPr sz="1800"/>
                      </a:pPr>
                      <a:r>
                        <a:rPr lang="en-US" altLang="zh-CN" sz="1100" kern="1200" dirty="0">
                          <a:solidFill>
                            <a:schemeClr val="dk1"/>
                          </a:solidFill>
                          <a:latin typeface="Microsoft YaHei" panose="020B0503020204020204" pitchFamily="34" charset="-122"/>
                          <a:ea typeface="Microsoft YaHei" panose="020B0503020204020204" pitchFamily="34" charset="-122"/>
                          <a:cs typeface="+mn-cs"/>
                        </a:rPr>
                        <a:t>180.mm×180mm×39mm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pic>
        <p:nvPicPr>
          <p:cNvPr id="26" name="图片 25"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13" name="图片 1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06129" y="1906438"/>
            <a:ext cx="4050464" cy="2803585"/>
          </a:xfrm>
          <a:prstGeom prst="rect">
            <a:avLst/>
          </a:prstGeom>
        </p:spPr>
      </p:pic>
    </p:spTree>
    <p:extLst>
      <p:ext uri="{BB962C8B-B14F-4D97-AF65-F5344CB8AC3E}">
        <p14:creationId xmlns:p14="http://schemas.microsoft.com/office/powerpoint/2010/main" val="8285571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直角三角形 19"/>
          <p:cNvSpPr/>
          <p:nvPr/>
        </p:nvSpPr>
        <p:spPr>
          <a:xfrm flipH="1">
            <a:off x="7953554" y="29422"/>
            <a:ext cx="4238444" cy="6828578"/>
          </a:xfrm>
          <a:prstGeom prst="r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898687" y="1018574"/>
            <a:ext cx="8705088" cy="4395216"/>
          </a:xfrm>
          <a:prstGeom prst="rect">
            <a:avLst/>
          </a:prstGeom>
        </p:spPr>
      </p:pic>
      <p:sp>
        <p:nvSpPr>
          <p:cNvPr id="4" name="文本框 13"/>
          <p:cNvSpPr txBox="1">
            <a:spLocks noChangeArrowheads="1"/>
          </p:cNvSpPr>
          <p:nvPr>
            <p:custDataLst>
              <p:tags r:id="rId1"/>
            </p:custDataLst>
          </p:nvPr>
        </p:nvSpPr>
        <p:spPr bwMode="auto">
          <a:xfrm>
            <a:off x="3125728" y="2797681"/>
            <a:ext cx="646011" cy="340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r>
              <a:rPr lang="zh-CN" altLang="en-US" sz="2215" b="1" dirty="0">
                <a:solidFill>
                  <a:schemeClr val="bg1"/>
                </a:solidFill>
                <a:latin typeface="Arial" panose="020B0604020202020204" pitchFamily="34" charset="0"/>
                <a:ea typeface="微软雅黑" panose="020B0503020204020204" pitchFamily="34" charset="-122"/>
                <a:sym typeface="Arial" panose="020B0604020202020204" pitchFamily="34" charset="0"/>
              </a:rPr>
              <a:t>章 节</a:t>
            </a:r>
          </a:p>
        </p:txBody>
      </p:sp>
      <p:sp>
        <p:nvSpPr>
          <p:cNvPr id="5" name="文本框 11"/>
          <p:cNvSpPr txBox="1"/>
          <p:nvPr>
            <p:custDataLst>
              <p:tags r:id="rId2"/>
            </p:custDataLst>
          </p:nvPr>
        </p:nvSpPr>
        <p:spPr>
          <a:xfrm>
            <a:off x="3023138" y="3081759"/>
            <a:ext cx="979435" cy="648960"/>
          </a:xfrm>
          <a:prstGeom prst="rect">
            <a:avLst/>
          </a:prstGeom>
          <a:noFill/>
        </p:spPr>
        <p:txBody>
          <a:bodyPr wrap="none" lIns="0" tIns="0" rIns="0" bIns="0">
            <a:spAutoFit/>
          </a:bodyPr>
          <a:lstStyle/>
          <a:p>
            <a:pPr>
              <a:defRPr/>
            </a:pPr>
            <a:r>
              <a:rPr lang="en-US" altLang="zh-CN" sz="3375" b="1" dirty="0">
                <a:solidFill>
                  <a:schemeClr val="bg1"/>
                </a:solidFill>
                <a:latin typeface="Arial" panose="020B0604020202020204" pitchFamily="34" charset="0"/>
                <a:ea typeface="微软雅黑" panose="020B0503020204020204" pitchFamily="34" charset="-122"/>
                <a:sym typeface="Arial" panose="020B0604020202020204" pitchFamily="34" charset="0"/>
              </a:rPr>
              <a:t>P</a:t>
            </a:r>
            <a:r>
              <a:rPr lang="en-US" altLang="zh-CN" sz="4215" b="1" dirty="0">
                <a:solidFill>
                  <a:schemeClr val="bg1"/>
                </a:solidFill>
                <a:latin typeface="Arial" panose="020B0604020202020204" pitchFamily="34" charset="0"/>
                <a:ea typeface="微软雅黑" panose="020B0503020204020204" pitchFamily="34" charset="-122"/>
                <a:sym typeface="Arial" panose="020B0604020202020204" pitchFamily="34" charset="0"/>
              </a:rPr>
              <a:t>art</a:t>
            </a:r>
            <a:endParaRPr lang="zh-CN" altLang="en-US" sz="12125" b="1"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7" name="文本框 14"/>
          <p:cNvSpPr txBox="1">
            <a:spLocks noChangeArrowheads="1"/>
          </p:cNvSpPr>
          <p:nvPr>
            <p:custDataLst>
              <p:tags r:id="rId3"/>
            </p:custDataLst>
          </p:nvPr>
        </p:nvSpPr>
        <p:spPr bwMode="auto">
          <a:xfrm>
            <a:off x="4010318" y="2530399"/>
            <a:ext cx="1442703" cy="1557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10120" dirty="0">
                <a:solidFill>
                  <a:schemeClr val="bg1"/>
                </a:solidFill>
                <a:latin typeface="Arial" panose="020B0604020202020204" pitchFamily="34" charset="0"/>
                <a:ea typeface="微软雅黑" panose="020B0503020204020204" pitchFamily="34" charset="-122"/>
                <a:sym typeface="Arial" panose="020B0604020202020204" pitchFamily="34" charset="0"/>
              </a:rPr>
              <a:t>02</a:t>
            </a:r>
            <a:endParaRPr lang="zh-CN" altLang="en-US" sz="10120" dirty="0">
              <a:solidFill>
                <a:schemeClr val="bg1"/>
              </a:solidFill>
              <a:latin typeface="Arial" panose="020B0604020202020204" pitchFamily="34" charset="0"/>
              <a:ea typeface="微软雅黑" panose="020B0503020204020204" pitchFamily="34" charset="-122"/>
              <a:sym typeface="Arial" panose="020B0604020202020204" pitchFamily="34" charset="0"/>
            </a:endParaRPr>
          </a:p>
        </p:txBody>
      </p:sp>
      <p:sp>
        <p:nvSpPr>
          <p:cNvPr id="8" name="矩形 7"/>
          <p:cNvSpPr/>
          <p:nvPr>
            <p:custDataLst>
              <p:tags r:id="rId4"/>
            </p:custDataLst>
          </p:nvPr>
        </p:nvSpPr>
        <p:spPr>
          <a:xfrm>
            <a:off x="5598542" y="2832187"/>
            <a:ext cx="6593457" cy="930737"/>
          </a:xfrm>
          <a:prstGeom prst="rect">
            <a:avLst/>
          </a:prstGeom>
          <a:solidFill>
            <a:schemeClr val="tx1">
              <a:alpha val="45000"/>
            </a:schemeClr>
          </a:solidFill>
          <a:ln w="12700" cap="flat" cmpd="sng" algn="ctr">
            <a:noFill/>
            <a:prstDash val="solid"/>
            <a:miter lim="800000"/>
          </a:ln>
          <a:effectLst/>
        </p:spPr>
        <p:txBody>
          <a:bodyPr lIns="341663" rIns="949063" anchor="ctr"/>
          <a:lstStyle/>
          <a:p>
            <a:pPr>
              <a:lnSpc>
                <a:spcPct val="130000"/>
              </a:lnSpc>
              <a:defRPr/>
            </a:pPr>
            <a:r>
              <a:rPr lang="zh-CN" altLang="en-US" sz="3600" b="1" kern="0" dirty="0">
                <a:solidFill>
                  <a:schemeClr val="bg1"/>
                </a:solidFill>
                <a:latin typeface="Arial" panose="020B0604020202020204" pitchFamily="34" charset="0"/>
                <a:ea typeface="微软雅黑" panose="020B0503020204020204" pitchFamily="34" charset="-122"/>
                <a:sym typeface="Arial" panose="020B0604020202020204" pitchFamily="34" charset="0"/>
              </a:rPr>
              <a:t>地图制作</a:t>
            </a:r>
          </a:p>
        </p:txBody>
      </p:sp>
      <p:pic>
        <p:nvPicPr>
          <p:cNvPr id="10" name="图片 9"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7"/>
          <a:stretch>
            <a:fillRect/>
          </a:stretch>
        </p:blipFill>
        <p:spPr>
          <a:xfrm>
            <a:off x="10492950" y="90030"/>
            <a:ext cx="1645497" cy="434176"/>
          </a:xfrm>
          <a:prstGeom prst="rect">
            <a:avLst/>
          </a:prstGeom>
        </p:spPr>
      </p:pic>
    </p:spTree>
    <p:extLst>
      <p:ext uri="{BB962C8B-B14F-4D97-AF65-F5344CB8AC3E}">
        <p14:creationId xmlns:p14="http://schemas.microsoft.com/office/powerpoint/2010/main" val="50012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20" name="图片 19" descr="图示&#10;&#10;描述已自动生成"/>
          <p:cNvPicPr/>
          <p:nvPr/>
        </p:nvPicPr>
        <p:blipFill>
          <a:blip r:embed="rId3" cstate="print">
            <a:extLst>
              <a:ext uri="{28A0092B-C50C-407E-A947-70E740481C1C}">
                <a14:useLocalDpi xmlns:a14="http://schemas.microsoft.com/office/drawing/2010/main" val="0"/>
              </a:ext>
            </a:extLst>
          </a:blip>
          <a:stretch>
            <a:fillRect/>
          </a:stretch>
        </p:blipFill>
        <p:spPr>
          <a:xfrm>
            <a:off x="4311941" y="129482"/>
            <a:ext cx="5167619" cy="6728518"/>
          </a:xfrm>
          <a:prstGeom prst="rect">
            <a:avLst/>
          </a:prstGeom>
        </p:spPr>
      </p:pic>
    </p:spTree>
    <p:extLst>
      <p:ext uri="{BB962C8B-B14F-4D97-AF65-F5344CB8AC3E}">
        <p14:creationId xmlns:p14="http://schemas.microsoft.com/office/powerpoint/2010/main" val="28112434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105" name="图片 104" descr="图示&#10;&#10;&#10;&#10;描述已自动生成"/>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78462" y="1682803"/>
            <a:ext cx="2491740" cy="1680210"/>
          </a:xfrm>
          <a:prstGeom prst="rect">
            <a:avLst/>
          </a:prstGeom>
          <a:noFill/>
          <a:ln>
            <a:noFill/>
          </a:ln>
        </p:spPr>
      </p:pic>
      <p:pic>
        <p:nvPicPr>
          <p:cNvPr id="107" name="图片 106" descr="图示&#10;&#10;&#10;&#10;描述已自动生成"/>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78462" y="3874522"/>
            <a:ext cx="2548890" cy="1645920"/>
          </a:xfrm>
          <a:prstGeom prst="rect">
            <a:avLst/>
          </a:prstGeom>
          <a:noFill/>
          <a:ln>
            <a:noFill/>
          </a:ln>
        </p:spPr>
      </p:pic>
      <p:pic>
        <p:nvPicPr>
          <p:cNvPr id="108" name="图片 107" descr="乐高玩具&#10;&#10;&#10;&#10;中度可信度描述已自动生成"/>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10888" y="1613481"/>
            <a:ext cx="2617470" cy="1748790"/>
          </a:xfrm>
          <a:prstGeom prst="rect">
            <a:avLst/>
          </a:prstGeom>
          <a:noFill/>
          <a:ln>
            <a:noFill/>
          </a:ln>
        </p:spPr>
      </p:pic>
      <p:pic>
        <p:nvPicPr>
          <p:cNvPr id="109" name="图片 108" descr="乐高玩具&#10;&#10;&#10;&#10;低可信度描述已自动生成"/>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010888" y="3874522"/>
            <a:ext cx="2617470" cy="1728054"/>
          </a:xfrm>
          <a:prstGeom prst="rect">
            <a:avLst/>
          </a:prstGeom>
          <a:noFill/>
          <a:ln>
            <a:noFill/>
          </a:ln>
        </p:spPr>
      </p:pic>
      <p:pic>
        <p:nvPicPr>
          <p:cNvPr id="110" name="图片 109" descr="图片包含 图示&#10;&#10;&#10;&#10;描述已自动生成"/>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16862" y="1322878"/>
            <a:ext cx="3268082" cy="2261415"/>
          </a:xfrm>
          <a:prstGeom prst="rect">
            <a:avLst/>
          </a:prstGeom>
          <a:noFill/>
          <a:ln>
            <a:noFill/>
          </a:ln>
        </p:spPr>
      </p:pic>
      <p:sp>
        <p:nvSpPr>
          <p:cNvPr id="3" name="矩形 2"/>
          <p:cNvSpPr/>
          <p:nvPr/>
        </p:nvSpPr>
        <p:spPr>
          <a:xfrm>
            <a:off x="1552888" y="3434982"/>
            <a:ext cx="942887" cy="369332"/>
          </a:xfrm>
          <a:prstGeom prst="rect">
            <a:avLst/>
          </a:prstGeom>
        </p:spPr>
        <p:txBody>
          <a:bodyPr wrap="none">
            <a:spAutoFit/>
          </a:bodyPr>
          <a:lstStyle/>
          <a:p>
            <a:r>
              <a:rPr lang="zh-CN" altLang="zh-CN" b="1" dirty="0">
                <a:solidFill>
                  <a:srgbClr val="000000"/>
                </a:solidFill>
                <a:ea typeface="宋体" panose="02010600030101010101" pitchFamily="2" charset="-122"/>
                <a:cs typeface="宋体" panose="02010600030101010101" pitchFamily="2" charset="-122"/>
              </a:rPr>
              <a:t>室内</a:t>
            </a:r>
            <a:r>
              <a:rPr lang="en-US" altLang="zh-CN" b="1" dirty="0">
                <a:solidFill>
                  <a:srgbClr val="000000"/>
                </a:solidFill>
                <a:ea typeface="宋体" panose="02010600030101010101" pitchFamily="2" charset="-122"/>
                <a:cs typeface="宋体" panose="02010600030101010101" pitchFamily="2" charset="-122"/>
              </a:rPr>
              <a:t>2D</a:t>
            </a:r>
            <a:endParaRPr lang="zh-CN" altLang="en-US" dirty="0"/>
          </a:p>
        </p:txBody>
      </p:sp>
      <p:sp>
        <p:nvSpPr>
          <p:cNvPr id="4" name="矩形 3"/>
          <p:cNvSpPr/>
          <p:nvPr/>
        </p:nvSpPr>
        <p:spPr>
          <a:xfrm>
            <a:off x="1232810" y="5602576"/>
            <a:ext cx="1640193" cy="369332"/>
          </a:xfrm>
          <a:prstGeom prst="rect">
            <a:avLst/>
          </a:prstGeom>
        </p:spPr>
        <p:txBody>
          <a:bodyPr wrap="none">
            <a:spAutoFit/>
          </a:bodyPr>
          <a:lstStyle/>
          <a:p>
            <a:r>
              <a:rPr lang="zh-CN" altLang="zh-CN" b="1">
                <a:solidFill>
                  <a:srgbClr val="000000"/>
                </a:solidFill>
                <a:ea typeface="宋体" panose="02010600030101010101" pitchFamily="2" charset="-122"/>
                <a:cs typeface="宋体" panose="02010600030101010101" pitchFamily="2" charset="-122"/>
              </a:rPr>
              <a:t>室内轻量化</a:t>
            </a:r>
            <a:r>
              <a:rPr lang="en-US" altLang="zh-CN" b="1">
                <a:solidFill>
                  <a:srgbClr val="000000"/>
                </a:solidFill>
                <a:ea typeface="宋体" panose="02010600030101010101" pitchFamily="2" charset="-122"/>
                <a:cs typeface="宋体" panose="02010600030101010101" pitchFamily="2" charset="-122"/>
              </a:rPr>
              <a:t>3D</a:t>
            </a:r>
            <a:endParaRPr lang="zh-CN" altLang="en-US" dirty="0"/>
          </a:p>
        </p:txBody>
      </p:sp>
      <p:sp>
        <p:nvSpPr>
          <p:cNvPr id="5" name="矩形 4"/>
          <p:cNvSpPr/>
          <p:nvPr/>
        </p:nvSpPr>
        <p:spPr>
          <a:xfrm>
            <a:off x="4645400" y="3433730"/>
            <a:ext cx="1348446" cy="369332"/>
          </a:xfrm>
          <a:prstGeom prst="rect">
            <a:avLst/>
          </a:prstGeom>
        </p:spPr>
        <p:txBody>
          <a:bodyPr wrap="none">
            <a:spAutoFit/>
          </a:bodyPr>
          <a:lstStyle/>
          <a:p>
            <a:r>
              <a:rPr lang="en-US" altLang="zh-CN" b="1" dirty="0">
                <a:solidFill>
                  <a:srgbClr val="000000"/>
                </a:solidFill>
                <a:latin typeface="宋体" panose="02010600030101010101" pitchFamily="2" charset="-122"/>
                <a:cs typeface="宋体" panose="02010600030101010101" pitchFamily="2" charset="-122"/>
              </a:rPr>
              <a:t>3D</a:t>
            </a:r>
            <a:r>
              <a:rPr lang="zh-CN" altLang="zh-CN" b="1" dirty="0">
                <a:solidFill>
                  <a:srgbClr val="000000"/>
                </a:solidFill>
                <a:ea typeface="宋体" panose="02010600030101010101" pitchFamily="2" charset="-122"/>
                <a:cs typeface="宋体" panose="02010600030101010101" pitchFamily="2" charset="-122"/>
              </a:rPr>
              <a:t>模型地图</a:t>
            </a:r>
            <a:endParaRPr lang="zh-CN" altLang="en-US" dirty="0"/>
          </a:p>
        </p:txBody>
      </p:sp>
      <p:sp>
        <p:nvSpPr>
          <p:cNvPr id="6" name="矩形 5"/>
          <p:cNvSpPr/>
          <p:nvPr/>
        </p:nvSpPr>
        <p:spPr>
          <a:xfrm>
            <a:off x="4731962" y="5655596"/>
            <a:ext cx="1175322" cy="369332"/>
          </a:xfrm>
          <a:prstGeom prst="rect">
            <a:avLst/>
          </a:prstGeom>
        </p:spPr>
        <p:txBody>
          <a:bodyPr wrap="none">
            <a:spAutoFit/>
          </a:bodyPr>
          <a:lstStyle/>
          <a:p>
            <a:r>
              <a:rPr lang="zh-CN" altLang="zh-CN" b="1">
                <a:solidFill>
                  <a:srgbClr val="000000"/>
                </a:solidFill>
                <a:ea typeface="宋体" panose="02010600030101010101" pitchFamily="2" charset="-122"/>
                <a:cs typeface="宋体" panose="02010600030101010101" pitchFamily="2" charset="-122"/>
              </a:rPr>
              <a:t>轻量化</a:t>
            </a:r>
            <a:r>
              <a:rPr lang="en-US" altLang="zh-CN" b="1">
                <a:solidFill>
                  <a:srgbClr val="000000"/>
                </a:solidFill>
                <a:ea typeface="宋体" panose="02010600030101010101" pitchFamily="2" charset="-122"/>
                <a:cs typeface="宋体" panose="02010600030101010101" pitchFamily="2" charset="-122"/>
              </a:rPr>
              <a:t>3D</a:t>
            </a:r>
            <a:endParaRPr lang="zh-CN" altLang="en-US" dirty="0"/>
          </a:p>
        </p:txBody>
      </p:sp>
      <p:sp>
        <p:nvSpPr>
          <p:cNvPr id="7" name="矩形 6"/>
          <p:cNvSpPr/>
          <p:nvPr/>
        </p:nvSpPr>
        <p:spPr>
          <a:xfrm>
            <a:off x="8747024" y="3689856"/>
            <a:ext cx="1407758" cy="369332"/>
          </a:xfrm>
          <a:prstGeom prst="rect">
            <a:avLst/>
          </a:prstGeom>
        </p:spPr>
        <p:txBody>
          <a:bodyPr wrap="none">
            <a:spAutoFit/>
          </a:bodyPr>
          <a:lstStyle/>
          <a:p>
            <a:r>
              <a:rPr lang="zh-CN" altLang="zh-CN" b="1" dirty="0">
                <a:solidFill>
                  <a:srgbClr val="000000"/>
                </a:solidFill>
                <a:ea typeface="宋体" panose="02010600030101010101" pitchFamily="2" charset="-122"/>
                <a:cs typeface="宋体" panose="02010600030101010101" pitchFamily="2" charset="-122"/>
              </a:rPr>
              <a:t>精细</a:t>
            </a:r>
            <a:r>
              <a:rPr lang="en-US" altLang="zh-CN" b="1" dirty="0">
                <a:solidFill>
                  <a:srgbClr val="000000"/>
                </a:solidFill>
                <a:ea typeface="宋体" panose="02010600030101010101" pitchFamily="2" charset="-122"/>
                <a:cs typeface="宋体" panose="02010600030101010101" pitchFamily="2" charset="-122"/>
              </a:rPr>
              <a:t>3D</a:t>
            </a:r>
            <a:r>
              <a:rPr lang="zh-CN" altLang="zh-CN" b="1" dirty="0">
                <a:solidFill>
                  <a:srgbClr val="000000"/>
                </a:solidFill>
                <a:ea typeface="宋体" panose="02010600030101010101" pitchFamily="2" charset="-122"/>
                <a:cs typeface="宋体" panose="02010600030101010101" pitchFamily="2" charset="-122"/>
              </a:rPr>
              <a:t>模型</a:t>
            </a:r>
            <a:endParaRPr lang="zh-CN" altLang="en-US" dirty="0"/>
          </a:p>
        </p:txBody>
      </p:sp>
    </p:spTree>
    <p:extLst>
      <p:ext uri="{BB962C8B-B14F-4D97-AF65-F5344CB8AC3E}">
        <p14:creationId xmlns:p14="http://schemas.microsoft.com/office/powerpoint/2010/main" val="16249880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graphicFrame>
        <p:nvGraphicFramePr>
          <p:cNvPr id="4" name="表格 3"/>
          <p:cNvGraphicFramePr>
            <a:graphicFrameLocks noGrp="1"/>
          </p:cNvGraphicFramePr>
          <p:nvPr>
            <p:extLst>
              <p:ext uri="{D42A27DB-BD31-4B8C-83A1-F6EECF244321}">
                <p14:modId xmlns:p14="http://schemas.microsoft.com/office/powerpoint/2010/main" val="1007801888"/>
              </p:ext>
            </p:extLst>
          </p:nvPr>
        </p:nvGraphicFramePr>
        <p:xfrm>
          <a:off x="2959603" y="2170787"/>
          <a:ext cx="4933951" cy="3254393"/>
        </p:xfrm>
        <a:graphic>
          <a:graphicData uri="http://schemas.openxmlformats.org/drawingml/2006/table">
            <a:tbl>
              <a:tblPr firstRow="1" firstCol="1" bandRow="1">
                <a:tableStyleId>{5C22544A-7EE6-4342-B048-85BDC9FD1C3A}</a:tableStyleId>
              </a:tblPr>
              <a:tblGrid>
                <a:gridCol w="1966705">
                  <a:extLst>
                    <a:ext uri="{9D8B030D-6E8A-4147-A177-3AD203B41FA5}">
                      <a16:colId xmlns:a16="http://schemas.microsoft.com/office/drawing/2014/main" val="2954644480"/>
                    </a:ext>
                  </a:extLst>
                </a:gridCol>
                <a:gridCol w="1966705">
                  <a:extLst>
                    <a:ext uri="{9D8B030D-6E8A-4147-A177-3AD203B41FA5}">
                      <a16:colId xmlns:a16="http://schemas.microsoft.com/office/drawing/2014/main" val="302836657"/>
                    </a:ext>
                  </a:extLst>
                </a:gridCol>
                <a:gridCol w="1000541">
                  <a:extLst>
                    <a:ext uri="{9D8B030D-6E8A-4147-A177-3AD203B41FA5}">
                      <a16:colId xmlns:a16="http://schemas.microsoft.com/office/drawing/2014/main" val="2826377615"/>
                    </a:ext>
                  </a:extLst>
                </a:gridCol>
              </a:tblGrid>
              <a:tr h="304180">
                <a:tc>
                  <a:txBody>
                    <a:bodyPr/>
                    <a:lstStyle/>
                    <a:p>
                      <a:pPr algn="ctr">
                        <a:spcAft>
                          <a:spcPts val="0"/>
                        </a:spcAft>
                      </a:pPr>
                      <a:r>
                        <a:rPr lang="zh-CN" sz="1200">
                          <a:effectLst/>
                        </a:rPr>
                        <a:t>文件</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200" dirty="0">
                          <a:effectLst/>
                        </a:rPr>
                        <a:t>详细说明</a:t>
                      </a:r>
                      <a:endParaRPr lang="zh-CN" sz="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200">
                          <a:effectLst/>
                        </a:rPr>
                        <a:t>说明</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3956828"/>
                  </a:ext>
                </a:extLst>
              </a:tr>
              <a:tr h="459920">
                <a:tc>
                  <a:txBody>
                    <a:bodyPr/>
                    <a:lstStyle/>
                    <a:p>
                      <a:pPr algn="ctr">
                        <a:spcAft>
                          <a:spcPts val="0"/>
                        </a:spcAft>
                      </a:pPr>
                      <a:r>
                        <a:rPr lang="en-US" sz="1050">
                          <a:effectLst/>
                        </a:rPr>
                        <a:t>CAD</a:t>
                      </a:r>
                      <a:r>
                        <a:rPr lang="zh-CN" sz="1050">
                          <a:effectLst/>
                        </a:rPr>
                        <a:t>文件（室内</a:t>
                      </a:r>
                      <a:r>
                        <a:rPr lang="en-US" sz="1050">
                          <a:effectLst/>
                        </a:rPr>
                        <a:t>/</a:t>
                      </a:r>
                      <a:r>
                        <a:rPr lang="zh-CN" sz="1050">
                          <a:effectLst/>
                        </a:rPr>
                        <a:t>室外）</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室内</a:t>
                      </a:r>
                      <a:r>
                        <a:rPr lang="en-US" sz="1050">
                          <a:effectLst/>
                        </a:rPr>
                        <a:t>CAD</a:t>
                      </a:r>
                      <a:r>
                        <a:rPr lang="zh-CN" sz="1050">
                          <a:effectLst/>
                        </a:rPr>
                        <a:t>功能区文字标注正确</a:t>
                      </a:r>
                      <a:endParaRPr lang="zh-CN" sz="1200">
                        <a:effectLst/>
                      </a:endParaRPr>
                    </a:p>
                    <a:p>
                      <a:pPr algn="just">
                        <a:spcAft>
                          <a:spcPts val="0"/>
                        </a:spcAft>
                      </a:pPr>
                      <a:r>
                        <a:rPr lang="zh-CN" sz="1050">
                          <a:effectLst/>
                        </a:rPr>
                        <a:t>室外</a:t>
                      </a:r>
                      <a:r>
                        <a:rPr lang="en-US" sz="1050">
                          <a:effectLst/>
                        </a:rPr>
                        <a:t>CAD</a:t>
                      </a:r>
                      <a:r>
                        <a:rPr lang="zh-CN" sz="1050">
                          <a:effectLst/>
                        </a:rPr>
                        <a:t>包含建筑，道路，绿地等 提供需要 </a:t>
                      </a:r>
                      <a:r>
                        <a:rPr lang="en-US" sz="1050">
                          <a:effectLst/>
                        </a:rPr>
                        <a:t>DWG </a:t>
                      </a:r>
                      <a:r>
                        <a:rPr lang="zh-CN" sz="1050">
                          <a:effectLst/>
                        </a:rPr>
                        <a:t>格式</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必选</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975053787"/>
                  </a:ext>
                </a:extLst>
              </a:tr>
              <a:tr h="479387">
                <a:tc rowSpan="2">
                  <a:txBody>
                    <a:bodyPr/>
                    <a:lstStyle/>
                    <a:p>
                      <a:pPr algn="ctr">
                        <a:spcAft>
                          <a:spcPts val="0"/>
                        </a:spcAft>
                      </a:pPr>
                      <a:r>
                        <a:rPr lang="zh-CN" sz="1050">
                          <a:effectLst/>
                        </a:rPr>
                        <a:t>照片</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现场勘测照片（作业区域各个角度齐全最好）</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可选</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57888740"/>
                  </a:ext>
                </a:extLst>
              </a:tr>
              <a:tr h="479387">
                <a:tc vMerge="1">
                  <a:txBody>
                    <a:bodyPr/>
                    <a:lstStyle/>
                    <a:p>
                      <a:endParaRPr lang="zh-CN" altLang="en-US"/>
                    </a:p>
                  </a:txBody>
                  <a:tcPr/>
                </a:tc>
                <a:tc>
                  <a:txBody>
                    <a:bodyPr/>
                    <a:lstStyle/>
                    <a:p>
                      <a:pPr algn="just">
                        <a:spcAft>
                          <a:spcPts val="0"/>
                        </a:spcAft>
                      </a:pPr>
                      <a:r>
                        <a:rPr lang="zh-CN" sz="1050" dirty="0">
                          <a:effectLst/>
                        </a:rPr>
                        <a:t>点云图</a:t>
                      </a:r>
                      <a:endParaRPr lang="zh-CN" sz="1200" dirty="0">
                        <a:effectLst/>
                      </a:endParaRPr>
                    </a:p>
                    <a:p>
                      <a:pPr algn="just">
                        <a:spcAft>
                          <a:spcPts val="0"/>
                        </a:spcAft>
                      </a:pPr>
                      <a:r>
                        <a:rPr lang="zh-CN" sz="1050" dirty="0">
                          <a:effectLst/>
                        </a:rPr>
                        <a:t>需标注方向、室内格局分区</a:t>
                      </a:r>
                      <a:endParaRPr lang="zh-CN" sz="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dirty="0">
                          <a:effectLst/>
                        </a:rPr>
                        <a:t>可选</a:t>
                      </a:r>
                      <a:endParaRPr lang="zh-CN" sz="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919509014"/>
                  </a:ext>
                </a:extLst>
              </a:tr>
              <a:tr h="698002">
                <a:tc>
                  <a:txBody>
                    <a:bodyPr/>
                    <a:lstStyle/>
                    <a:p>
                      <a:pPr algn="ctr">
                        <a:spcAft>
                          <a:spcPts val="0"/>
                        </a:spcAft>
                      </a:pPr>
                      <a:r>
                        <a:rPr lang="zh-CN" sz="1050">
                          <a:effectLst/>
                        </a:rPr>
                        <a:t>项目数据</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主要建筑、道路和设施的名称和指标及其相应电子文件资料</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如需要相关的数据，客户需提供</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721921973"/>
                  </a:ext>
                </a:extLst>
              </a:tr>
              <a:tr h="813377">
                <a:tc>
                  <a:txBody>
                    <a:bodyPr/>
                    <a:lstStyle/>
                    <a:p>
                      <a:pPr algn="ctr">
                        <a:spcAft>
                          <a:spcPts val="0"/>
                        </a:spcAft>
                      </a:pPr>
                      <a:r>
                        <a:rPr lang="zh-CN" sz="1050">
                          <a:effectLst/>
                        </a:rPr>
                        <a:t>路网</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a:effectLst/>
                        </a:rPr>
                        <a:t>提供实际可通行区域规划图</a:t>
                      </a:r>
                      <a:endParaRPr lang="zh-CN" sz="1200">
                        <a:effectLst/>
                      </a:endParaRPr>
                    </a:p>
                    <a:p>
                      <a:pPr algn="just">
                        <a:spcAft>
                          <a:spcPts val="0"/>
                        </a:spcAft>
                      </a:pPr>
                      <a:r>
                        <a:rPr lang="zh-CN" sz="1050">
                          <a:effectLst/>
                        </a:rPr>
                        <a:t>包括电梯、楼梯、各种通道等</a:t>
                      </a:r>
                      <a:endParaRPr lang="zh-CN" sz="120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tc>
                  <a:txBody>
                    <a:bodyPr/>
                    <a:lstStyle/>
                    <a:p>
                      <a:pPr algn="just">
                        <a:spcAft>
                          <a:spcPts val="0"/>
                        </a:spcAft>
                      </a:pPr>
                      <a:r>
                        <a:rPr lang="zh-CN" sz="1050" dirty="0">
                          <a:effectLst/>
                        </a:rPr>
                        <a:t>如需要相关的数据，客户需提供</a:t>
                      </a:r>
                      <a:endParaRPr lang="zh-CN" sz="1200" dirty="0">
                        <a:solidFill>
                          <a:srgbClr val="000000"/>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057742857"/>
                  </a:ext>
                </a:extLst>
              </a:tr>
            </a:tbl>
          </a:graphicData>
        </a:graphic>
      </p:graphicFrame>
      <p:sp>
        <p:nvSpPr>
          <p:cNvPr id="5" name="矩形 4"/>
          <p:cNvSpPr/>
          <p:nvPr/>
        </p:nvSpPr>
        <p:spPr>
          <a:xfrm>
            <a:off x="4092461" y="1329260"/>
            <a:ext cx="2954655" cy="369332"/>
          </a:xfrm>
          <a:prstGeom prst="rect">
            <a:avLst/>
          </a:prstGeom>
        </p:spPr>
        <p:txBody>
          <a:bodyPr wrap="none">
            <a:spAutoFit/>
          </a:bodyPr>
          <a:lstStyle/>
          <a:p>
            <a:r>
              <a:rPr lang="zh-CN" altLang="zh-CN" dirty="0">
                <a:ea typeface="宋体" panose="02010600030101010101" pitchFamily="2" charset="-122"/>
                <a:cs typeface="宋体" panose="02010600030101010101" pitchFamily="2" charset="-122"/>
              </a:rPr>
              <a:t>地图数据制作所需资料清单</a:t>
            </a:r>
            <a:endParaRPr lang="zh-CN" altLang="en-US" dirty="0"/>
          </a:p>
        </p:txBody>
      </p:sp>
      <p:sp>
        <p:nvSpPr>
          <p:cNvPr id="6" name="矩形 5"/>
          <p:cNvSpPr/>
          <p:nvPr/>
        </p:nvSpPr>
        <p:spPr>
          <a:xfrm>
            <a:off x="2911047" y="5425180"/>
            <a:ext cx="2582758" cy="261610"/>
          </a:xfrm>
          <a:prstGeom prst="rect">
            <a:avLst/>
          </a:prstGeom>
        </p:spPr>
        <p:txBody>
          <a:bodyPr wrap="none">
            <a:spAutoFit/>
          </a:bodyPr>
          <a:lstStyle/>
          <a:p>
            <a:r>
              <a:rPr lang="zh-CN" altLang="zh-CN" sz="1100" b="1" dirty="0">
                <a:solidFill>
                  <a:srgbClr val="000000"/>
                </a:solidFill>
                <a:ea typeface="宋体" panose="02010600030101010101" pitchFamily="2" charset="-122"/>
                <a:cs typeface="宋体" panose="02010600030101010101" pitchFamily="2" charset="-122"/>
              </a:rPr>
              <a:t>以上文件提供越全，地图准确度越高。</a:t>
            </a:r>
            <a:endParaRPr lang="zh-CN" altLang="en-US" sz="1100" dirty="0"/>
          </a:p>
        </p:txBody>
      </p:sp>
    </p:spTree>
    <p:extLst>
      <p:ext uri="{BB962C8B-B14F-4D97-AF65-F5344CB8AC3E}">
        <p14:creationId xmlns:p14="http://schemas.microsoft.com/office/powerpoint/2010/main" val="1486138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11" name="图片 10" descr="图片包含 游戏机, 乐高, 床&#10;&#10;描述已自动生成"/>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51008" y="1749221"/>
            <a:ext cx="4320540" cy="2583180"/>
          </a:xfrm>
          <a:prstGeom prst="rect">
            <a:avLst/>
          </a:prstGeom>
          <a:noFill/>
          <a:ln>
            <a:noFill/>
          </a:ln>
        </p:spPr>
      </p:pic>
      <p:sp>
        <p:nvSpPr>
          <p:cNvPr id="5" name="矩形 4"/>
          <p:cNvSpPr/>
          <p:nvPr/>
        </p:nvSpPr>
        <p:spPr>
          <a:xfrm>
            <a:off x="1051007" y="4912035"/>
            <a:ext cx="4418139" cy="738664"/>
          </a:xfrm>
          <a:prstGeom prst="rect">
            <a:avLst/>
          </a:prstGeom>
        </p:spPr>
        <p:txBody>
          <a:bodyPr wrap="square">
            <a:spAutoFit/>
          </a:bodyPr>
          <a:lstStyle/>
          <a:p>
            <a:pPr>
              <a:lnSpc>
                <a:spcPct val="150000"/>
              </a:lnSpc>
            </a:pPr>
            <a:r>
              <a:rPr lang="zh-CN" altLang="zh-CN" sz="1400" b="1" dirty="0">
                <a:solidFill>
                  <a:srgbClr val="000000"/>
                </a:solidFill>
                <a:ea typeface="宋体" panose="02010600030101010101" pitchFamily="2" charset="-122"/>
                <a:cs typeface="宋体" panose="02010600030101010101" pitchFamily="2" charset="-122"/>
              </a:rPr>
              <a:t>轻量化模型：</a:t>
            </a:r>
            <a:r>
              <a:rPr lang="zh-CN" altLang="zh-CN" sz="1400" dirty="0">
                <a:solidFill>
                  <a:srgbClr val="000000"/>
                </a:solidFill>
                <a:ea typeface="宋体" panose="02010600030101010101" pitchFamily="2" charset="-122"/>
                <a:cs typeface="宋体" panose="02010600030101010101" pitchFamily="2" charset="-122"/>
              </a:rPr>
              <a:t>根据平面</a:t>
            </a:r>
            <a:r>
              <a:rPr lang="en-US" altLang="zh-CN" sz="1400" dirty="0">
                <a:solidFill>
                  <a:srgbClr val="000000"/>
                </a:solidFill>
                <a:ea typeface="宋体" panose="02010600030101010101" pitchFamily="2" charset="-122"/>
                <a:cs typeface="宋体" panose="02010600030101010101" pitchFamily="2" charset="-122"/>
              </a:rPr>
              <a:t>CAD</a:t>
            </a:r>
            <a:r>
              <a:rPr lang="zh-CN" altLang="zh-CN" sz="1400" dirty="0">
                <a:solidFill>
                  <a:srgbClr val="000000"/>
                </a:solidFill>
                <a:ea typeface="宋体" panose="02010600030101010101" pitchFamily="2" charset="-122"/>
                <a:cs typeface="宋体" panose="02010600030101010101" pitchFamily="2" charset="-122"/>
              </a:rPr>
              <a:t>图纸制作。颜色自定义。如有重点强调区域可根据甲方提供的文件重点突出。</a:t>
            </a:r>
            <a:endParaRPr lang="zh-CN" altLang="en-US" sz="1400" dirty="0"/>
          </a:p>
        </p:txBody>
      </p:sp>
      <p:pic>
        <p:nvPicPr>
          <p:cNvPr id="16" name="图片 15"/>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487621" y="1749221"/>
            <a:ext cx="4005329" cy="2583180"/>
          </a:xfrm>
          <a:prstGeom prst="rect">
            <a:avLst/>
          </a:prstGeom>
          <a:noFill/>
          <a:ln>
            <a:noFill/>
          </a:ln>
        </p:spPr>
      </p:pic>
      <p:sp>
        <p:nvSpPr>
          <p:cNvPr id="6" name="矩形 5"/>
          <p:cNvSpPr/>
          <p:nvPr/>
        </p:nvSpPr>
        <p:spPr>
          <a:xfrm>
            <a:off x="6432708" y="4912035"/>
            <a:ext cx="4115154" cy="688202"/>
          </a:xfrm>
          <a:prstGeom prst="rect">
            <a:avLst/>
          </a:prstGeom>
        </p:spPr>
        <p:txBody>
          <a:bodyPr wrap="square">
            <a:spAutoFit/>
          </a:bodyPr>
          <a:lstStyle/>
          <a:p>
            <a:pPr>
              <a:lnSpc>
                <a:spcPct val="150000"/>
              </a:lnSpc>
              <a:spcAft>
                <a:spcPts val="0"/>
              </a:spcAft>
            </a:pPr>
            <a:r>
              <a:rPr lang="zh-CN" altLang="zh-CN" sz="1400" b="1" dirty="0">
                <a:solidFill>
                  <a:srgbClr val="000000"/>
                </a:solidFill>
                <a:latin typeface="宋体" panose="02010600030101010101" pitchFamily="2" charset="-122"/>
                <a:ea typeface="宋体" panose="02010600030101010101" pitchFamily="2" charset="-122"/>
                <a:cs typeface="宋体" panose="02010600030101010101" pitchFamily="2" charset="-122"/>
              </a:rPr>
              <a:t>精细模型：</a:t>
            </a:r>
            <a:r>
              <a:rPr lang="zh-CN" altLang="zh-CN" sz="1400" dirty="0">
                <a:solidFill>
                  <a:srgbClr val="000000"/>
                </a:solidFill>
                <a:latin typeface="宋体" panose="02010600030101010101" pitchFamily="2" charset="-122"/>
                <a:ea typeface="宋体" panose="02010600030101010101" pitchFamily="2" charset="-122"/>
                <a:cs typeface="宋体" panose="02010600030101010101" pitchFamily="2" charset="-122"/>
              </a:rPr>
              <a:t>需按照甲方提供的效果图，平面</a:t>
            </a:r>
            <a:r>
              <a:rPr lang="en-US" altLang="zh-CN" sz="1400" dirty="0">
                <a:solidFill>
                  <a:srgbClr val="000000"/>
                </a:solidFill>
                <a:latin typeface="宋体" panose="02010600030101010101" pitchFamily="2" charset="-122"/>
                <a:ea typeface="宋体" panose="02010600030101010101" pitchFamily="2" charset="-122"/>
                <a:cs typeface="宋体" panose="02010600030101010101" pitchFamily="2" charset="-122"/>
              </a:rPr>
              <a:t>CAD</a:t>
            </a:r>
            <a:r>
              <a:rPr lang="zh-CN" altLang="zh-CN" sz="1400" dirty="0">
                <a:solidFill>
                  <a:srgbClr val="000000"/>
                </a:solidFill>
                <a:latin typeface="宋体" panose="02010600030101010101" pitchFamily="2" charset="-122"/>
                <a:ea typeface="宋体" panose="02010600030101010101" pitchFamily="2" charset="-122"/>
                <a:cs typeface="宋体" panose="02010600030101010101" pitchFamily="2" charset="-122"/>
              </a:rPr>
              <a:t>图纸制作，贴图纹理与效果图保持一致。</a:t>
            </a:r>
            <a:endParaRPr lang="zh-CN" altLang="zh-CN" sz="1400" dirty="0">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15507060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pic>
        <p:nvPicPr>
          <p:cNvPr id="11" name="图片 10"/>
          <p:cNvPicPr/>
          <p:nvPr/>
        </p:nvPicPr>
        <p:blipFill>
          <a:blip r:embed="rId3">
            <a:extLst>
              <a:ext uri="{28A0092B-C50C-407E-A947-70E740481C1C}">
                <a14:useLocalDpi xmlns:a14="http://schemas.microsoft.com/office/drawing/2010/main" val="0"/>
              </a:ext>
            </a:extLst>
          </a:blip>
          <a:srcRect/>
          <a:stretch>
            <a:fillRect/>
          </a:stretch>
        </p:blipFill>
        <p:spPr bwMode="auto">
          <a:xfrm>
            <a:off x="1182561" y="1857039"/>
            <a:ext cx="3577590" cy="2868930"/>
          </a:xfrm>
          <a:prstGeom prst="rect">
            <a:avLst/>
          </a:prstGeom>
          <a:noFill/>
          <a:ln>
            <a:noFill/>
          </a:ln>
        </p:spPr>
      </p:pic>
      <p:sp>
        <p:nvSpPr>
          <p:cNvPr id="3" name="矩形 2"/>
          <p:cNvSpPr/>
          <p:nvPr/>
        </p:nvSpPr>
        <p:spPr>
          <a:xfrm>
            <a:off x="1509974" y="4812233"/>
            <a:ext cx="2582758" cy="261610"/>
          </a:xfrm>
          <a:prstGeom prst="rect">
            <a:avLst/>
          </a:prstGeom>
        </p:spPr>
        <p:txBody>
          <a:bodyPr wrap="none">
            <a:spAutoFit/>
          </a:bodyPr>
          <a:lstStyle/>
          <a:p>
            <a:r>
              <a:rPr lang="zh-CN" altLang="zh-CN" sz="1100" b="1" dirty="0">
                <a:solidFill>
                  <a:srgbClr val="000000"/>
                </a:solidFill>
                <a:ea typeface="宋体" panose="02010600030101010101" pitchFamily="2" charset="-122"/>
                <a:cs typeface="宋体" panose="02010600030101010101" pitchFamily="2" charset="-122"/>
              </a:rPr>
              <a:t>三维建筑要素模型生产技术路线示意图</a:t>
            </a:r>
            <a:endParaRPr lang="zh-CN" altLang="en-US" sz="1100" dirty="0"/>
          </a:p>
        </p:txBody>
      </p:sp>
      <p:sp>
        <p:nvSpPr>
          <p:cNvPr id="7" name="矩形 6"/>
          <p:cNvSpPr/>
          <p:nvPr/>
        </p:nvSpPr>
        <p:spPr>
          <a:xfrm>
            <a:off x="5975584" y="2103263"/>
            <a:ext cx="4517366" cy="2077492"/>
          </a:xfrm>
          <a:prstGeom prst="rect">
            <a:avLst/>
          </a:prstGeom>
        </p:spPr>
        <p:txBody>
          <a:bodyPr wrap="square">
            <a:spAutoFit/>
          </a:bodyPr>
          <a:lstStyle/>
          <a:p>
            <a:pPr lvl="2" hangingPunct="0">
              <a:lnSpc>
                <a:spcPct val="150000"/>
              </a:lnSpc>
              <a:spcBef>
                <a:spcPts val="1300"/>
              </a:spcBef>
              <a:spcAft>
                <a:spcPts val="0"/>
              </a:spcAft>
              <a:tabLst>
                <a:tab pos="274320" algn="l"/>
                <a:tab pos="457200" algn="l"/>
                <a:tab pos="228600" algn="l"/>
                <a:tab pos="274320" algn="l"/>
                <a:tab pos="457200" algn="l"/>
              </a:tabLst>
            </a:pPr>
            <a:r>
              <a:rPr lang="zh-CN" altLang="zh-CN" sz="1400" b="1" dirty="0">
                <a:latin typeface="宋体" panose="02010600030101010101" pitchFamily="2" charset="-122"/>
                <a:ea typeface="宋体" panose="02010600030101010101" pitchFamily="2" charset="-122"/>
                <a:cs typeface="宋体" panose="02010600030101010101" pitchFamily="2" charset="-122"/>
              </a:rPr>
              <a:t>项目制作的工艺流程</a:t>
            </a:r>
          </a:p>
          <a:p>
            <a:pPr marL="342900" lvl="0" indent="-342900" hangingPunct="0">
              <a:lnSpc>
                <a:spcPct val="150000"/>
              </a:lnSpc>
              <a:spcAft>
                <a:spcPts val="0"/>
              </a:spcAft>
              <a:buSzPts val="1200"/>
              <a:buFont typeface="宋体" panose="02010600030101010101" pitchFamily="2" charset="-122"/>
              <a:buAutoNum type="arabicParenR"/>
            </a:pPr>
            <a:r>
              <a:rPr lang="zh-CN" altLang="zh-CN" sz="1200" b="1" dirty="0">
                <a:latin typeface="宋体" panose="02010600030101010101" pitchFamily="2" charset="-122"/>
                <a:ea typeface="宋体" panose="02010600030101010101" pitchFamily="2" charset="-122"/>
                <a:cs typeface="宋体" panose="02010600030101010101" pitchFamily="2" charset="-122"/>
              </a:rPr>
              <a:t>收集资料</a:t>
            </a:r>
            <a:endParaRPr lang="zh-CN" altLang="zh-CN" sz="1200" dirty="0">
              <a:latin typeface="宋体" panose="02010600030101010101" pitchFamily="2" charset="-122"/>
              <a:ea typeface="宋体" panose="02010600030101010101" pitchFamily="2" charset="-122"/>
              <a:cs typeface="宋体" panose="02010600030101010101" pitchFamily="2" charset="-122"/>
            </a:endParaRPr>
          </a:p>
          <a:p>
            <a:pPr indent="304800" hangingPunct="0">
              <a:lnSpc>
                <a:spcPct val="150000"/>
              </a:lnSpc>
              <a:spcAft>
                <a:spcPts val="0"/>
              </a:spcAft>
            </a:pPr>
            <a:r>
              <a:rPr lang="zh-CN" altLang="zh-CN" sz="1200" dirty="0">
                <a:latin typeface="宋体" panose="02010600030101010101" pitchFamily="2" charset="-122"/>
                <a:ea typeface="宋体" panose="02010600030101010101" pitchFamily="2" charset="-122"/>
                <a:cs typeface="宋体" panose="02010600030101010101" pitchFamily="2" charset="-122"/>
              </a:rPr>
              <a:t>包括三维模型制作所需要的基础图等相关现状模型制作资料，以及规划方案的平面图及效果图。</a:t>
            </a:r>
          </a:p>
          <a:p>
            <a:pPr marL="342900" lvl="0" indent="-342900">
              <a:lnSpc>
                <a:spcPct val="150000"/>
              </a:lnSpc>
              <a:spcAft>
                <a:spcPts val="0"/>
              </a:spcAft>
              <a:buFont typeface="Wingdings" panose="05000000000000000000" pitchFamily="2" charset="2"/>
              <a:buChar char=""/>
            </a:pPr>
            <a:r>
              <a:rPr lang="zh-CN" altLang="zh-CN" sz="1200" b="1" dirty="0">
                <a:latin typeface="宋体" panose="02010600030101010101" pitchFamily="2" charset="-122"/>
                <a:ea typeface="宋体" panose="02010600030101010101" pitchFamily="2" charset="-122"/>
                <a:cs typeface="宋体" panose="02010600030101010101" pitchFamily="2" charset="-122"/>
              </a:rPr>
              <a:t>点云图采集实施过程</a:t>
            </a:r>
            <a:endParaRPr lang="zh-CN" altLang="zh-CN" sz="1200" dirty="0">
              <a:latin typeface="宋体" panose="02010600030101010101" pitchFamily="2" charset="-122"/>
              <a:ea typeface="宋体" panose="02010600030101010101" pitchFamily="2" charset="-122"/>
              <a:cs typeface="宋体" panose="02010600030101010101" pitchFamily="2" charset="-122"/>
            </a:endParaRPr>
          </a:p>
          <a:p>
            <a:pPr indent="228600">
              <a:lnSpc>
                <a:spcPct val="150000"/>
              </a:lnSpc>
              <a:spcAft>
                <a:spcPts val="0"/>
              </a:spcAft>
            </a:pPr>
            <a:r>
              <a:rPr lang="zh-CN" altLang="zh-CN" sz="1200" dirty="0">
                <a:latin typeface="宋体" panose="02010600030101010101" pitchFamily="2" charset="-122"/>
                <a:ea typeface="宋体" panose="02010600030101010101" pitchFamily="2" charset="-122"/>
                <a:cs typeface="宋体" panose="02010600030101010101" pitchFamily="2" charset="-122"/>
              </a:rPr>
              <a:t>点云采集的实施过程包括现场三维数据采集、三维建模、地图制作等过程。</a:t>
            </a:r>
            <a:endParaRPr lang="zh-CN" altLang="zh-CN" sz="1200" dirty="0">
              <a:effectLst/>
              <a:latin typeface="宋体" panose="02010600030101010101" pitchFamily="2" charset="-122"/>
              <a:ea typeface="宋体" panose="02010600030101010101" pitchFamily="2" charset="-122"/>
              <a:cs typeface="宋体" panose="02010600030101010101" pitchFamily="2" charset="-122"/>
            </a:endParaRPr>
          </a:p>
        </p:txBody>
      </p:sp>
    </p:spTree>
    <p:extLst>
      <p:ext uri="{BB962C8B-B14F-4D97-AF65-F5344CB8AC3E}">
        <p14:creationId xmlns:p14="http://schemas.microsoft.com/office/powerpoint/2010/main" val="34243877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sp>
        <p:nvSpPr>
          <p:cNvPr id="3" name="矩形 2"/>
          <p:cNvSpPr/>
          <p:nvPr/>
        </p:nvSpPr>
        <p:spPr>
          <a:xfrm>
            <a:off x="5597130" y="1839786"/>
            <a:ext cx="4988332" cy="3647152"/>
          </a:xfrm>
          <a:prstGeom prst="rect">
            <a:avLst/>
          </a:prstGeom>
        </p:spPr>
        <p:txBody>
          <a:bodyPr wrap="square">
            <a:spAutoFit/>
          </a:bodyPr>
          <a:lstStyle/>
          <a:p>
            <a:pPr marL="342900" lvl="0" indent="-342900">
              <a:lnSpc>
                <a:spcPct val="150000"/>
              </a:lnSpc>
              <a:spcAft>
                <a:spcPts val="0"/>
              </a:spcAft>
              <a:buFont typeface="Wingdings" panose="05000000000000000000" pitchFamily="2" charset="2"/>
              <a:buChar char=""/>
            </a:pPr>
            <a:r>
              <a:rPr lang="zh-CN" altLang="zh-CN" sz="1400" b="1" dirty="0">
                <a:latin typeface="宋体" panose="02010600030101010101" pitchFamily="2" charset="-122"/>
                <a:ea typeface="宋体" panose="02010600030101010101" pitchFamily="2" charset="-122"/>
                <a:cs typeface="宋体" panose="02010600030101010101" pitchFamily="2" charset="-122"/>
              </a:rPr>
              <a:t>工作过程</a:t>
            </a:r>
            <a:endParaRPr lang="zh-CN" altLang="zh-CN" sz="1400" dirty="0">
              <a:latin typeface="宋体" panose="02010600030101010101" pitchFamily="2" charset="-122"/>
              <a:ea typeface="宋体" panose="02010600030101010101" pitchFamily="2" charset="-122"/>
              <a:cs typeface="宋体" panose="02010600030101010101" pitchFamily="2" charset="-122"/>
            </a:endParaRPr>
          </a:p>
          <a:p>
            <a:pPr>
              <a:lnSpc>
                <a:spcPct val="150000"/>
              </a:lnSpc>
              <a:spcAft>
                <a:spcPts val="0"/>
              </a:spcAft>
            </a:pPr>
            <a:r>
              <a:rPr lang="zh-CN" altLang="zh-CN" sz="1400" dirty="0">
                <a:latin typeface="宋体" panose="02010600030101010101" pitchFamily="2" charset="-122"/>
                <a:ea typeface="宋体" panose="02010600030101010101" pitchFamily="2" charset="-122"/>
                <a:cs typeface="宋体" panose="02010600030101010101" pitchFamily="2" charset="-122"/>
              </a:rPr>
              <a:t>第一步，测图人员推着室内信息采集装置在室内场所行走，完成室内地图的构建。</a:t>
            </a:r>
          </a:p>
          <a:p>
            <a:pPr>
              <a:lnSpc>
                <a:spcPct val="150000"/>
              </a:lnSpc>
              <a:spcAft>
                <a:spcPts val="0"/>
              </a:spcAft>
            </a:pPr>
            <a:r>
              <a:rPr lang="zh-CN" altLang="zh-CN" sz="1400" dirty="0">
                <a:latin typeface="宋体" panose="02010600030101010101" pitchFamily="2" charset="-122"/>
                <a:ea typeface="宋体" panose="02010600030101010101" pitchFamily="2" charset="-122"/>
                <a:cs typeface="宋体" panose="02010600030101010101" pitchFamily="2" charset="-122"/>
              </a:rPr>
              <a:t>第二步，载入刚刚建立的地图（如果地图之前已经扫描建立过，且场景没有太大变化的情况下，可以省略第一步，直接进入第二步）。测图人员沿着室内主要道路和区域，推着室内信息采集装置行走。当道路和区域宽度大于</a:t>
            </a:r>
            <a:r>
              <a:rPr lang="en-US" altLang="zh-CN" sz="1400" dirty="0">
                <a:latin typeface="宋体" panose="02010600030101010101" pitchFamily="2" charset="-122"/>
                <a:ea typeface="宋体" panose="02010600030101010101" pitchFamily="2" charset="-122"/>
                <a:cs typeface="宋体" panose="02010600030101010101" pitchFamily="2" charset="-122"/>
              </a:rPr>
              <a:t>1m</a:t>
            </a:r>
            <a:r>
              <a:rPr lang="zh-CN" altLang="zh-CN" sz="1400" dirty="0">
                <a:latin typeface="宋体" panose="02010600030101010101" pitchFamily="2" charset="-122"/>
                <a:ea typeface="宋体" panose="02010600030101010101" pitchFamily="2" charset="-122"/>
                <a:cs typeface="宋体" panose="02010600030101010101" pitchFamily="2" charset="-122"/>
              </a:rPr>
              <a:t>时，以</a:t>
            </a:r>
            <a:r>
              <a:rPr lang="en-US" altLang="zh-CN" sz="1400" dirty="0">
                <a:latin typeface="宋体" panose="02010600030101010101" pitchFamily="2" charset="-122"/>
                <a:ea typeface="宋体" panose="02010600030101010101" pitchFamily="2" charset="-122"/>
                <a:cs typeface="宋体" panose="02010600030101010101" pitchFamily="2" charset="-122"/>
              </a:rPr>
              <a:t>1m</a:t>
            </a:r>
            <a:r>
              <a:rPr lang="zh-CN" altLang="zh-CN" sz="1400" dirty="0">
                <a:latin typeface="宋体" panose="02010600030101010101" pitchFamily="2" charset="-122"/>
                <a:ea typeface="宋体" panose="02010600030101010101" pitchFamily="2" charset="-122"/>
                <a:cs typeface="宋体" panose="02010600030101010101" pitchFamily="2" charset="-122"/>
              </a:rPr>
              <a:t>间隔设计行走路线，遍历所有的道路和区域。在测图人员行走的过程中，主机内的定位程序使用自适应粒子滤波算法将雷达扫描线与地图进行匹配，从而获得小车的准确定位。</a:t>
            </a:r>
            <a:endParaRPr lang="en-US" altLang="zh-CN" sz="1400" dirty="0">
              <a:latin typeface="宋体" panose="02010600030101010101" pitchFamily="2" charset="-122"/>
              <a:ea typeface="宋体" panose="02010600030101010101" pitchFamily="2" charset="-122"/>
              <a:cs typeface="宋体" panose="02010600030101010101" pitchFamily="2" charset="-122"/>
            </a:endParaRPr>
          </a:p>
          <a:p>
            <a:pPr>
              <a:lnSpc>
                <a:spcPct val="150000"/>
              </a:lnSpc>
              <a:spcAft>
                <a:spcPts val="0"/>
              </a:spcAft>
            </a:pPr>
            <a:r>
              <a:rPr lang="zh-CN" altLang="en-US" sz="1400" b="1" dirty="0">
                <a:latin typeface="宋体" panose="02010600030101010101" pitchFamily="2" charset="-122"/>
                <a:ea typeface="宋体" panose="02010600030101010101" pitchFamily="2" charset="-122"/>
                <a:cs typeface="宋体" panose="02010600030101010101" pitchFamily="2" charset="-122"/>
              </a:rPr>
              <a:t>人员进场需要客户协调现场人员配合工作需要。</a:t>
            </a:r>
            <a:endParaRPr lang="zh-CN" altLang="zh-CN" sz="1400" b="1" dirty="0">
              <a:latin typeface="宋体" panose="02010600030101010101" pitchFamily="2" charset="-122"/>
              <a:ea typeface="宋体" panose="02010600030101010101" pitchFamily="2" charset="-122"/>
              <a:cs typeface="宋体" panose="02010600030101010101" pitchFamily="2" charset="-122"/>
            </a:endParaRPr>
          </a:p>
        </p:txBody>
      </p:sp>
      <p:pic>
        <p:nvPicPr>
          <p:cNvPr id="12" name="图片 11" descr="戴帽子的人在街道上走&#10;&#10;描述已自动生成"/>
          <p:cNvPicPr/>
          <p:nvPr/>
        </p:nvPicPr>
        <p:blipFill>
          <a:blip r:embed="rId3">
            <a:extLst>
              <a:ext uri="{28A0092B-C50C-407E-A947-70E740481C1C}">
                <a14:useLocalDpi xmlns:a14="http://schemas.microsoft.com/office/drawing/2010/main" val="0"/>
              </a:ext>
            </a:extLst>
          </a:blip>
          <a:srcRect/>
          <a:stretch>
            <a:fillRect/>
          </a:stretch>
        </p:blipFill>
        <p:spPr bwMode="auto">
          <a:xfrm>
            <a:off x="1525320" y="1701662"/>
            <a:ext cx="2552065" cy="3816985"/>
          </a:xfrm>
          <a:prstGeom prst="rect">
            <a:avLst/>
          </a:prstGeom>
          <a:noFill/>
          <a:ln>
            <a:noFill/>
          </a:ln>
        </p:spPr>
      </p:pic>
    </p:spTree>
    <p:extLst>
      <p:ext uri="{BB962C8B-B14F-4D97-AF65-F5344CB8AC3E}">
        <p14:creationId xmlns:p14="http://schemas.microsoft.com/office/powerpoint/2010/main" val="13024437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菱形 9"/>
          <p:cNvSpPr/>
          <p:nvPr/>
        </p:nvSpPr>
        <p:spPr>
          <a:xfrm>
            <a:off x="513138" y="350562"/>
            <a:ext cx="669423" cy="661779"/>
          </a:xfrm>
          <a:prstGeom prst="diamond">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文本框 13"/>
          <p:cNvSpPr txBox="1"/>
          <p:nvPr/>
        </p:nvSpPr>
        <p:spPr>
          <a:xfrm>
            <a:off x="1202882" y="307118"/>
            <a:ext cx="3196942" cy="461665"/>
          </a:xfrm>
          <a:prstGeom prst="rect">
            <a:avLst/>
          </a:prstGeom>
          <a:noFill/>
        </p:spPr>
        <p:txBody>
          <a:bodyPr vert="horz" wrap="square" rtlCol="0">
            <a:spAutoFit/>
          </a:bodyPr>
          <a:lstStyle/>
          <a:p>
            <a:r>
              <a:rPr lang="zh-CN" altLang="en-US" sz="2400" spc="300" dirty="0">
                <a:solidFill>
                  <a:schemeClr val="tx1">
                    <a:lumMod val="75000"/>
                    <a:lumOff val="25000"/>
                  </a:schemeClr>
                </a:solidFill>
                <a:latin typeface="思源宋体 CN" panose="02020700000000000000" pitchFamily="18" charset="-122"/>
                <a:ea typeface="思源宋体 CN" panose="02020700000000000000" pitchFamily="18" charset="-122"/>
              </a:rPr>
              <a:t>地图制作</a:t>
            </a:r>
          </a:p>
        </p:txBody>
      </p:sp>
      <p:sp>
        <p:nvSpPr>
          <p:cNvPr id="15" name="矩形 14"/>
          <p:cNvSpPr/>
          <p:nvPr/>
        </p:nvSpPr>
        <p:spPr>
          <a:xfrm>
            <a:off x="1224387" y="642591"/>
            <a:ext cx="2651984" cy="381066"/>
          </a:xfrm>
          <a:prstGeom prst="rect">
            <a:avLst/>
          </a:prstGeom>
        </p:spPr>
        <p:txBody>
          <a:bodyPr vert="horz" wrap="square">
            <a:spAutoFit/>
          </a:bodyPr>
          <a:lstStyle/>
          <a:p>
            <a:pPr algn="dist">
              <a:lnSpc>
                <a:spcPct val="150000"/>
              </a:lnSpc>
            </a:pPr>
            <a:r>
              <a:rPr lang="en-US" altLang="zh-CN" sz="1400" dirty="0"/>
              <a:t>Warehouse management</a:t>
            </a:r>
            <a:endParaRPr lang="zh-CN" altLang="en-US" sz="1400" dirty="0">
              <a:solidFill>
                <a:schemeClr val="tx1">
                  <a:lumMod val="75000"/>
                  <a:lumOff val="25000"/>
                </a:schemeClr>
              </a:solidFill>
              <a:latin typeface="思源宋体" panose="02020400000000000000" pitchFamily="18" charset="-122"/>
              <a:ea typeface="思源宋体" panose="02020400000000000000" pitchFamily="18" charset="-122"/>
              <a:cs typeface="Arial" panose="020B0604020202020204" pitchFamily="34" charset="0"/>
            </a:endParaRPr>
          </a:p>
        </p:txBody>
      </p:sp>
      <p:sp>
        <p:nvSpPr>
          <p:cNvPr id="17" name="菱形 16"/>
          <p:cNvSpPr/>
          <p:nvPr/>
        </p:nvSpPr>
        <p:spPr>
          <a:xfrm>
            <a:off x="285173" y="419884"/>
            <a:ext cx="592457" cy="592457"/>
          </a:xfrm>
          <a:prstGeom prst="diamond">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 name="矩形 1"/>
          <p:cNvSpPr/>
          <p:nvPr/>
        </p:nvSpPr>
        <p:spPr>
          <a:xfrm rot="18900000" flipH="1">
            <a:off x="205638" y="-541784"/>
            <a:ext cx="427821" cy="1358216"/>
          </a:xfrm>
          <a:prstGeom prst="rect">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1" name="图片 50"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2"/>
          <a:stretch>
            <a:fillRect/>
          </a:stretch>
        </p:blipFill>
        <p:spPr>
          <a:xfrm>
            <a:off x="10492950" y="90030"/>
            <a:ext cx="1645497" cy="434176"/>
          </a:xfrm>
          <a:prstGeom prst="rect">
            <a:avLst/>
          </a:prstGeom>
        </p:spPr>
      </p:pic>
      <p:sp>
        <p:nvSpPr>
          <p:cNvPr id="3" name="文本框 2"/>
          <p:cNvSpPr txBox="1"/>
          <p:nvPr/>
        </p:nvSpPr>
        <p:spPr>
          <a:xfrm>
            <a:off x="3918197" y="307118"/>
            <a:ext cx="5346573" cy="6324808"/>
          </a:xfrm>
          <a:prstGeom prst="rect">
            <a:avLst/>
          </a:prstGeom>
          <a:noFill/>
        </p:spPr>
        <p:txBody>
          <a:bodyPr wrap="square" rtlCol="0">
            <a:spAutoFit/>
          </a:bodyPr>
          <a:lstStyle/>
          <a:p>
            <a:pPr>
              <a:lnSpc>
                <a:spcPct val="150000"/>
              </a:lnSpc>
            </a:pPr>
            <a:r>
              <a:rPr lang="zh-CN" altLang="en-US" b="1" dirty="0" smtClean="0"/>
              <a:t>待协调事项：</a:t>
            </a:r>
            <a:endParaRPr lang="en-US" altLang="zh-CN" b="1" dirty="0"/>
          </a:p>
          <a:p>
            <a:pPr>
              <a:lnSpc>
                <a:spcPct val="150000"/>
              </a:lnSpc>
            </a:pPr>
            <a:r>
              <a:rPr lang="en-US" altLang="zh-CN" dirty="0"/>
              <a:t>1</a:t>
            </a:r>
            <a:r>
              <a:rPr lang="zh-CN" altLang="en-US" dirty="0"/>
              <a:t>、项目入场后需要客户现场人员需提供给我们项目进场人员便利条件；</a:t>
            </a:r>
            <a:endParaRPr lang="en-US" altLang="zh-CN" dirty="0"/>
          </a:p>
          <a:p>
            <a:pPr>
              <a:lnSpc>
                <a:spcPct val="150000"/>
              </a:lnSpc>
            </a:pPr>
            <a:r>
              <a:rPr lang="en-US" altLang="zh-CN" dirty="0"/>
              <a:t>2</a:t>
            </a:r>
            <a:r>
              <a:rPr lang="zh-CN" altLang="en-US" dirty="0"/>
              <a:t>、蓝牙</a:t>
            </a:r>
            <a:r>
              <a:rPr lang="en-US" altLang="zh-CN" dirty="0"/>
              <a:t>AOA</a:t>
            </a:r>
            <a:r>
              <a:rPr lang="zh-CN" altLang="en-US" dirty="0"/>
              <a:t>基站</a:t>
            </a:r>
            <a:r>
              <a:rPr lang="en-US" altLang="zh-CN" dirty="0"/>
              <a:t>GA30</a:t>
            </a:r>
            <a:r>
              <a:rPr lang="zh-CN" altLang="en-US" dirty="0"/>
              <a:t>目前市场没有量产，需要一定工期；</a:t>
            </a:r>
            <a:endParaRPr lang="en-US" altLang="zh-CN" dirty="0"/>
          </a:p>
          <a:p>
            <a:pPr>
              <a:lnSpc>
                <a:spcPct val="150000"/>
              </a:lnSpc>
            </a:pPr>
            <a:r>
              <a:rPr lang="en-US" altLang="zh-CN" dirty="0"/>
              <a:t>3</a:t>
            </a:r>
            <a:r>
              <a:rPr lang="zh-CN" altLang="en-US" dirty="0"/>
              <a:t>、需要客户将准备安装的安全帽提供到我司一台，进行测试帽签与安全帽的贴合</a:t>
            </a:r>
            <a:r>
              <a:rPr lang="zh-CN" altLang="en-US" dirty="0" smtClean="0"/>
              <a:t>；</a:t>
            </a:r>
            <a:endParaRPr lang="en-US" altLang="zh-CN" dirty="0" smtClean="0"/>
          </a:p>
          <a:p>
            <a:pPr>
              <a:lnSpc>
                <a:spcPct val="150000"/>
              </a:lnSpc>
            </a:pPr>
            <a:r>
              <a:rPr lang="en-US" altLang="zh-CN" dirty="0" smtClean="0"/>
              <a:t>4</a:t>
            </a:r>
            <a:r>
              <a:rPr lang="zh-CN" altLang="en-US" dirty="0" smtClean="0"/>
              <a:t>、</a:t>
            </a:r>
            <a:r>
              <a:rPr lang="en-US" altLang="zh-CN" dirty="0" smtClean="0"/>
              <a:t>CAD</a:t>
            </a:r>
            <a:r>
              <a:rPr lang="zh-CN" altLang="en-US" dirty="0" smtClean="0"/>
              <a:t>图</a:t>
            </a:r>
            <a:endParaRPr lang="en-US" altLang="zh-CN" dirty="0" smtClean="0"/>
          </a:p>
          <a:p>
            <a:pPr>
              <a:lnSpc>
                <a:spcPct val="150000"/>
              </a:lnSpc>
            </a:pPr>
            <a:r>
              <a:rPr lang="en-US" altLang="zh-CN" dirty="0" smtClean="0"/>
              <a:t>5</a:t>
            </a:r>
            <a:r>
              <a:rPr lang="zh-CN" altLang="en-US" dirty="0" smtClean="0"/>
              <a:t>、与一期对接</a:t>
            </a:r>
            <a:endParaRPr lang="en-US" altLang="zh-CN" dirty="0" smtClean="0"/>
          </a:p>
          <a:p>
            <a:pPr>
              <a:lnSpc>
                <a:spcPct val="150000"/>
              </a:lnSpc>
            </a:pPr>
            <a:r>
              <a:rPr lang="en-US" altLang="zh-CN" dirty="0" smtClean="0"/>
              <a:t>6</a:t>
            </a:r>
            <a:r>
              <a:rPr lang="zh-CN" altLang="en-US" dirty="0" smtClean="0"/>
              <a:t>、卡片的订制，丝印</a:t>
            </a:r>
            <a:endParaRPr lang="en-US" altLang="zh-CN" dirty="0" smtClean="0"/>
          </a:p>
          <a:p>
            <a:pPr>
              <a:lnSpc>
                <a:spcPct val="150000"/>
              </a:lnSpc>
            </a:pPr>
            <a:r>
              <a:rPr lang="en-US" altLang="zh-CN" dirty="0" smtClean="0"/>
              <a:t>7</a:t>
            </a:r>
            <a:r>
              <a:rPr lang="zh-CN" altLang="en-US" dirty="0" smtClean="0"/>
              <a:t>、卡槽的安装</a:t>
            </a:r>
            <a:endParaRPr lang="en-US" altLang="zh-CN" dirty="0" smtClean="0"/>
          </a:p>
          <a:p>
            <a:pPr>
              <a:lnSpc>
                <a:spcPct val="150000"/>
              </a:lnSpc>
            </a:pPr>
            <a:r>
              <a:rPr lang="en-US" altLang="zh-CN" dirty="0" smtClean="0"/>
              <a:t>8</a:t>
            </a:r>
            <a:r>
              <a:rPr lang="zh-CN" altLang="en-US" dirty="0" smtClean="0"/>
              <a:t>、</a:t>
            </a:r>
            <a:r>
              <a:rPr lang="en-US" altLang="zh-CN" dirty="0" smtClean="0"/>
              <a:t>Lora</a:t>
            </a:r>
            <a:r>
              <a:rPr lang="zh-CN" altLang="en-US" dirty="0" smtClean="0"/>
              <a:t>的传输协议</a:t>
            </a:r>
            <a:endParaRPr lang="en-US" altLang="zh-CN" dirty="0" smtClean="0"/>
          </a:p>
          <a:p>
            <a:pPr>
              <a:lnSpc>
                <a:spcPct val="150000"/>
              </a:lnSpc>
            </a:pPr>
            <a:r>
              <a:rPr lang="en-US" altLang="zh-CN" dirty="0" smtClean="0"/>
              <a:t>9</a:t>
            </a:r>
            <a:r>
              <a:rPr lang="zh-CN" altLang="en-US" dirty="0" smtClean="0"/>
              <a:t>、基站安装的</a:t>
            </a:r>
            <a:r>
              <a:rPr lang="en-US" altLang="zh-CN" dirty="0" smtClean="0"/>
              <a:t>checklist</a:t>
            </a:r>
          </a:p>
          <a:p>
            <a:pPr>
              <a:lnSpc>
                <a:spcPct val="150000"/>
              </a:lnSpc>
            </a:pPr>
            <a:r>
              <a:rPr lang="en-US" altLang="zh-CN" dirty="0" smtClean="0"/>
              <a:t>10</a:t>
            </a:r>
            <a:r>
              <a:rPr lang="zh-CN" altLang="en-US" dirty="0" smtClean="0"/>
              <a:t>、</a:t>
            </a:r>
            <a:r>
              <a:rPr lang="en-US" altLang="zh-CN" dirty="0" err="1" smtClean="0"/>
              <a:t>Ibeacon</a:t>
            </a:r>
            <a:r>
              <a:rPr lang="zh-CN" altLang="en-US" dirty="0" smtClean="0"/>
              <a:t>和</a:t>
            </a:r>
            <a:r>
              <a:rPr lang="en-US" altLang="zh-CN" dirty="0" smtClean="0"/>
              <a:t>GPS</a:t>
            </a:r>
            <a:r>
              <a:rPr lang="zh-CN" altLang="en-US" dirty="0" smtClean="0"/>
              <a:t>的数据格式</a:t>
            </a:r>
            <a:endParaRPr lang="en-US" altLang="zh-CN" dirty="0" smtClean="0"/>
          </a:p>
          <a:p>
            <a:pPr>
              <a:lnSpc>
                <a:spcPct val="150000"/>
              </a:lnSpc>
            </a:pPr>
            <a:r>
              <a:rPr lang="en-US" altLang="zh-CN" dirty="0" smtClean="0"/>
              <a:t>11</a:t>
            </a:r>
            <a:r>
              <a:rPr lang="zh-CN" altLang="en-US" dirty="0" smtClean="0"/>
              <a:t>、地图标定，</a:t>
            </a:r>
            <a:r>
              <a:rPr lang="en-US" altLang="zh-CN" dirty="0" smtClean="0"/>
              <a:t>RTK</a:t>
            </a:r>
            <a:r>
              <a:rPr lang="zh-CN" altLang="en-US" dirty="0" smtClean="0"/>
              <a:t>标定</a:t>
            </a:r>
            <a:endParaRPr lang="zh-CN" altLang="en-US" dirty="0"/>
          </a:p>
        </p:txBody>
      </p:sp>
    </p:spTree>
    <p:extLst>
      <p:ext uri="{BB962C8B-B14F-4D97-AF65-F5344CB8AC3E}">
        <p14:creationId xmlns:p14="http://schemas.microsoft.com/office/powerpoint/2010/main" val="35788253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26543" y="877355"/>
            <a:ext cx="10214855" cy="5152652"/>
          </a:xfrm>
          <a:prstGeom prst="rect">
            <a:avLst/>
          </a:prstGeom>
        </p:spPr>
      </p:pic>
      <p:sp>
        <p:nvSpPr>
          <p:cNvPr id="6" name="矩形 5"/>
          <p:cNvSpPr/>
          <p:nvPr/>
        </p:nvSpPr>
        <p:spPr>
          <a:xfrm>
            <a:off x="759125" y="1844824"/>
            <a:ext cx="10748513" cy="3262014"/>
          </a:xfrm>
          <a:prstGeom prst="rect">
            <a:avLst/>
          </a:prstGeom>
          <a:solidFill>
            <a:schemeClr val="tx1">
              <a:lumMod val="95000"/>
              <a:lumOff val="5000"/>
              <a:alpha val="5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3195090" y="2545036"/>
            <a:ext cx="576064"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3195090" y="2545036"/>
            <a:ext cx="0" cy="51529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3233627" y="4681499"/>
            <a:ext cx="498403"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3233626" y="4321459"/>
            <a:ext cx="0" cy="36004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375982" y="2513760"/>
            <a:ext cx="504056"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8880039" y="2510866"/>
            <a:ext cx="1969" cy="51529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504148" y="4683613"/>
            <a:ext cx="506025"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a:off x="9010172" y="4326288"/>
            <a:ext cx="0" cy="36004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sp>
        <p:nvSpPr>
          <p:cNvPr id="35" name="TextBox 34"/>
          <p:cNvSpPr txBox="1"/>
          <p:nvPr/>
        </p:nvSpPr>
        <p:spPr>
          <a:xfrm>
            <a:off x="3624989" y="2675614"/>
            <a:ext cx="5004556" cy="769441"/>
          </a:xfrm>
          <a:prstGeom prst="rect">
            <a:avLst/>
          </a:prstGeom>
          <a:noFill/>
        </p:spPr>
        <p:txBody>
          <a:bodyPr wrap="square" rtlCol="0">
            <a:spAutoFit/>
          </a:bodyPr>
          <a:lstStyle/>
          <a:p>
            <a:pPr algn="ctr"/>
            <a:r>
              <a:rPr lang="zh-CN" altLang="en-US" sz="4400" dirty="0">
                <a:solidFill>
                  <a:schemeClr val="bg1"/>
                </a:solidFill>
                <a:latin typeface="微软雅黑" panose="020B0503020204020204" pitchFamily="34" charset="-122"/>
                <a:ea typeface="微软雅黑" panose="020B0503020204020204" pitchFamily="34" charset="-122"/>
              </a:rPr>
              <a:t>谢谢收听！</a:t>
            </a:r>
          </a:p>
        </p:txBody>
      </p:sp>
      <p:sp>
        <p:nvSpPr>
          <p:cNvPr id="17" name="TextBox 16"/>
          <p:cNvSpPr txBox="1"/>
          <p:nvPr/>
        </p:nvSpPr>
        <p:spPr>
          <a:xfrm>
            <a:off x="3049405" y="3675577"/>
            <a:ext cx="5849371" cy="583565"/>
          </a:xfrm>
          <a:prstGeom prst="rect">
            <a:avLst/>
          </a:prstGeom>
          <a:noFill/>
          <a:scene3d>
            <a:camera prst="perspectiveFront" fov="7200000"/>
            <a:lightRig rig="threePt" dir="t"/>
          </a:scene3d>
        </p:spPr>
        <p:txBody>
          <a:bodyPr wrap="square" rtlCol="0">
            <a:spAutoFit/>
          </a:bodyPr>
          <a:lstStyle/>
          <a:p>
            <a:pPr algn="ctr"/>
            <a:r>
              <a:rPr lang="zh-CN" altLang="en-US" sz="3200" b="1" dirty="0">
                <a:solidFill>
                  <a:schemeClr val="bg1"/>
                </a:solidFill>
                <a:latin typeface="微软雅黑" panose="020B0503020204020204" pitchFamily="34" charset="-122"/>
                <a:ea typeface="微软雅黑" panose="020B0503020204020204" pitchFamily="34" charset="-122"/>
              </a:rPr>
              <a:t>砥砺前行      乘风破浪</a:t>
            </a:r>
          </a:p>
        </p:txBody>
      </p:sp>
      <p:pic>
        <p:nvPicPr>
          <p:cNvPr id="14" name="图片 13" descr="蓝色的标志&#10;&#10;描述已自动生成">
            <a:extLst>
              <a:ext uri="{FF2B5EF4-FFF2-40B4-BE49-F238E27FC236}">
                <a16:creationId xmlns:a16="http://schemas.microsoft.com/office/drawing/2014/main" id="{D5736507-2215-4B4B-985B-13CA7FA896C3}"/>
              </a:ext>
            </a:extLst>
          </p:cNvPr>
          <p:cNvPicPr>
            <a:picLocks noChangeAspect="1"/>
          </p:cNvPicPr>
          <p:nvPr/>
        </p:nvPicPr>
        <p:blipFill>
          <a:blip r:embed="rId3"/>
          <a:stretch>
            <a:fillRect/>
          </a:stretch>
        </p:blipFill>
        <p:spPr>
          <a:xfrm>
            <a:off x="10492950" y="90030"/>
            <a:ext cx="1645497" cy="434176"/>
          </a:xfrm>
          <a:prstGeom prst="rect">
            <a:avLst/>
          </a:prstGeom>
        </p:spPr>
      </p:pic>
    </p:spTree>
    <p:extLst>
      <p:ext uri="{BB962C8B-B14F-4D97-AF65-F5344CB8AC3E}">
        <p14:creationId xmlns:p14="http://schemas.microsoft.com/office/powerpoint/2010/main" val="388065307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H" val="20160830110855"/>
  <p:tag name="MH_LIBRARY" val="CONTENTS"/>
  <p:tag name="MH_TYPE" val="ENTRY"/>
  <p:tag name="ID" val="545820"/>
  <p:tag name="MH_ORDER" val="1"/>
</p:tagLst>
</file>

<file path=ppt/tags/tag2.xml><?xml version="1.0" encoding="utf-8"?>
<p:tagLst xmlns:a="http://schemas.openxmlformats.org/drawingml/2006/main" xmlns:r="http://schemas.openxmlformats.org/officeDocument/2006/relationships" xmlns:p="http://schemas.openxmlformats.org/presentationml/2006/main">
  <p:tag name="MH" val="20160830110855"/>
  <p:tag name="MH_LIBRARY" val="CONTENTS"/>
  <p:tag name="MH_TYPE" val="NUMBER"/>
  <p:tag name="ID" val="545820"/>
  <p:tag name="MH_ORDER" val="1"/>
</p:tagLst>
</file>

<file path=ppt/tags/tag3.xml><?xml version="1.0" encoding="utf-8"?>
<p:tagLst xmlns:a="http://schemas.openxmlformats.org/drawingml/2006/main" xmlns:r="http://schemas.openxmlformats.org/officeDocument/2006/relationships" xmlns:p="http://schemas.openxmlformats.org/presentationml/2006/main">
  <p:tag name="MH" val="20160830110855"/>
  <p:tag name="MH_LIBRARY" val="CONTENTS"/>
  <p:tag name="MH_TYPE" val="NUMBER"/>
  <p:tag name="ID" val="545820"/>
  <p:tag name="MH_ORDER" val="1"/>
</p:tagLst>
</file>

<file path=ppt/tags/tag4.xml><?xml version="1.0" encoding="utf-8"?>
<p:tagLst xmlns:a="http://schemas.openxmlformats.org/drawingml/2006/main" xmlns:r="http://schemas.openxmlformats.org/officeDocument/2006/relationships" xmlns:p="http://schemas.openxmlformats.org/presentationml/2006/main">
  <p:tag name="MH" val="20160830110855"/>
  <p:tag name="MH_LIBRARY" val="CONTENTS"/>
  <p:tag name="MH_TYPE" val="ENTRY"/>
  <p:tag name="ID" val="545820"/>
  <p:tag name="MH_ORDER" val="1"/>
</p:tagLst>
</file>

<file path=ppt/tags/tag5.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3"/>
</p:tagLst>
</file>

<file path=ppt/tags/tag6.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7.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8.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ags/tag9.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3"/>
</p:tagLst>
</file>

<file path=ppt/tags/tag10.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TextBox 11"/>
</p:tagLst>
</file>

<file path=ppt/tags/tag11.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文本框 14"/>
</p:tagLst>
</file>

<file path=ppt/tags/tag12.xml><?xml version="1.0" encoding="utf-8"?>
<p:tagLst xmlns:a="http://schemas.openxmlformats.org/drawingml/2006/main" xmlns:r="http://schemas.openxmlformats.org/officeDocument/2006/relationships" xmlns:p="http://schemas.openxmlformats.org/presentationml/2006/main">
  <p:tag name="MH" val="20161022204303"/>
  <p:tag name="MH_LIBRARY" val="GRAPHIC"/>
  <p:tag name="MH_ORDER" val="Rectangle 12"/>
</p:tagLst>
</file>

<file path=ppt/theme/theme1.xml><?xml version="1.0" encoding="utf-8"?>
<a:theme xmlns:a="http://schemas.openxmlformats.org/drawingml/2006/main" name="Office 主题​​">
  <a:themeElements>
    <a:clrScheme name="自定义 1750">
      <a:dk1>
        <a:sysClr val="windowText" lastClr="000000"/>
      </a:dk1>
      <a:lt1>
        <a:sysClr val="window" lastClr="FFFFFF"/>
      </a:lt1>
      <a:dk2>
        <a:srgbClr val="44546A"/>
      </a:dk2>
      <a:lt2>
        <a:srgbClr val="E7E6E6"/>
      </a:lt2>
      <a:accent1>
        <a:srgbClr val="3EBEC3"/>
      </a:accent1>
      <a:accent2>
        <a:srgbClr val="2A3137"/>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1158</TotalTime>
  <Words>902</Words>
  <Application>Microsoft Office PowerPoint</Application>
  <PresentationFormat>宽屏</PresentationFormat>
  <Paragraphs>136</Paragraphs>
  <Slides>16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 Unicode MS</vt:lpstr>
      <vt:lpstr>Batang</vt:lpstr>
      <vt:lpstr>Times New Roman (标题 CS)</vt:lpstr>
      <vt:lpstr>等线</vt:lpstr>
      <vt:lpstr>等线 Light</vt:lpstr>
      <vt:lpstr>思源宋体</vt:lpstr>
      <vt:lpstr>思源宋体 CN</vt:lpstr>
      <vt:lpstr>宋体</vt:lpstr>
      <vt:lpstr>Microsoft YaHei</vt:lpstr>
      <vt:lpstr>Microsoft YaHei</vt:lpstr>
      <vt:lpstr>Arial</vt:lpstr>
      <vt:lpstr>Helvetica</vt:lpstr>
      <vt:lpstr>Times New Roman</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稻壳儿演示武汉组</dc:creator>
  <cp:lastModifiedBy>ollie zhu</cp:lastModifiedBy>
  <cp:revision>69</cp:revision>
  <dcterms:created xsi:type="dcterms:W3CDTF">2019-10-25T01:11:00Z</dcterms:created>
  <dcterms:modified xsi:type="dcterms:W3CDTF">2022-06-08T08:57:21Z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2052-10.1.0.7698</vt:lpwstr>
  </property>
</Properties>
</file>