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60" r:id="rId4"/>
    <p:sldId id="261" r:id="rId5"/>
    <p:sldId id="257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827"/>
    <p:restoredTop sz="94690"/>
  </p:normalViewPr>
  <p:slideViewPr>
    <p:cSldViewPr snapToGrid="0" snapToObjects="1">
      <p:cViewPr varScale="1">
        <p:scale>
          <a:sx n="100" d="100"/>
          <a:sy n="100" d="100"/>
        </p:scale>
        <p:origin x="168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28A5-DEE7-104A-B891-8D0C7613DA01}" type="datetimeFigureOut">
              <a:rPr kumimoji="1" lang="zh-CN" altLang="en-US" smtClean="0"/>
              <a:t>2023/3/9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D71DA-0C3B-D94D-803D-A21BB74C743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28A5-DEE7-104A-B891-8D0C7613DA01}" type="datetimeFigureOut">
              <a:rPr kumimoji="1" lang="zh-CN" altLang="en-US" smtClean="0"/>
              <a:t>2023/3/9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D71DA-0C3B-D94D-803D-A21BB74C7436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28A5-DEE7-104A-B891-8D0C7613DA01}" type="datetimeFigureOut">
              <a:rPr kumimoji="1" lang="zh-CN" altLang="en-US" smtClean="0"/>
              <a:t>2023/3/9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D71DA-0C3B-D94D-803D-A21BB74C743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28A5-DEE7-104A-B891-8D0C7613DA01}" type="datetimeFigureOut">
              <a:rPr kumimoji="1" lang="zh-CN" altLang="en-US" smtClean="0"/>
              <a:t>2023/3/9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D71DA-0C3B-D94D-803D-A21BB74C743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28A5-DEE7-104A-B891-8D0C7613DA01}" type="datetimeFigureOut">
              <a:rPr kumimoji="1" lang="zh-CN" altLang="en-US" smtClean="0"/>
              <a:t>2023/3/9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D71DA-0C3B-D94D-803D-A21BB74C743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28A5-DEE7-104A-B891-8D0C7613DA01}" type="datetimeFigureOut">
              <a:rPr kumimoji="1" lang="zh-CN" altLang="en-US" smtClean="0"/>
              <a:t>2023/3/9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D71DA-0C3B-D94D-803D-A21BB74C743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28A5-DEE7-104A-B891-8D0C7613DA01}" type="datetimeFigureOut">
              <a:rPr kumimoji="1" lang="zh-CN" altLang="en-US" smtClean="0"/>
              <a:t>2023/3/9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D71DA-0C3B-D94D-803D-A21BB74C743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28A5-DEE7-104A-B891-8D0C7613DA01}" type="datetimeFigureOut">
              <a:rPr kumimoji="1" lang="zh-CN" altLang="en-US" smtClean="0"/>
              <a:t>2023/3/9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D71DA-0C3B-D94D-803D-A21BB74C743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28A5-DEE7-104A-B891-8D0C7613DA01}" type="datetimeFigureOut">
              <a:rPr kumimoji="1" lang="zh-CN" altLang="en-US" smtClean="0"/>
              <a:t>2023/3/9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D71DA-0C3B-D94D-803D-A21BB74C743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28A5-DEE7-104A-B891-8D0C7613DA01}" type="datetimeFigureOut">
              <a:rPr kumimoji="1" lang="zh-CN" altLang="en-US" smtClean="0"/>
              <a:t>2023/3/9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D71DA-0C3B-D94D-803D-A21BB74C743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28A5-DEE7-104A-B891-8D0C7613DA01}" type="datetimeFigureOut">
              <a:rPr kumimoji="1" lang="zh-CN" altLang="en-US" smtClean="0"/>
              <a:t>2023/3/9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D71DA-0C3B-D94D-803D-A21BB74C743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328A5-DEE7-104A-B891-8D0C7613DA01}" type="datetimeFigureOut">
              <a:rPr kumimoji="1" lang="zh-CN" altLang="en-US" smtClean="0"/>
              <a:t>2023/3/9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FD71DA-0C3B-D94D-803D-A21BB74C743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3.xml"/><Relationship Id="rId7" Type="http://schemas.openxmlformats.org/officeDocument/2006/relationships/image" Target="../media/image4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D76ECC74-F59E-BA11-0C16-82F46A2D0F9F}"/>
              </a:ext>
            </a:extLst>
          </p:cNvPr>
          <p:cNvGrpSpPr/>
          <p:nvPr/>
        </p:nvGrpSpPr>
        <p:grpSpPr>
          <a:xfrm>
            <a:off x="4548027" y="1376557"/>
            <a:ext cx="3095945" cy="2398152"/>
            <a:chOff x="2061016" y="1839180"/>
            <a:chExt cx="3095945" cy="2398152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23187" y="1839180"/>
              <a:ext cx="1371600" cy="1333500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2061017" y="3252447"/>
              <a:ext cx="3095944" cy="707886"/>
            </a:xfrm>
            <a:prstGeom prst="rect">
              <a:avLst/>
            </a:prstGeom>
            <a:noFill/>
          </p:spPr>
          <p:txBody>
            <a:bodyPr wrap="square" rIns="90000" rtlCol="0">
              <a:spAutoFit/>
            </a:bodyPr>
            <a:lstStyle/>
            <a:p>
              <a:pPr algn="dist"/>
              <a:r>
                <a:rPr kumimoji="1" lang="zh-CN" altLang="en-US" sz="4000" spc="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Source Sans Pro" panose="020F0502020204030204" pitchFamily="34" charset="0"/>
                </a:rPr>
                <a:t>莱讯科技</a:t>
              </a: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061016" y="3960333"/>
              <a:ext cx="3095943" cy="276999"/>
            </a:xfrm>
            <a:prstGeom prst="rect">
              <a:avLst/>
            </a:prstGeom>
            <a:noFill/>
          </p:spPr>
          <p:txBody>
            <a:bodyPr wrap="square" rIns="90000" rtlCol="0">
              <a:spAutoFit/>
            </a:bodyPr>
            <a:lstStyle/>
            <a:p>
              <a:pPr algn="dist"/>
              <a:r>
                <a:rPr kumimoji="1" lang="en-US" altLang="zh-CN" sz="12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Helvetica Neue" panose="02000503000000020004" pitchFamily="2" charset="0"/>
                </a:rPr>
                <a:t>RELIABLESENSE</a:t>
              </a:r>
              <a:r>
                <a:rPr kumimoji="1" lang="zh-CN" altLang="en-US" sz="12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Helvetica Neue" panose="02000503000000020004" pitchFamily="2" charset="0"/>
                </a:rPr>
                <a:t> </a:t>
              </a:r>
              <a:r>
                <a:rPr kumimoji="1" lang="en-US" altLang="zh-CN" sz="12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Helvetica Neue" panose="02000503000000020004" pitchFamily="2" charset="0"/>
                </a:rPr>
                <a:t>TECHNOLOGIES</a:t>
              </a:r>
              <a:endParaRPr kumimoji="1" lang="zh-CN" altLang="en-US" sz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elvetica Neue" panose="02000503000000020004" pitchFamily="2" charset="0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5051484" y="4889320"/>
            <a:ext cx="2089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pc="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&lt;/</a:t>
            </a:r>
            <a:r>
              <a:rPr kumimoji="1" lang="zh-CN" altLang="en-US" spc="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产品说明</a:t>
            </a:r>
            <a:r>
              <a:rPr kumimoji="1" lang="en-US" altLang="zh-CN" spc="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5">
            <a:alphaModFix amt="2000"/>
          </a:blip>
          <a:srcRect l="2633" t="1269" r="1243" b="2004"/>
          <a:stretch>
            <a:fillRect/>
          </a:stretch>
        </p:blipFill>
        <p:spPr>
          <a:xfrm rot="10800000">
            <a:off x="2709899" y="-64515"/>
            <a:ext cx="7139059" cy="6882565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-274607" y="485960"/>
            <a:ext cx="4149184" cy="432000"/>
          </a:xfrm>
          <a:prstGeom prst="roundRect">
            <a:avLst>
              <a:gd name="adj" fmla="val 50000"/>
            </a:avLst>
          </a:prstGeom>
          <a:solidFill>
            <a:srgbClr val="20202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ea"/>
                <a:sym typeface="+mn-ea"/>
              </a:rPr>
              <a:t>一、定位卡</a:t>
            </a:r>
            <a:r>
              <a:rPr lang="en-US" altLang="zh-CN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ea"/>
                <a:sym typeface="+mn-ea"/>
              </a:rPr>
              <a:t>RS-T03</a:t>
            </a:r>
            <a:r>
              <a:rPr lang="zh-CN" altLang="en-US" sz="2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ea"/>
                <a:sym typeface="+mn-ea"/>
              </a:rPr>
              <a:t>概述</a:t>
            </a:r>
            <a:endParaRPr lang="en-US" altLang="zh-CN" sz="2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ea"/>
              <a:sym typeface="+mn-ea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535F739-2017-6F19-5B0A-6C91E36865BA}"/>
              </a:ext>
            </a:extLst>
          </p:cNvPr>
          <p:cNvGrpSpPr/>
          <p:nvPr/>
        </p:nvGrpSpPr>
        <p:grpSpPr>
          <a:xfrm>
            <a:off x="4243186" y="1619372"/>
            <a:ext cx="4397132" cy="5198678"/>
            <a:chOff x="7526164" y="323246"/>
            <a:chExt cx="4218098" cy="5180498"/>
          </a:xfrm>
          <a:effectLst>
            <a:outerShdw blurRad="50800" dist="38100" dir="2700000" algn="tl" rotWithShape="0">
              <a:schemeClr val="bg1">
                <a:lumMod val="75000"/>
                <a:alpha val="40000"/>
              </a:schemeClr>
            </a:outerShdw>
          </a:effectLst>
        </p:grpSpPr>
        <p:pic>
          <p:nvPicPr>
            <p:cNvPr id="11" name="图片 10" descr="文本&#10;&#10;描述已自动生成">
              <a:extLst>
                <a:ext uri="{FF2B5EF4-FFF2-40B4-BE49-F238E27FC236}">
                  <a16:creationId xmlns:a16="http://schemas.microsoft.com/office/drawing/2014/main" id="{E86C48FC-63C3-62F3-B1DF-726A7117C7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874" r="26627"/>
            <a:stretch/>
          </p:blipFill>
          <p:spPr>
            <a:xfrm>
              <a:off x="7526164" y="323246"/>
              <a:ext cx="2709193" cy="4496536"/>
            </a:xfrm>
            <a:prstGeom prst="rect">
              <a:avLst/>
            </a:prstGeom>
          </p:spPr>
        </p:pic>
        <p:pic>
          <p:nvPicPr>
            <p:cNvPr id="12" name="图片 11" descr="文本, 日历&#10;&#10;描述已自动生成">
              <a:extLst>
                <a:ext uri="{FF2B5EF4-FFF2-40B4-BE49-F238E27FC236}">
                  <a16:creationId xmlns:a16="http://schemas.microsoft.com/office/drawing/2014/main" id="{E8179F88-B94B-D3B0-42D9-0AF162F0E1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485" r="36666"/>
            <a:stretch/>
          </p:blipFill>
          <p:spPr>
            <a:xfrm>
              <a:off x="9169657" y="740944"/>
              <a:ext cx="2574605" cy="4762800"/>
            </a:xfrm>
            <a:prstGeom prst="rect">
              <a:avLst/>
            </a:prstGeom>
          </p:spPr>
        </p:pic>
      </p:grpSp>
      <p:pic>
        <p:nvPicPr>
          <p:cNvPr id="3" name="图片 2" descr="蓝色的标志&#10;&#10;描述已自动生成">
            <a:extLst>
              <a:ext uri="{FF2B5EF4-FFF2-40B4-BE49-F238E27FC236}">
                <a16:creationId xmlns:a16="http://schemas.microsoft.com/office/drawing/2014/main" id="{C1780122-7161-885D-FDB6-44BC41C00837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>
            <a:off x="10589976" y="267102"/>
            <a:ext cx="1264690" cy="333697"/>
          </a:xfrm>
          <a:prstGeom prst="rect">
            <a:avLst/>
          </a:prstGeom>
          <a:effectLst/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652CDC6A-F364-17EF-B20D-5BDE98D81FE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994257" y="2770616"/>
            <a:ext cx="2494167" cy="246721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fontAlgn="auto">
              <a:lnSpc>
                <a:spcPct val="200000"/>
              </a:lnSpc>
              <a:buFont typeface="Wingdings" pitchFamily="2" charset="2"/>
              <a:buChar char="ü"/>
            </a:pP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ea"/>
              </a:rPr>
              <a:t> SOS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ea"/>
              </a:rPr>
              <a:t>一键呼救</a:t>
            </a:r>
          </a:p>
          <a:p>
            <a:pPr marL="342900" indent="-342900" fontAlgn="auto">
              <a:lnSpc>
                <a:spcPct val="200000"/>
              </a:lnSpc>
              <a:buFont typeface="Wingdings" pitchFamily="2" charset="2"/>
              <a:buChar char="ü"/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ea"/>
              </a:rPr>
              <a:t>  </a:t>
            </a:r>
            <a:r>
              <a:rPr lang="en-US" altLang="zh-CN" sz="200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ea"/>
              </a:rPr>
              <a:t>LoraWAN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ea"/>
              </a:rPr>
              <a:t>组网</a:t>
            </a:r>
          </a:p>
          <a:p>
            <a:pPr marL="342900" indent="-342900" fontAlgn="auto">
              <a:lnSpc>
                <a:spcPct val="200000"/>
              </a:lnSpc>
              <a:buFont typeface="Wingdings" pitchFamily="2" charset="2"/>
              <a:buChar char="ü"/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ea"/>
              </a:rPr>
              <a:t>  蓝牙</a:t>
            </a:r>
            <a:r>
              <a:rPr lang="en-US" altLang="zh-CN" sz="200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ea"/>
              </a:rPr>
              <a:t>AoA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ea"/>
              </a:rPr>
              <a:t>定位</a:t>
            </a: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ea"/>
            </a:endParaRPr>
          </a:p>
          <a:p>
            <a:pPr marL="342900" indent="-342900" fontAlgn="auto">
              <a:lnSpc>
                <a:spcPct val="200000"/>
              </a:lnSpc>
              <a:buFont typeface="Wingdings" pitchFamily="2" charset="2"/>
              <a:buChar char="ü"/>
            </a:pP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ea"/>
              </a:rPr>
              <a:t>  GPS/BD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ea"/>
              </a:rPr>
              <a:t>定位</a:t>
            </a: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AE5BDBD-2A9D-FBF0-4118-760FE4F992C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228930" y="933010"/>
            <a:ext cx="1734140" cy="72616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fontAlgn="auto">
              <a:lnSpc>
                <a:spcPct val="200000"/>
              </a:lnSpc>
            </a:pPr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</a:rPr>
              <a:t>定位卡功能</a:t>
            </a:r>
            <a:endParaRPr lang="en-US" altLang="zh-CN" sz="2400" b="1" dirty="0">
              <a:latin typeface="Microsoft YaHei" panose="020B0503020204020204" pitchFamily="34" charset="-122"/>
              <a:ea typeface="Microsoft YaHei" panose="020B0503020204020204" pitchFamily="34" charset="-122"/>
              <a:cs typeface="+mn-ea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A9DAED8-BD1B-4D06-95CD-A573DF1F3A3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9221843" y="2889366"/>
            <a:ext cx="1995687" cy="246721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fontAlgn="auto">
              <a:lnSpc>
                <a:spcPct val="200000"/>
              </a:lnSpc>
              <a:buFont typeface="Wingdings" pitchFamily="2" charset="2"/>
              <a:buChar char="ü"/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ea"/>
              </a:rPr>
              <a:t>低电量告警</a:t>
            </a:r>
          </a:p>
          <a:p>
            <a:pPr marL="342900" indent="-342900" fontAlgn="auto">
              <a:lnSpc>
                <a:spcPct val="200000"/>
              </a:lnSpc>
              <a:buFont typeface="Wingdings" pitchFamily="2" charset="2"/>
              <a:buChar char="ü"/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ea"/>
              </a:rPr>
              <a:t>  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ea"/>
              </a:rPr>
              <a:t>IP67</a:t>
            </a:r>
            <a:endParaRPr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ea"/>
            </a:endParaRPr>
          </a:p>
          <a:p>
            <a:pPr marL="342900" indent="-342900" fontAlgn="auto">
              <a:lnSpc>
                <a:spcPct val="200000"/>
              </a:lnSpc>
              <a:buFont typeface="Wingdings" pitchFamily="2" charset="2"/>
              <a:buChar char="ü"/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ea"/>
              </a:rPr>
              <a:t>  静止休眠</a:t>
            </a: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ea"/>
            </a:endParaRPr>
          </a:p>
          <a:p>
            <a:pPr marL="342900" indent="-342900" fontAlgn="auto">
              <a:lnSpc>
                <a:spcPct val="200000"/>
              </a:lnSpc>
              <a:buFont typeface="Wingdings" pitchFamily="2" charset="2"/>
              <a:buChar char="ü"/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ea"/>
              </a:rPr>
              <a:t>  灯光指示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>
            <a:alphaModFix amt="2000"/>
          </a:blip>
          <a:srcRect l="2633" t="1269" r="1243" b="2004"/>
          <a:stretch>
            <a:fillRect/>
          </a:stretch>
        </p:blipFill>
        <p:spPr>
          <a:xfrm flipH="1">
            <a:off x="-196970" y="-24565"/>
            <a:ext cx="7257690" cy="6882565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-274608" y="485960"/>
            <a:ext cx="3431875" cy="432000"/>
          </a:xfrm>
          <a:prstGeom prst="roundRect">
            <a:avLst>
              <a:gd name="adj" fmla="val 50000"/>
            </a:avLst>
          </a:prstGeom>
          <a:solidFill>
            <a:srgbClr val="20202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+mj-ea"/>
                <a:sym typeface="+mn-ea"/>
              </a:rPr>
              <a:t>二、技术指标</a:t>
            </a:r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0D26B385-5E2F-C20A-BE7F-5FC3AE89DB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709963"/>
              </p:ext>
            </p:extLst>
          </p:nvPr>
        </p:nvGraphicFramePr>
        <p:xfrm>
          <a:off x="1531257" y="1428485"/>
          <a:ext cx="9129486" cy="486252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499868">
                  <a:extLst>
                    <a:ext uri="{9D8B030D-6E8A-4147-A177-3AD203B41FA5}">
                      <a16:colId xmlns:a16="http://schemas.microsoft.com/office/drawing/2014/main" val="1728341275"/>
                    </a:ext>
                  </a:extLst>
                </a:gridCol>
                <a:gridCol w="7629618">
                  <a:extLst>
                    <a:ext uri="{9D8B030D-6E8A-4147-A177-3AD203B41FA5}">
                      <a16:colId xmlns:a16="http://schemas.microsoft.com/office/drawing/2014/main" val="2090573275"/>
                    </a:ext>
                  </a:extLst>
                </a:gridCol>
              </a:tblGrid>
              <a:tr h="48625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+mn-ea"/>
                        </a:rPr>
                        <a:t>型号</a:t>
                      </a:r>
                      <a:endParaRPr lang="zh-CN" altLang="en-US" sz="2000" b="1" i="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2000" b="0" dirty="0">
                          <a:solidFill>
                            <a:srgbClr val="20202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RS-T03 </a:t>
                      </a:r>
                      <a:endParaRPr lang="zh-CN" altLang="en-US" sz="2000" b="0" i="0" dirty="0">
                        <a:solidFill>
                          <a:srgbClr val="20202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619603"/>
                  </a:ext>
                </a:extLst>
              </a:tr>
              <a:tr h="48625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尺寸</a:t>
                      </a:r>
                      <a:endParaRPr lang="zh-CN" altLang="en-US" sz="2000" b="1" i="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+mn-ea"/>
                        </a:rPr>
                        <a:t>101mm*62mm*13.5mm</a:t>
                      </a:r>
                      <a:endParaRPr lang="zh-CN" altLang="en-US" sz="2000" b="0" i="0" dirty="0">
                        <a:solidFill>
                          <a:srgbClr val="20202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207487"/>
                  </a:ext>
                </a:extLst>
              </a:tr>
              <a:tr h="48625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+mn-ea"/>
                        </a:rPr>
                        <a:t>重量</a:t>
                      </a:r>
                      <a:endParaRPr lang="zh-CN" altLang="en-US" sz="2000" b="1" i="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+mn-ea"/>
                        </a:rPr>
                        <a:t>92g</a:t>
                      </a:r>
                      <a:endParaRPr lang="en-US" altLang="zh-CN" sz="2000" b="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205872"/>
                  </a:ext>
                </a:extLst>
              </a:tr>
              <a:tr h="48625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20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+mn-ea"/>
                        </a:rPr>
                        <a:t>通信</a:t>
                      </a:r>
                      <a:endParaRPr lang="zh-CN" altLang="en-US" sz="2000" b="1" i="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 err="1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+mn-ea"/>
                        </a:rPr>
                        <a:t>LoraWAN</a:t>
                      </a:r>
                      <a:r>
                        <a:rPr lang="zh-CN" altLang="en-US" sz="20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+mn-ea"/>
                        </a:rPr>
                        <a:t>（</a:t>
                      </a:r>
                      <a:r>
                        <a:rPr lang="en-US" altLang="zh-CN" sz="20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+mn-ea"/>
                        </a:rPr>
                        <a:t>470</a:t>
                      </a:r>
                      <a:r>
                        <a:rPr lang="zh-CN" altLang="en-US" sz="20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+mn-ea"/>
                        </a:rPr>
                        <a:t>）</a:t>
                      </a:r>
                      <a:endParaRPr lang="zh-CN" altLang="en-US" sz="2000" b="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060946"/>
                  </a:ext>
                </a:extLst>
              </a:tr>
              <a:tr h="48625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定位</a:t>
                      </a:r>
                      <a:endParaRPr lang="zh-CN" altLang="en-US" sz="2000" b="1" i="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+mn-ea"/>
                        </a:rPr>
                        <a:t>集成北斗</a:t>
                      </a:r>
                      <a:r>
                        <a:rPr lang="en-US" altLang="zh-CN" sz="20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+mn-ea"/>
                        </a:rPr>
                        <a:t>/GPS</a:t>
                      </a:r>
                      <a:r>
                        <a:rPr lang="zh-CN" altLang="en-US" sz="20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+mn-ea"/>
                        </a:rPr>
                        <a:t>、蓝牙</a:t>
                      </a:r>
                      <a:r>
                        <a:rPr lang="en-US" altLang="zh-CN" sz="2000" b="0" dirty="0" err="1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+mn-ea"/>
                        </a:rPr>
                        <a:t>AoA</a:t>
                      </a:r>
                      <a:r>
                        <a:rPr lang="zh-CN" altLang="en-US" sz="20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+mn-ea"/>
                        </a:rPr>
                        <a:t>，</a:t>
                      </a:r>
                      <a:r>
                        <a:rPr lang="en-US" altLang="zh-CN" sz="2000" b="0" dirty="0" err="1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+mn-ea"/>
                        </a:rPr>
                        <a:t>Ibeacon</a:t>
                      </a:r>
                      <a:r>
                        <a:rPr lang="zh-CN" altLang="en-US" sz="20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+mn-ea"/>
                        </a:rPr>
                        <a:t>定位功能</a:t>
                      </a:r>
                      <a:endParaRPr lang="zh-CN" altLang="en-US" sz="2000" b="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433106"/>
                  </a:ext>
                </a:extLst>
              </a:tr>
              <a:tr h="48625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充电</a:t>
                      </a:r>
                      <a:endParaRPr lang="zh-CN" altLang="en-US" sz="2000" b="1" i="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20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+mn-ea"/>
                        </a:rPr>
                        <a:t>USB Type-C </a:t>
                      </a:r>
                      <a:endParaRPr lang="zh-CN" altLang="en-US" sz="2000" b="0" i="0" dirty="0">
                        <a:solidFill>
                          <a:srgbClr val="20202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59334"/>
                  </a:ext>
                </a:extLst>
              </a:tr>
              <a:tr h="48625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环境</a:t>
                      </a:r>
                      <a:endParaRPr lang="zh-CN" altLang="en-US" sz="2000" b="1" i="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+mn-ea"/>
                        </a:rPr>
                        <a:t>工作温度 </a:t>
                      </a:r>
                      <a:r>
                        <a:rPr lang="en-US" altLang="zh-CN" sz="20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+mn-ea"/>
                        </a:rPr>
                        <a:t>-20℃ </a:t>
                      </a:r>
                      <a:r>
                        <a:rPr lang="zh-CN" altLang="en-US" sz="20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+mn-ea"/>
                        </a:rPr>
                        <a:t>到 </a:t>
                      </a:r>
                      <a:r>
                        <a:rPr lang="en-US" altLang="zh-CN" sz="20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+mn-ea"/>
                        </a:rPr>
                        <a:t>+60℃</a:t>
                      </a:r>
                      <a:endParaRPr lang="en-US" altLang="zh-CN" sz="2000" b="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53313"/>
                  </a:ext>
                </a:extLst>
              </a:tr>
              <a:tr h="48625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材质</a:t>
                      </a:r>
                      <a:endParaRPr lang="zh-CN" altLang="en-US" sz="2000" b="1" i="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+mn-ea"/>
                        </a:rPr>
                        <a:t>采用 </a:t>
                      </a:r>
                      <a:r>
                        <a:rPr lang="en" altLang="zh-CN" sz="20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+mn-ea"/>
                        </a:rPr>
                        <a:t>ABS+PC </a:t>
                      </a:r>
                      <a:r>
                        <a:rPr lang="zh-CN" altLang="en-US" sz="20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+mn-ea"/>
                        </a:rPr>
                        <a:t>塑料外壳</a:t>
                      </a:r>
                      <a:endParaRPr lang="zh-CN" altLang="en-US" sz="2000" b="0" i="0" dirty="0">
                        <a:solidFill>
                          <a:srgbClr val="20202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93843"/>
                  </a:ext>
                </a:extLst>
              </a:tr>
              <a:tr h="48625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电池</a:t>
                      </a:r>
                      <a:endParaRPr lang="zh-CN" altLang="en-US" sz="2000" b="1" i="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+mn-ea"/>
                        </a:rPr>
                        <a:t>3000mah</a:t>
                      </a:r>
                      <a:endParaRPr lang="zh-CN" altLang="en-US" sz="2000" b="0" i="0" dirty="0">
                        <a:solidFill>
                          <a:srgbClr val="20202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154713"/>
                  </a:ext>
                </a:extLst>
              </a:tr>
              <a:tr h="48625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外挂</a:t>
                      </a:r>
                      <a:endParaRPr lang="zh-CN" altLang="en-US" sz="2000" b="1" i="0" dirty="0">
                        <a:solidFill>
                          <a:schemeClr val="tx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+mn-ea"/>
                        </a:rPr>
                        <a:t>可以加装 </a:t>
                      </a:r>
                      <a:r>
                        <a:rPr lang="en" altLang="zh-CN" sz="20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+mn-ea"/>
                        </a:rPr>
                        <a:t>IC </a:t>
                      </a:r>
                      <a:r>
                        <a:rPr lang="zh-CN" altLang="en-US" sz="2000" b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+mn-ea"/>
                        </a:rPr>
                        <a:t>卡等，集成门禁和消费卡等一卡通功能</a:t>
                      </a:r>
                      <a:endParaRPr lang="zh-CN" altLang="en-US" sz="2000" b="0" i="0" dirty="0">
                        <a:solidFill>
                          <a:srgbClr val="20202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217928"/>
                  </a:ext>
                </a:extLst>
              </a:tr>
            </a:tbl>
          </a:graphicData>
        </a:graphic>
      </p:graphicFrame>
      <p:pic>
        <p:nvPicPr>
          <p:cNvPr id="10" name="图片 9" descr="蓝色的标志&#10;&#10;描述已自动生成">
            <a:extLst>
              <a:ext uri="{FF2B5EF4-FFF2-40B4-BE49-F238E27FC236}">
                <a16:creationId xmlns:a16="http://schemas.microsoft.com/office/drawing/2014/main" id="{227B031C-9D92-3C0B-93E5-02364E0EAAC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0589976" y="267102"/>
            <a:ext cx="1264690" cy="333697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0C0DC188-B991-C1D9-5DC0-9A279A2B2A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"/>
          </a:blip>
          <a:srcRect l="2633" t="1269" r="1243" b="2004"/>
          <a:stretch>
            <a:fillRect/>
          </a:stretch>
        </p:blipFill>
        <p:spPr>
          <a:xfrm flipH="1">
            <a:off x="0" y="-24565"/>
            <a:ext cx="7257690" cy="6882565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-274607" y="485960"/>
            <a:ext cx="3685464" cy="432000"/>
          </a:xfrm>
          <a:prstGeom prst="roundRect">
            <a:avLst>
              <a:gd name="adj" fmla="val 50000"/>
            </a:avLst>
          </a:prstGeom>
          <a:solidFill>
            <a:srgbClr val="20202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+mj-ea"/>
                <a:sym typeface="+mn-ea"/>
              </a:rPr>
              <a:t>三、指示灯说明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1E2D8AF-4584-3050-2022-56C91EA17C8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663926" y="1501305"/>
            <a:ext cx="5513479" cy="430835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fontAlgn="auto">
              <a:lnSpc>
                <a:spcPct val="20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红灯亮或闪烁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电量不足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需要尽快充电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fontAlgn="auto">
              <a:lnSpc>
                <a:spcPct val="20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黄灯亮或闪烁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未正常定位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需要关注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fontAlgn="auto">
              <a:lnSpc>
                <a:spcPct val="20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绿灯亮或闪烁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正常定位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fontAlgn="auto">
              <a:lnSpc>
                <a:spcPct val="20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蓝灯亮或闪烁，卫星定位开启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fontAlgn="auto">
              <a:lnSpc>
                <a:spcPct val="20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5.SOS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键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长按进行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SOS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呼救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fontAlgn="auto">
              <a:lnSpc>
                <a:spcPct val="20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6.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电源键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长按开机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再长按关机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fontAlgn="auto">
              <a:lnSpc>
                <a:spcPct val="200000"/>
              </a:lnSpc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7.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卫星键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长按开启卫星辅助定位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长按关闭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8" name="图片 7" descr="蓝色的标志&#10;&#10;描述已自动生成">
            <a:extLst>
              <a:ext uri="{FF2B5EF4-FFF2-40B4-BE49-F238E27FC236}">
                <a16:creationId xmlns:a16="http://schemas.microsoft.com/office/drawing/2014/main" id="{191FB5B8-9F61-0337-B16A-CC005A95006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0589976" y="267102"/>
            <a:ext cx="1264690" cy="333697"/>
          </a:xfrm>
          <a:prstGeom prst="rect">
            <a:avLst/>
          </a:prstGeom>
          <a:effectLst/>
        </p:spPr>
      </p:pic>
      <p:pic>
        <p:nvPicPr>
          <p:cNvPr id="12" name="图片 11" descr="文本, 日历&#10;&#10;描述已自动生成">
            <a:extLst>
              <a:ext uri="{FF2B5EF4-FFF2-40B4-BE49-F238E27FC236}">
                <a16:creationId xmlns:a16="http://schemas.microsoft.com/office/drawing/2014/main" id="{1B31485C-BE5F-2069-DEFE-B15171A6230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85" r="36666"/>
          <a:stretch/>
        </p:blipFill>
        <p:spPr>
          <a:xfrm>
            <a:off x="1565549" y="917960"/>
            <a:ext cx="3308901" cy="58925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4182446" y="3560683"/>
            <a:ext cx="3711594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电话：</a:t>
            </a:r>
            <a:r>
              <a:rPr lang="en-US" altLang="zh-CN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elvetica Neue" panose="02000503000000020004" pitchFamily="2" charset="0"/>
              </a:rPr>
              <a:t>18518788128</a:t>
            </a:r>
            <a:r>
              <a:rPr lang="zh-CN" altLang="en-US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（伍经理）</a:t>
            </a:r>
            <a:endParaRPr lang="en-US" altLang="zh-CN" sz="20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182445" y="4019932"/>
            <a:ext cx="3711595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邮箱：</a:t>
            </a:r>
            <a:r>
              <a:rPr lang="en-US" altLang="zh-CN" sz="2000" dirty="0" err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elvetica Neue" panose="02000503000000020004" pitchFamily="2" charset="0"/>
              </a:rPr>
              <a:t>sales@reliablesense.cn</a:t>
            </a:r>
            <a:endParaRPr lang="en-US" altLang="zh-CN" sz="20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elvetica Neue" panose="02000503000000020004" pitchFamily="2" charset="0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4D945ED-EE60-14E0-F33A-A4EEDD4B7E16}"/>
              </a:ext>
            </a:extLst>
          </p:cNvPr>
          <p:cNvGrpSpPr/>
          <p:nvPr/>
        </p:nvGrpSpPr>
        <p:grpSpPr>
          <a:xfrm>
            <a:off x="3992916" y="2067967"/>
            <a:ext cx="4206168" cy="984885"/>
            <a:chOff x="950793" y="3252447"/>
            <a:chExt cx="4206168" cy="984885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E3B47838-F476-B1E8-EB5D-D4157C3F39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0793" y="3252447"/>
              <a:ext cx="994711" cy="967080"/>
            </a:xfrm>
            <a:prstGeom prst="rect">
              <a:avLst/>
            </a:prstGeom>
          </p:spPr>
        </p:pic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BB1E858A-A9A8-9558-B69E-70D95C73CC82}"/>
                </a:ext>
              </a:extLst>
            </p:cNvPr>
            <p:cNvSpPr txBox="1"/>
            <p:nvPr/>
          </p:nvSpPr>
          <p:spPr>
            <a:xfrm>
              <a:off x="2061017" y="3252447"/>
              <a:ext cx="3095944" cy="707886"/>
            </a:xfrm>
            <a:prstGeom prst="rect">
              <a:avLst/>
            </a:prstGeom>
            <a:noFill/>
          </p:spPr>
          <p:txBody>
            <a:bodyPr wrap="square" rIns="90000" rtlCol="0">
              <a:spAutoFit/>
            </a:bodyPr>
            <a:lstStyle/>
            <a:p>
              <a:pPr algn="dist"/>
              <a:r>
                <a:rPr kumimoji="1" lang="zh-CN" altLang="en-US" sz="4000" spc="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Source Sans Pro" panose="020F0502020204030204" pitchFamily="34" charset="0"/>
                </a:rPr>
                <a:t>莱讯科技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34DCD871-55A0-F0C3-7BCD-4FF08EA2544C}"/>
                </a:ext>
              </a:extLst>
            </p:cNvPr>
            <p:cNvSpPr txBox="1"/>
            <p:nvPr/>
          </p:nvSpPr>
          <p:spPr>
            <a:xfrm>
              <a:off x="2061016" y="3960333"/>
              <a:ext cx="3095943" cy="276999"/>
            </a:xfrm>
            <a:prstGeom prst="rect">
              <a:avLst/>
            </a:prstGeom>
            <a:noFill/>
          </p:spPr>
          <p:txBody>
            <a:bodyPr wrap="square" rIns="90000" rtlCol="0">
              <a:spAutoFit/>
            </a:bodyPr>
            <a:lstStyle/>
            <a:p>
              <a:pPr algn="dist"/>
              <a:r>
                <a:rPr kumimoji="1" lang="en-US" altLang="zh-CN" sz="12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Helvetica Neue" panose="02000503000000020004" pitchFamily="2" charset="0"/>
                </a:rPr>
                <a:t>RELIABLESENSE</a:t>
              </a:r>
              <a:r>
                <a:rPr kumimoji="1" lang="zh-CN" altLang="en-US" sz="12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Helvetica Neue" panose="02000503000000020004" pitchFamily="2" charset="0"/>
                </a:rPr>
                <a:t> </a:t>
              </a:r>
              <a:r>
                <a:rPr kumimoji="1" lang="en-US" altLang="zh-CN" sz="12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Helvetica Neue" panose="02000503000000020004" pitchFamily="2" charset="0"/>
                </a:rPr>
                <a:t>TECHNOLOGIES</a:t>
              </a:r>
              <a:endParaRPr kumimoji="1" lang="zh-CN" altLang="en-US" sz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elvetica Neue" panose="02000503000000020004" pitchFamily="2" charset="0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222</Words>
  <Application>Microsoft Macintosh PowerPoint</Application>
  <PresentationFormat>宽屏</PresentationFormat>
  <Paragraphs>46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等线</vt:lpstr>
      <vt:lpstr>等线 Light</vt:lpstr>
      <vt:lpstr>Microsoft YaHei</vt:lpstr>
      <vt:lpstr>Microsoft YaHei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杨 嵘</dc:creator>
  <cp:lastModifiedBy>Y R</cp:lastModifiedBy>
  <cp:revision>5</cp:revision>
  <dcterms:created xsi:type="dcterms:W3CDTF">2022-01-24T03:16:04Z</dcterms:created>
  <dcterms:modified xsi:type="dcterms:W3CDTF">2023-03-09T03:24:35Z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</Properties>
</file>